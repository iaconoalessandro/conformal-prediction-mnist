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8288000" cy="10287000"/>
  <p:notesSz cx="10287000" cy="18288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the paper and the two conformal methods we re-implemented. Everything on the following slides comes from one run of our own script.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did not cover the whole paper. We deliberately took the classification thread end to end: base conformal prediction, its adaptive variant, and the evaluation machinery.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four steps are identical for both methods. Only step two, the score function, changes. That is the whole point of the paper.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8,000 of the 70,000 MNIST images, split 50/25/25. The network is a single hidden layer trained by plain full-batch gradient descent for 400 epochs.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conformalising, ask whether the softmax is trustworthy on its own. It is not: in the 0.75 and 0.85 confidence bins the network is under-confident, and the low bins are noisy. This is the heuristic uncertainty the paper talks about.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score functions, two very different calibration distributions. LAC scores pile up near zero; APS scores pile up near one. The quantile inherits that shape.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this single split LAC came in at 88.15 percent, just under target. That is split noise, not a bug — slide 11 shows the average over fifty splits. Note the empty sets.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APS over-covers badly here: 99.7 percent against a 90 percent target, with sets of four labels. This is the most interesting finding in the project and it has a concrete cause.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test digits picked at random. LAC gives one label; APS widens where the image is genuinely ambiguous. The last one is easy and both agree.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trade-off in one table. Neither score dominates — they fail in opposite directions.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Section 4.1 of the paper: rerun calibration and evaluation fifty times and look at the histogram. LAC centres on 0.90 exactly as the theorem says.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second basic check in Section 4.1. The spread of set sizes tells you whether the procedure distinguishes easy from hard inputs. LAC has no spread at 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Feature-stratified coverage from Section 4.2, with the digit label as the stratifying feature. LAC drops to 79 percent on fives — exactly the undercoverage of hard subgroups the paper predicts.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Set-stratified coverage, the general-purpose adaptiveness metric from Section 4.2. The empty-set bin is the honest failure: coverage there is zero by construction.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Sweeping alpha from 0.01 to 0.39. LAC tracks the target line closely and its size grows sharply only past 0.97. APS is flat and high throughout.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the three things we actually learned, and be honest about the two limitations. Randomised APS and a stronger base model are the obvious next steps.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svg"/><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svg"/><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svg"/><Relationship Id="rId3" Type="http://schemas.openxmlformats.org/officeDocument/2006/relationships/image" Target="../media/image-6-3.png"/><Relationship Id="rId4" Type="http://schemas.openxmlformats.org/officeDocument/2006/relationships/image" Target="../media/image-6-4.svg"/><Relationship Id="rId5" Type="http://schemas.openxmlformats.org/officeDocument/2006/relationships/slideLayout" Target="../slideLayouts/slideLayout1.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image" Target="../media/image-9-6.png"/><Relationship Id="rId7" Type="http://schemas.openxmlformats.org/officeDocument/2006/relationships/slideLayout" Target="../slideLayouts/slideLayout1.xml"/><Relationship Id="rId8"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svg"/><Relationship Id="rId3" Type="http://schemas.openxmlformats.org/officeDocument/2006/relationships/slideLayout" Target="../slideLayouts/slideLayout1.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svg"/><Relationship Id="rId3" Type="http://schemas.openxmlformats.org/officeDocument/2006/relationships/slideLayout" Target="../slideLayouts/slideLayout1.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svg"/><Relationship Id="rId3" Type="http://schemas.openxmlformats.org/officeDocument/2006/relationships/image" Target="../media/image-13-3.png"/><Relationship Id="rId4" Type="http://schemas.openxmlformats.org/officeDocument/2006/relationships/image" Target="../media/image-13-4.svg"/><Relationship Id="rId5" Type="http://schemas.openxmlformats.org/officeDocument/2006/relationships/slideLayout" Target="../slideLayouts/slideLayout1.xml"/><Relationship Id="rId6"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svg"/><Relationship Id="rId3" Type="http://schemas.openxmlformats.org/officeDocument/2006/relationships/image" Target="../media/image-15-3.png"/><Relationship Id="rId4" Type="http://schemas.openxmlformats.org/officeDocument/2006/relationships/image" Target="../media/image-15-4.svg"/><Relationship Id="rId5" Type="http://schemas.openxmlformats.org/officeDocument/2006/relationships/slideLayout" Target="../slideLayouts/slideLayout1.xml"/><Relationship Id="rId6"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3F2F2"/>
        </a:solidFill>
      </p:bgPr>
    </p:bg>
    <p:spTree>
      <p:nvGrpSpPr>
        <p:cNvPr id="1" name=""/>
        <p:cNvGrpSpPr/>
        <p:nvPr/>
      </p:nvGrpSpPr>
      <p:grpSpPr>
        <a:xfrm>
          <a:off x="0" y="0"/>
          <a:ext cx="0" cy="0"/>
          <a:chOff x="0" y="0"/>
          <a:chExt cx="0" cy="0"/>
        </a:xfrm>
      </p:grpSpPr>
      <p:sp>
        <p:nvSpPr>
          <p:cNvPr id="2" name="Text 0"/>
          <p:cNvSpPr/>
          <p:nvPr/>
        </p:nvSpPr>
        <p:spPr>
          <a:xfrm>
            <a:off x="952500" y="952500"/>
            <a:ext cx="18021300" cy="392311"/>
          </a:xfrm>
          <a:prstGeom prst="rect">
            <a:avLst/>
          </a:prstGeom>
          <a:noFill/>
          <a:ln/>
        </p:spPr>
        <p:txBody>
          <a:bodyPr wrap="square" lIns="25400" tIns="25400" rIns="25400" bIns="25400" rtlCol="0" anchor="t">
            <a:normAutofit/>
          </a:bodyPr>
          <a:lstStyle/>
          <a:p>
            <a:pPr algn="l" indent="0" marL="0">
              <a:lnSpc>
                <a:spcPct val="143077"/>
              </a:lnSpc>
              <a:buNone/>
            </a:pPr>
            <a:r>
              <a:rPr lang="en-US" sz="1800" b="1" spc="216" kern="0" dirty="0">
                <a:solidFill>
                  <a:srgbClr val="EC3013"/>
                </a:solidFill>
                <a:latin typeface="Archivo" pitchFamily="34" charset="0"/>
                <a:ea typeface="Archivo" pitchFamily="34" charset="-122"/>
                <a:cs typeface="Archivo" pitchFamily="34" charset="-120"/>
              </a:rPr>
              <a:t>STATISTICS FOR DATA SCIENCE — PROJECT A.Y. 2025/26</a:t>
            </a:r>
            <a:endParaRPr lang="en-US" sz="1800" dirty="0"/>
          </a:p>
        </p:txBody>
      </p:sp>
      <p:sp>
        <p:nvSpPr>
          <p:cNvPr id="3" name="Shape 1"/>
          <p:cNvSpPr/>
          <p:nvPr/>
        </p:nvSpPr>
        <p:spPr>
          <a:xfrm>
            <a:off x="952500" y="1535311"/>
            <a:ext cx="16383000" cy="19050"/>
          </a:xfrm>
          <a:prstGeom prst="rect">
            <a:avLst/>
          </a:prstGeom>
          <a:solidFill>
            <a:srgbClr val="201E1D"/>
          </a:solidFill>
          <a:ln/>
        </p:spPr>
      </p:sp>
      <p:sp>
        <p:nvSpPr>
          <p:cNvPr id="4" name="Text 2"/>
          <p:cNvSpPr/>
          <p:nvPr/>
        </p:nvSpPr>
        <p:spPr>
          <a:xfrm>
            <a:off x="952500" y="3209776"/>
            <a:ext cx="14716125" cy="2214265"/>
          </a:xfrm>
          <a:prstGeom prst="rect">
            <a:avLst/>
          </a:prstGeom>
          <a:noFill/>
          <a:ln/>
        </p:spPr>
        <p:txBody>
          <a:bodyPr wrap="square" lIns="25400" tIns="25400" rIns="25400" bIns="25400" rtlCol="0" anchor="t">
            <a:normAutofit/>
          </a:bodyPr>
          <a:lstStyle/>
          <a:p>
            <a:pPr algn="l" indent="0" marL="0">
              <a:lnSpc>
                <a:spcPct val="93639"/>
              </a:lnSpc>
              <a:buNone/>
            </a:pPr>
            <a:r>
              <a:rPr lang="en-US" sz="8400" b="1" spc="-168" kern="0" dirty="0">
                <a:solidFill>
                  <a:srgbClr val="201E1D"/>
                </a:solidFill>
                <a:latin typeface="Archivo" pitchFamily="34" charset="0"/>
                <a:ea typeface="Archivo" pitchFamily="34" charset="-122"/>
                <a:cs typeface="Archivo" pitchFamily="34" charset="-120"/>
              </a:rPr>
              <a:t>Conformal Prediction on MNIST</a:t>
            </a:r>
            <a:endParaRPr lang="en-US" sz="8400" dirty="0"/>
          </a:p>
        </p:txBody>
      </p:sp>
      <p:sp>
        <p:nvSpPr>
          <p:cNvPr id="5" name="Text 3"/>
          <p:cNvSpPr/>
          <p:nvPr/>
        </p:nvSpPr>
        <p:spPr>
          <a:xfrm>
            <a:off x="952500" y="5728841"/>
            <a:ext cx="14716125" cy="1127522"/>
          </a:xfrm>
          <a:prstGeom prst="rect">
            <a:avLst/>
          </a:prstGeom>
          <a:noFill/>
          <a:ln/>
        </p:spPr>
        <p:txBody>
          <a:bodyPr wrap="square" lIns="25400" tIns="25400" rIns="25400" bIns="25400" rtlCol="0" anchor="t">
            <a:normAutofit/>
          </a:bodyPr>
          <a:lstStyle/>
          <a:p>
            <a:pPr algn="l" indent="0" marL="0">
              <a:lnSpc>
                <a:spcPct val="119167"/>
              </a:lnSpc>
              <a:buNone/>
            </a:pPr>
            <a:r>
              <a:rPr lang="en-US" sz="3300" dirty="0">
                <a:solidFill>
                  <a:srgbClr val="444141"/>
                </a:solidFill>
                <a:latin typeface="Archivo" pitchFamily="34" charset="0"/>
                <a:ea typeface="Archivo" pitchFamily="34" charset="-122"/>
                <a:cs typeface="Archivo" pitchFamily="34" charset="-120"/>
              </a:rPr>
              <a:t>An R re-implementation of LAC, Adaptive Prediction Sets and the evaluation protocol</a:t>
            </a:r>
            <a:endParaRPr lang="en-US" sz="3300" dirty="0"/>
          </a:p>
        </p:txBody>
      </p:sp>
      <p:sp>
        <p:nvSpPr>
          <p:cNvPr id="6" name="Shape 4"/>
          <p:cNvSpPr/>
          <p:nvPr/>
        </p:nvSpPr>
        <p:spPr>
          <a:xfrm>
            <a:off x="952500" y="8473529"/>
            <a:ext cx="16383000" cy="19050"/>
          </a:xfrm>
          <a:prstGeom prst="rect">
            <a:avLst/>
          </a:prstGeom>
          <a:solidFill>
            <a:srgbClr val="201E1D">
              <a:alpha val="40000"/>
            </a:srgbClr>
          </a:solidFill>
          <a:ln/>
        </p:spPr>
      </p:sp>
      <p:sp>
        <p:nvSpPr>
          <p:cNvPr id="7" name="Text 5"/>
          <p:cNvSpPr/>
          <p:nvPr/>
        </p:nvSpPr>
        <p:spPr>
          <a:xfrm>
            <a:off x="952500" y="8759279"/>
            <a:ext cx="6311875" cy="333375"/>
          </a:xfrm>
          <a:prstGeom prst="rect">
            <a:avLst/>
          </a:prstGeom>
          <a:noFill/>
          <a:ln/>
        </p:spPr>
        <p:txBody>
          <a:bodyPr wrap="square" lIns="25400" tIns="25400" rIns="25400" bIns="25400" rtlCol="0" anchor="t">
            <a:normAutofit/>
          </a:bodyPr>
          <a:lstStyle/>
          <a:p>
            <a:pPr algn="l" indent="0" marL="0">
              <a:lnSpc>
                <a:spcPct val="140909"/>
              </a:lnSpc>
              <a:buNone/>
            </a:pPr>
            <a:r>
              <a:rPr lang="en-US" sz="1500" b="1" spc="120" kern="0" dirty="0">
                <a:solidFill>
                  <a:srgbClr val="7D7979"/>
                </a:solidFill>
                <a:latin typeface="Archivo" pitchFamily="34" charset="0"/>
                <a:ea typeface="Archivo" pitchFamily="34" charset="-122"/>
                <a:cs typeface="Archivo" pitchFamily="34" charset="-120"/>
              </a:rPr>
              <a:t>PAPER</a:t>
            </a:r>
            <a:endParaRPr lang="en-US" sz="1500" dirty="0"/>
          </a:p>
        </p:txBody>
      </p:sp>
      <p:sp>
        <p:nvSpPr>
          <p:cNvPr id="8" name="Text 6"/>
          <p:cNvSpPr/>
          <p:nvPr/>
        </p:nvSpPr>
        <p:spPr>
          <a:xfrm>
            <a:off x="952500" y="9111704"/>
            <a:ext cx="6311875" cy="451396"/>
          </a:xfrm>
          <a:prstGeom prst="rect">
            <a:avLst/>
          </a:prstGeom>
          <a:noFill/>
          <a:ln/>
        </p:spPr>
        <p:txBody>
          <a:bodyPr wrap="square" lIns="25400" tIns="25400" rIns="25400" bIns="25400" rtlCol="0" anchor="t">
            <a:normAutofit/>
          </a:bodyPr>
          <a:lstStyle/>
          <a:p>
            <a:pPr algn="l" indent="0" marL="0">
              <a:lnSpc>
                <a:spcPct val="140000"/>
              </a:lnSpc>
              <a:buNone/>
            </a:pPr>
            <a:r>
              <a:rPr lang="en-US" sz="2100" dirty="0">
                <a:solidFill>
                  <a:srgbClr val="201E1D"/>
                </a:solidFill>
                <a:latin typeface="Archivo" pitchFamily="34" charset="0"/>
                <a:ea typeface="Archivo" pitchFamily="34" charset="-122"/>
                <a:cs typeface="Archivo" pitchFamily="34" charset="-120"/>
              </a:rPr>
              <a:t>Angelopoulos &amp; Bates, 2021 — Sections 1, 2.1, 4</a:t>
            </a:r>
            <a:endParaRPr lang="en-US" sz="2100" dirty="0"/>
          </a:p>
        </p:txBody>
      </p:sp>
      <p:sp>
        <p:nvSpPr>
          <p:cNvPr id="9" name="Text 7"/>
          <p:cNvSpPr/>
          <p:nvPr/>
        </p:nvSpPr>
        <p:spPr>
          <a:xfrm>
            <a:off x="7452568" y="8759279"/>
            <a:ext cx="2124313" cy="333375"/>
          </a:xfrm>
          <a:prstGeom prst="rect">
            <a:avLst/>
          </a:prstGeom>
          <a:noFill/>
          <a:ln/>
        </p:spPr>
        <p:txBody>
          <a:bodyPr wrap="square" lIns="25400" tIns="25400" rIns="25400" bIns="25400" rtlCol="0" anchor="t">
            <a:normAutofit/>
          </a:bodyPr>
          <a:lstStyle/>
          <a:p>
            <a:pPr algn="l" indent="0" marL="0">
              <a:lnSpc>
                <a:spcPct val="140909"/>
              </a:lnSpc>
              <a:buNone/>
            </a:pPr>
            <a:r>
              <a:rPr lang="en-US" sz="1500" b="1" spc="120" kern="0" dirty="0">
                <a:solidFill>
                  <a:srgbClr val="7D7979"/>
                </a:solidFill>
                <a:latin typeface="Archivo" pitchFamily="34" charset="0"/>
                <a:ea typeface="Archivo" pitchFamily="34" charset="-122"/>
                <a:cs typeface="Archivo" pitchFamily="34" charset="-120"/>
              </a:rPr>
              <a:t>AUTHORS</a:t>
            </a:r>
            <a:endParaRPr lang="en-US" sz="1500" dirty="0"/>
          </a:p>
        </p:txBody>
      </p:sp>
      <p:sp>
        <p:nvSpPr>
          <p:cNvPr id="10" name="Text 8"/>
          <p:cNvSpPr/>
          <p:nvPr/>
        </p:nvSpPr>
        <p:spPr>
          <a:xfrm>
            <a:off x="7452568" y="9111704"/>
            <a:ext cx="2124313" cy="451396"/>
          </a:xfrm>
          <a:prstGeom prst="rect">
            <a:avLst/>
          </a:prstGeom>
          <a:noFill/>
          <a:ln/>
        </p:spPr>
        <p:txBody>
          <a:bodyPr wrap="square" lIns="25400" tIns="25400" rIns="25400" bIns="25400" rtlCol="0" anchor="t">
            <a:normAutofit/>
          </a:bodyPr>
          <a:lstStyle/>
          <a:p>
            <a:pPr algn="l" indent="0" marL="0">
              <a:lnSpc>
                <a:spcPct val="140000"/>
              </a:lnSpc>
              <a:buNone/>
            </a:pPr>
            <a:r>
              <a:rPr lang="en-US" sz="2100" dirty="0">
                <a:solidFill>
                  <a:srgbClr val="201E1D"/>
                </a:solidFill>
                <a:latin typeface="Archivo" pitchFamily="34" charset="0"/>
                <a:ea typeface="Archivo" pitchFamily="34" charset="-122"/>
                <a:cs typeface="Archivo" pitchFamily="34" charset="-120"/>
              </a:rPr>
              <a:t>Iacono &amp; Mungo</a:t>
            </a:r>
            <a:endParaRPr lang="en-US" sz="2100" dirty="0"/>
          </a:p>
        </p:txBody>
      </p:sp>
      <p:sp>
        <p:nvSpPr>
          <p:cNvPr id="11" name="Text 9"/>
          <p:cNvSpPr/>
          <p:nvPr/>
        </p:nvSpPr>
        <p:spPr>
          <a:xfrm>
            <a:off x="10145762" y="8759279"/>
            <a:ext cx="4930810" cy="333375"/>
          </a:xfrm>
          <a:prstGeom prst="rect">
            <a:avLst/>
          </a:prstGeom>
          <a:noFill/>
          <a:ln/>
        </p:spPr>
        <p:txBody>
          <a:bodyPr wrap="square" lIns="25400" tIns="25400" rIns="25400" bIns="25400" rtlCol="0" anchor="t">
            <a:normAutofit/>
          </a:bodyPr>
          <a:lstStyle/>
          <a:p>
            <a:pPr algn="l" indent="0" marL="0">
              <a:lnSpc>
                <a:spcPct val="140909"/>
              </a:lnSpc>
              <a:buNone/>
            </a:pPr>
            <a:r>
              <a:rPr lang="en-US" sz="1500" b="1" spc="120" kern="0" dirty="0">
                <a:solidFill>
                  <a:srgbClr val="7D7979"/>
                </a:solidFill>
                <a:latin typeface="Archivo" pitchFamily="34" charset="0"/>
                <a:ea typeface="Archivo" pitchFamily="34" charset="-122"/>
                <a:cs typeface="Archivo" pitchFamily="34" charset="-120"/>
              </a:rPr>
              <a:t>SCRIPT</a:t>
            </a:r>
            <a:endParaRPr lang="en-US" sz="1500" dirty="0"/>
          </a:p>
        </p:txBody>
      </p:sp>
      <p:sp>
        <p:nvSpPr>
          <p:cNvPr id="12" name="Text 10"/>
          <p:cNvSpPr/>
          <p:nvPr/>
        </p:nvSpPr>
        <p:spPr>
          <a:xfrm>
            <a:off x="10145762" y="9111704"/>
            <a:ext cx="4930810" cy="451396"/>
          </a:xfrm>
          <a:prstGeom prst="rect">
            <a:avLst/>
          </a:prstGeom>
          <a:noFill/>
          <a:ln/>
        </p:spPr>
        <p:txBody>
          <a:bodyPr wrap="square" lIns="25400" tIns="25400" rIns="25400" bIns="25400" rtlCol="0" anchor="t">
            <a:normAutofit/>
          </a:bodyPr>
          <a:lstStyle/>
          <a:p>
            <a:pPr algn="l" indent="0" marL="0">
              <a:lnSpc>
                <a:spcPct val="140000"/>
              </a:lnSpc>
              <a:buNone/>
            </a:pPr>
            <a:r>
              <a:rPr lang="en-US" sz="2100" dirty="0">
                <a:solidFill>
                  <a:srgbClr val="201E1D"/>
                </a:solidFill>
                <a:latin typeface="Archivo" pitchFamily="34" charset="0"/>
                <a:ea typeface="Archivo" pitchFamily="34" charset="-122"/>
                <a:cs typeface="Archivo" pitchFamily="34" charset="-120"/>
              </a:rPr>
              <a:t>Conformal_Prediction_MNIST_V6.4.R</a:t>
            </a:r>
            <a:endParaRPr lang="en-US" sz="2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3F2F2"/>
        </a:solidFill>
      </p:bgPr>
    </p:bg>
    <p:spTree>
      <p:nvGrpSpPr>
        <p:cNvPr id="1" name=""/>
        <p:cNvGrpSpPr/>
        <p:nvPr/>
      </p:nvGrpSpPr>
      <p:grpSpPr>
        <a:xfrm>
          <a:off x="0" y="0"/>
          <a:ext cx="0" cy="0"/>
          <a:chOff x="0" y="0"/>
          <a:chExt cx="0" cy="0"/>
        </a:xfrm>
      </p:grpSpPr>
      <p:sp>
        <p:nvSpPr>
          <p:cNvPr id="2" name="Text 0"/>
          <p:cNvSpPr/>
          <p:nvPr/>
        </p:nvSpPr>
        <p:spPr>
          <a:xfrm>
            <a:off x="952500" y="952500"/>
            <a:ext cx="18021300" cy="392311"/>
          </a:xfrm>
          <a:prstGeom prst="rect">
            <a:avLst/>
          </a:prstGeom>
          <a:noFill/>
          <a:ln/>
        </p:spPr>
        <p:txBody>
          <a:bodyPr wrap="square" lIns="25400" tIns="25400" rIns="25400" bIns="25400" rtlCol="0" anchor="t">
            <a:normAutofit/>
          </a:bodyPr>
          <a:lstStyle/>
          <a:p>
            <a:pPr algn="l" indent="0" marL="0">
              <a:lnSpc>
                <a:spcPct val="143077"/>
              </a:lnSpc>
              <a:buNone/>
            </a:pPr>
            <a:r>
              <a:rPr lang="en-US" sz="1800" b="1" spc="216" kern="0" dirty="0">
                <a:solidFill>
                  <a:srgbClr val="EC3013"/>
                </a:solidFill>
                <a:latin typeface="Archivo" pitchFamily="34" charset="0"/>
                <a:ea typeface="Archivo" pitchFamily="34" charset="-122"/>
                <a:cs typeface="Archivo" pitchFamily="34" charset="-120"/>
              </a:rPr>
              <a:t>FRAMING</a:t>
            </a:r>
            <a:endParaRPr lang="en-US" sz="1800" dirty="0"/>
          </a:p>
        </p:txBody>
      </p:sp>
      <p:sp>
        <p:nvSpPr>
          <p:cNvPr id="3" name="Text 1"/>
          <p:cNvSpPr/>
          <p:nvPr/>
        </p:nvSpPr>
        <p:spPr>
          <a:xfrm>
            <a:off x="952500" y="1421011"/>
            <a:ext cx="18021300" cy="696367"/>
          </a:xfrm>
          <a:prstGeom prst="rect">
            <a:avLst/>
          </a:prstGeom>
          <a:noFill/>
          <a:ln/>
        </p:spPr>
        <p:txBody>
          <a:bodyPr wrap="square" lIns="25400" tIns="25400" rIns="25400" bIns="25400" rtlCol="0" anchor="t">
            <a:normAutofit/>
          </a:bodyPr>
          <a:lstStyle/>
          <a:p>
            <a:pPr algn="l" indent="0" marL="0">
              <a:lnSpc>
                <a:spcPct val="100174"/>
              </a:lnSpc>
              <a:buNone/>
            </a:pPr>
            <a:r>
              <a:rPr lang="en-US" sz="4800" b="1" spc="-72" kern="0" dirty="0">
                <a:solidFill>
                  <a:srgbClr val="201E1D"/>
                </a:solidFill>
                <a:latin typeface="Archivo" pitchFamily="34" charset="0"/>
                <a:ea typeface="Archivo" pitchFamily="34" charset="-122"/>
                <a:cs typeface="Archivo" pitchFamily="34" charset="-120"/>
              </a:rPr>
              <a:t>Paper, Scope and Deliverables</a:t>
            </a:r>
            <a:endParaRPr lang="en-US" sz="4800" dirty="0"/>
          </a:p>
        </p:txBody>
      </p:sp>
      <p:sp>
        <p:nvSpPr>
          <p:cNvPr id="4" name="Shape 2"/>
          <p:cNvSpPr/>
          <p:nvPr/>
        </p:nvSpPr>
        <p:spPr>
          <a:xfrm>
            <a:off x="952500" y="2422178"/>
            <a:ext cx="16383000" cy="19050"/>
          </a:xfrm>
          <a:prstGeom prst="rect">
            <a:avLst/>
          </a:prstGeom>
          <a:solidFill>
            <a:srgbClr val="201E1D">
              <a:alpha val="40000"/>
            </a:srgbClr>
          </a:solidFill>
          <a:ln/>
        </p:spPr>
      </p:sp>
      <p:sp>
        <p:nvSpPr>
          <p:cNvPr id="5" name="Text 3"/>
          <p:cNvSpPr/>
          <p:nvPr/>
        </p:nvSpPr>
        <p:spPr>
          <a:xfrm>
            <a:off x="952500" y="2860328"/>
            <a:ext cx="8266748" cy="333375"/>
          </a:xfrm>
          <a:prstGeom prst="rect">
            <a:avLst/>
          </a:prstGeom>
          <a:noFill/>
          <a:ln/>
        </p:spPr>
        <p:txBody>
          <a:bodyPr wrap="square" lIns="25400" tIns="25400" rIns="25400" bIns="25400" rtlCol="0" anchor="t">
            <a:normAutofit/>
          </a:bodyPr>
          <a:lstStyle/>
          <a:p>
            <a:pPr algn="l" indent="0" marL="0">
              <a:lnSpc>
                <a:spcPct val="140909"/>
              </a:lnSpc>
              <a:buNone/>
            </a:pPr>
            <a:r>
              <a:rPr lang="en-US" sz="1500" b="1" spc="120" kern="0" dirty="0">
                <a:solidFill>
                  <a:srgbClr val="7D7979"/>
                </a:solidFill>
                <a:latin typeface="Archivo" pitchFamily="34" charset="0"/>
                <a:ea typeface="Archivo" pitchFamily="34" charset="-122"/>
                <a:cs typeface="Archivo" pitchFamily="34" charset="-120"/>
              </a:rPr>
              <a:t>WHAT WE RE-IMPLEMENTED</a:t>
            </a:r>
            <a:endParaRPr lang="en-US" sz="1500" dirty="0"/>
          </a:p>
        </p:txBody>
      </p:sp>
      <p:sp>
        <p:nvSpPr>
          <p:cNvPr id="6" name="Text 4"/>
          <p:cNvSpPr/>
          <p:nvPr/>
        </p:nvSpPr>
        <p:spPr>
          <a:xfrm>
            <a:off x="952500" y="3422303"/>
            <a:ext cx="7740682" cy="944761"/>
          </a:xfrm>
          <a:prstGeom prst="rect">
            <a:avLst/>
          </a:prstGeom>
          <a:noFill/>
          <a:ln/>
        </p:spPr>
        <p:txBody>
          <a:bodyPr wrap="square" lIns="25400" tIns="25400" rIns="25400" bIns="25400" rtlCol="0" anchor="t">
            <a:normAutofit/>
          </a:bodyPr>
          <a:lstStyle/>
          <a:p>
            <a:pPr algn="l" indent="0" marL="0">
              <a:lnSpc>
                <a:spcPct val="128649"/>
              </a:lnSpc>
              <a:buNone/>
            </a:pPr>
            <a:r>
              <a:rPr lang="en-US" sz="2550" b="1" dirty="0">
                <a:solidFill>
                  <a:srgbClr val="201E1D"/>
                </a:solidFill>
                <a:latin typeface="Archivo" pitchFamily="34" charset="0"/>
                <a:ea typeface="Archivo" pitchFamily="34" charset="-122"/>
                <a:cs typeface="Archivo" pitchFamily="34" charset="-120"/>
              </a:rPr>
              <a:t>Section 1 </a:t>
            </a:r>
            <a:pPr algn="l" indent="0" marL="0">
              <a:lnSpc>
                <a:spcPct val="128649"/>
              </a:lnSpc>
              <a:buNone/>
            </a:pPr>
            <a:r>
              <a:rPr lang="en-US" sz="2550" dirty="0">
                <a:solidFill>
                  <a:srgbClr val="201E1D"/>
                </a:solidFill>
                <a:latin typeface="Archivo" pitchFamily="34" charset="0"/>
                <a:ea typeface="Archivo" pitchFamily="34" charset="-122"/>
                <a:cs typeface="Archivo" pitchFamily="34" charset="-120"/>
              </a:rPr>
              <a:t>— split conformal prediction with the least-ambiguous-classifier score.</a:t>
            </a:r>
            <a:endParaRPr lang="en-US" sz="2550" dirty="0"/>
          </a:p>
        </p:txBody>
      </p:sp>
      <p:sp>
        <p:nvSpPr>
          <p:cNvPr id="7" name="Text 5"/>
          <p:cNvSpPr/>
          <p:nvPr/>
        </p:nvSpPr>
        <p:spPr>
          <a:xfrm>
            <a:off x="952500" y="4595664"/>
            <a:ext cx="7740682" cy="944761"/>
          </a:xfrm>
          <a:prstGeom prst="rect">
            <a:avLst/>
          </a:prstGeom>
          <a:noFill/>
          <a:ln/>
        </p:spPr>
        <p:txBody>
          <a:bodyPr wrap="square" lIns="25400" tIns="25400" rIns="25400" bIns="25400" rtlCol="0" anchor="t">
            <a:normAutofit/>
          </a:bodyPr>
          <a:lstStyle/>
          <a:p>
            <a:pPr algn="l" indent="0" marL="0">
              <a:lnSpc>
                <a:spcPct val="128649"/>
              </a:lnSpc>
              <a:buNone/>
            </a:pPr>
            <a:r>
              <a:rPr lang="en-US" sz="2550" b="1" dirty="0">
                <a:solidFill>
                  <a:srgbClr val="201E1D"/>
                </a:solidFill>
                <a:latin typeface="Archivo" pitchFamily="34" charset="0"/>
                <a:ea typeface="Archivo" pitchFamily="34" charset="-122"/>
                <a:cs typeface="Archivo" pitchFamily="34" charset="-120"/>
              </a:rPr>
              <a:t>Section 2.1 </a:t>
            </a:r>
            <a:pPr algn="l" indent="0" marL="0">
              <a:lnSpc>
                <a:spcPct val="128649"/>
              </a:lnSpc>
              <a:buNone/>
            </a:pPr>
            <a:r>
              <a:rPr lang="en-US" sz="2550" dirty="0">
                <a:solidFill>
                  <a:srgbClr val="201E1D"/>
                </a:solidFill>
                <a:latin typeface="Archivo" pitchFamily="34" charset="0"/>
                <a:ea typeface="Archivo" pitchFamily="34" charset="-122"/>
                <a:cs typeface="Archivo" pitchFamily="34" charset="-120"/>
              </a:rPr>
              <a:t>— adaptive prediction sets built on cumulative softmax mass.</a:t>
            </a:r>
            <a:endParaRPr lang="en-US" sz="2550" dirty="0"/>
          </a:p>
        </p:txBody>
      </p:sp>
      <p:sp>
        <p:nvSpPr>
          <p:cNvPr id="8" name="Text 6"/>
          <p:cNvSpPr/>
          <p:nvPr/>
        </p:nvSpPr>
        <p:spPr>
          <a:xfrm>
            <a:off x="952500" y="5769025"/>
            <a:ext cx="7740682" cy="944761"/>
          </a:xfrm>
          <a:prstGeom prst="rect">
            <a:avLst/>
          </a:prstGeom>
          <a:noFill/>
          <a:ln/>
        </p:spPr>
        <p:txBody>
          <a:bodyPr wrap="square" lIns="25400" tIns="25400" rIns="25400" bIns="25400" rtlCol="0" anchor="t">
            <a:normAutofit/>
          </a:bodyPr>
          <a:lstStyle/>
          <a:p>
            <a:pPr algn="l" indent="0" marL="0">
              <a:lnSpc>
                <a:spcPct val="128649"/>
              </a:lnSpc>
              <a:buNone/>
            </a:pPr>
            <a:r>
              <a:rPr lang="en-US" sz="2550" b="1" dirty="0">
                <a:solidFill>
                  <a:srgbClr val="201E1D"/>
                </a:solidFill>
                <a:latin typeface="Archivo" pitchFamily="34" charset="0"/>
                <a:ea typeface="Archivo" pitchFamily="34" charset="-122"/>
                <a:cs typeface="Archivo" pitchFamily="34" charset="-120"/>
              </a:rPr>
              <a:t>Section 4 </a:t>
            </a:r>
            <a:pPr algn="l" indent="0" marL="0">
              <a:lnSpc>
                <a:spcPct val="128649"/>
              </a:lnSpc>
              <a:buNone/>
            </a:pPr>
            <a:r>
              <a:rPr lang="en-US" sz="2550" dirty="0">
                <a:solidFill>
                  <a:srgbClr val="201E1D"/>
                </a:solidFill>
                <a:latin typeface="Archivo" pitchFamily="34" charset="0"/>
                <a:ea typeface="Archivo" pitchFamily="34" charset="-122"/>
                <a:cs typeface="Archivo" pitchFamily="34" charset="-120"/>
              </a:rPr>
              <a:t>— coverage and set-size checks, repeated over random splits.</a:t>
            </a:r>
            <a:endParaRPr lang="en-US" sz="2550" dirty="0"/>
          </a:p>
        </p:txBody>
      </p:sp>
      <p:sp>
        <p:nvSpPr>
          <p:cNvPr id="9" name="Shape 7"/>
          <p:cNvSpPr/>
          <p:nvPr/>
        </p:nvSpPr>
        <p:spPr>
          <a:xfrm>
            <a:off x="9134475" y="2860328"/>
            <a:ext cx="19050" cy="6664672"/>
          </a:xfrm>
          <a:prstGeom prst="rect">
            <a:avLst/>
          </a:prstGeom>
          <a:solidFill>
            <a:srgbClr val="201E1D">
              <a:alpha val="40000"/>
            </a:srgbClr>
          </a:solidFill>
          <a:ln/>
        </p:spPr>
      </p:sp>
      <p:sp>
        <p:nvSpPr>
          <p:cNvPr id="10" name="Text 8"/>
          <p:cNvSpPr/>
          <p:nvPr/>
        </p:nvSpPr>
        <p:spPr>
          <a:xfrm>
            <a:off x="9820275" y="2860328"/>
            <a:ext cx="8266748" cy="333375"/>
          </a:xfrm>
          <a:prstGeom prst="rect">
            <a:avLst/>
          </a:prstGeom>
          <a:noFill/>
          <a:ln/>
        </p:spPr>
        <p:txBody>
          <a:bodyPr wrap="square" lIns="25400" tIns="25400" rIns="25400" bIns="25400" rtlCol="0" anchor="t">
            <a:normAutofit/>
          </a:bodyPr>
          <a:lstStyle/>
          <a:p>
            <a:pPr algn="l" indent="0" marL="0">
              <a:lnSpc>
                <a:spcPct val="140909"/>
              </a:lnSpc>
              <a:buNone/>
            </a:pPr>
            <a:r>
              <a:rPr lang="en-US" sz="1500" b="1" spc="120" kern="0" dirty="0">
                <a:solidFill>
                  <a:srgbClr val="7D7979"/>
                </a:solidFill>
                <a:latin typeface="Archivo" pitchFamily="34" charset="0"/>
                <a:ea typeface="Archivo" pitchFamily="34" charset="-122"/>
                <a:cs typeface="Archivo" pitchFamily="34" charset="-120"/>
              </a:rPr>
              <a:t>WHAT WE LEFT OUT</a:t>
            </a:r>
            <a:endParaRPr lang="en-US" sz="1500" dirty="0"/>
          </a:p>
        </p:txBody>
      </p:sp>
      <p:sp>
        <p:nvSpPr>
          <p:cNvPr id="11" name="Text 9"/>
          <p:cNvSpPr/>
          <p:nvPr/>
        </p:nvSpPr>
        <p:spPr>
          <a:xfrm>
            <a:off x="9820275" y="3422303"/>
            <a:ext cx="7740682" cy="1584722"/>
          </a:xfrm>
          <a:prstGeom prst="rect">
            <a:avLst/>
          </a:prstGeom>
          <a:noFill/>
          <a:ln/>
        </p:spPr>
        <p:txBody>
          <a:bodyPr wrap="square" lIns="25400" tIns="25400" rIns="25400" bIns="25400" rtlCol="0" anchor="t">
            <a:normAutofit/>
          </a:bodyPr>
          <a:lstStyle/>
          <a:p>
            <a:pPr algn="l" indent="0" marL="0">
              <a:lnSpc>
                <a:spcPct val="130968"/>
              </a:lnSpc>
              <a:buNone/>
            </a:pPr>
            <a:r>
              <a:rPr lang="en-US" sz="2100" dirty="0">
                <a:solidFill>
                  <a:srgbClr val="444141"/>
                </a:solidFill>
                <a:latin typeface="Archivo" pitchFamily="34" charset="0"/>
                <a:ea typeface="Archivo" pitchFamily="34" charset="-122"/>
                <a:cs typeface="Archivo" pitchFamily="34" charset="-120"/>
              </a:rPr>
              <a:t>Conformalized quantile regression (2.2), scalar uncertainty estimates (2.3), conformalized Bayes (2.4) and risk-controlling prediction sets (3) — all outside the classification setting we chose.</a:t>
            </a:r>
            <a:endParaRPr lang="en-US" sz="2100" dirty="0"/>
          </a:p>
        </p:txBody>
      </p:sp>
      <p:sp>
        <p:nvSpPr>
          <p:cNvPr id="12" name="Text 10"/>
          <p:cNvSpPr/>
          <p:nvPr/>
        </p:nvSpPr>
        <p:spPr>
          <a:xfrm>
            <a:off x="9820275" y="5426125"/>
            <a:ext cx="8266748" cy="333375"/>
          </a:xfrm>
          <a:prstGeom prst="rect">
            <a:avLst/>
          </a:prstGeom>
          <a:noFill/>
          <a:ln/>
        </p:spPr>
        <p:txBody>
          <a:bodyPr wrap="square" lIns="25400" tIns="25400" rIns="25400" bIns="25400" rtlCol="0" anchor="t">
            <a:normAutofit/>
          </a:bodyPr>
          <a:lstStyle/>
          <a:p>
            <a:pPr algn="l" indent="0" marL="0">
              <a:lnSpc>
                <a:spcPct val="140909"/>
              </a:lnSpc>
              <a:buNone/>
            </a:pPr>
            <a:r>
              <a:rPr lang="en-US" sz="1500" b="1" spc="120" kern="0" dirty="0">
                <a:solidFill>
                  <a:srgbClr val="7D7979"/>
                </a:solidFill>
                <a:latin typeface="Archivo" pitchFamily="34" charset="0"/>
                <a:ea typeface="Archivo" pitchFamily="34" charset="-122"/>
                <a:cs typeface="Archivo" pitchFamily="34" charset="-120"/>
              </a:rPr>
              <a:t>BASE MODEL</a:t>
            </a:r>
            <a:endParaRPr lang="en-US" sz="1500" dirty="0"/>
          </a:p>
        </p:txBody>
      </p:sp>
      <p:sp>
        <p:nvSpPr>
          <p:cNvPr id="13" name="Text 11"/>
          <p:cNvSpPr/>
          <p:nvPr/>
        </p:nvSpPr>
        <p:spPr>
          <a:xfrm>
            <a:off x="9820275" y="5988100"/>
            <a:ext cx="7740682" cy="1198066"/>
          </a:xfrm>
          <a:prstGeom prst="rect">
            <a:avLst/>
          </a:prstGeom>
          <a:noFill/>
          <a:ln/>
        </p:spPr>
        <p:txBody>
          <a:bodyPr wrap="square" lIns="25400" tIns="25400" rIns="25400" bIns="25400" rtlCol="0" anchor="t">
            <a:normAutofit/>
          </a:bodyPr>
          <a:lstStyle/>
          <a:p>
            <a:pPr algn="l" indent="0" marL="0">
              <a:lnSpc>
                <a:spcPct val="130968"/>
              </a:lnSpc>
              <a:buNone/>
            </a:pPr>
            <a:r>
              <a:rPr lang="en-US" sz="2100" dirty="0">
                <a:solidFill>
                  <a:srgbClr val="444141"/>
                </a:solidFill>
                <a:latin typeface="Archivo" pitchFamily="34" charset="0"/>
                <a:ea typeface="Archivo" pitchFamily="34" charset="-122"/>
                <a:cs typeface="Archivo" pitchFamily="34" charset="-120"/>
              </a:rPr>
              <a:t>The neural network is adapted from public code, not written by us. It is deliberately treated as a black box — which is exactly the setting conformal prediction is designed for.</a:t>
            </a:r>
            <a:endParaRPr lang="en-US" sz="2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3F2F2"/>
        </a:solidFill>
      </p:bgPr>
    </p:bg>
    <p:spTree>
      <p:nvGrpSpPr>
        <p:cNvPr id="1" name=""/>
        <p:cNvGrpSpPr/>
        <p:nvPr/>
      </p:nvGrpSpPr>
      <p:grpSpPr>
        <a:xfrm>
          <a:off x="0" y="0"/>
          <a:ext cx="0" cy="0"/>
          <a:chOff x="0" y="0"/>
          <a:chExt cx="0" cy="0"/>
        </a:xfrm>
      </p:grpSpPr>
      <p:sp>
        <p:nvSpPr>
          <p:cNvPr id="2" name="Text 0"/>
          <p:cNvSpPr/>
          <p:nvPr/>
        </p:nvSpPr>
        <p:spPr>
          <a:xfrm>
            <a:off x="952500" y="952500"/>
            <a:ext cx="18021300" cy="392311"/>
          </a:xfrm>
          <a:prstGeom prst="rect">
            <a:avLst/>
          </a:prstGeom>
          <a:noFill/>
          <a:ln/>
        </p:spPr>
        <p:txBody>
          <a:bodyPr wrap="square" lIns="25400" tIns="25400" rIns="25400" bIns="25400" rtlCol="0" anchor="t">
            <a:normAutofit/>
          </a:bodyPr>
          <a:lstStyle/>
          <a:p>
            <a:pPr algn="l" indent="0" marL="0">
              <a:lnSpc>
                <a:spcPct val="143077"/>
              </a:lnSpc>
              <a:buNone/>
            </a:pPr>
            <a:r>
              <a:rPr lang="en-US" sz="1800" b="1" spc="216" kern="0" dirty="0">
                <a:solidFill>
                  <a:srgbClr val="EC3013"/>
                </a:solidFill>
                <a:latin typeface="Archivo" pitchFamily="34" charset="0"/>
                <a:ea typeface="Archivo" pitchFamily="34" charset="-122"/>
                <a:cs typeface="Archivo" pitchFamily="34" charset="-120"/>
              </a:rPr>
              <a:t>METHOD</a:t>
            </a:r>
            <a:endParaRPr lang="en-US" sz="1800" dirty="0"/>
          </a:p>
        </p:txBody>
      </p:sp>
      <p:sp>
        <p:nvSpPr>
          <p:cNvPr id="3" name="Text 1"/>
          <p:cNvSpPr/>
          <p:nvPr/>
        </p:nvSpPr>
        <p:spPr>
          <a:xfrm>
            <a:off x="952500" y="1421011"/>
            <a:ext cx="18021300" cy="696367"/>
          </a:xfrm>
          <a:prstGeom prst="rect">
            <a:avLst/>
          </a:prstGeom>
          <a:noFill/>
          <a:ln/>
        </p:spPr>
        <p:txBody>
          <a:bodyPr wrap="square" lIns="25400" tIns="25400" rIns="25400" bIns="25400" rtlCol="0" anchor="t">
            <a:normAutofit/>
          </a:bodyPr>
          <a:lstStyle/>
          <a:p>
            <a:pPr algn="l" indent="0" marL="0">
              <a:lnSpc>
                <a:spcPct val="100174"/>
              </a:lnSpc>
              <a:buNone/>
            </a:pPr>
            <a:r>
              <a:rPr lang="en-US" sz="4800" b="1" spc="-72" kern="0" dirty="0">
                <a:solidFill>
                  <a:srgbClr val="201E1D"/>
                </a:solidFill>
                <a:latin typeface="Archivo" pitchFamily="34" charset="0"/>
                <a:ea typeface="Archivo" pitchFamily="34" charset="-122"/>
                <a:cs typeface="Archivo" pitchFamily="34" charset="-120"/>
              </a:rPr>
              <a:t>Split Conformal Prediction in Four Steps</a:t>
            </a:r>
            <a:endParaRPr lang="en-US" sz="4800" dirty="0"/>
          </a:p>
        </p:txBody>
      </p:sp>
      <p:sp>
        <p:nvSpPr>
          <p:cNvPr id="4" name="Shape 2"/>
          <p:cNvSpPr/>
          <p:nvPr/>
        </p:nvSpPr>
        <p:spPr>
          <a:xfrm>
            <a:off x="952500" y="2422178"/>
            <a:ext cx="16383000" cy="19050"/>
          </a:xfrm>
          <a:prstGeom prst="rect">
            <a:avLst/>
          </a:prstGeom>
          <a:solidFill>
            <a:srgbClr val="201E1D">
              <a:alpha val="40000"/>
            </a:srgbClr>
          </a:solidFill>
          <a:ln/>
        </p:spPr>
      </p:sp>
      <p:sp>
        <p:nvSpPr>
          <p:cNvPr id="5" name="Shape 3"/>
          <p:cNvSpPr/>
          <p:nvPr/>
        </p:nvSpPr>
        <p:spPr>
          <a:xfrm>
            <a:off x="952500" y="2860328"/>
            <a:ext cx="16383000" cy="6664672"/>
          </a:xfrm>
          <a:prstGeom prst="rect">
            <a:avLst/>
          </a:prstGeom>
          <a:solidFill>
            <a:srgbClr val="201E1D">
              <a:alpha val="40000"/>
            </a:srgbClr>
          </a:solidFill>
          <a:ln/>
        </p:spPr>
      </p:sp>
      <p:sp>
        <p:nvSpPr>
          <p:cNvPr id="6" name="Shape 4"/>
          <p:cNvSpPr/>
          <p:nvPr/>
        </p:nvSpPr>
        <p:spPr>
          <a:xfrm>
            <a:off x="952500" y="2860328"/>
            <a:ext cx="8181975" cy="3322737"/>
          </a:xfrm>
          <a:prstGeom prst="rect">
            <a:avLst/>
          </a:prstGeom>
          <a:solidFill>
            <a:srgbClr val="F3F2F2"/>
          </a:solidFill>
          <a:ln/>
        </p:spPr>
      </p:sp>
      <p:sp>
        <p:nvSpPr>
          <p:cNvPr id="7" name="Text 5"/>
          <p:cNvSpPr/>
          <p:nvPr/>
        </p:nvSpPr>
        <p:spPr>
          <a:xfrm>
            <a:off x="1409700" y="3241328"/>
            <a:ext cx="7994333" cy="571500"/>
          </a:xfrm>
          <a:prstGeom prst="rect">
            <a:avLst/>
          </a:prstGeom>
          <a:noFill/>
          <a:ln/>
        </p:spPr>
        <p:txBody>
          <a:bodyPr wrap="square" lIns="25400" tIns="25400" rIns="25400" bIns="25400" rtlCol="0" anchor="t">
            <a:normAutofit/>
          </a:bodyPr>
          <a:lstStyle/>
          <a:p>
            <a:pPr algn="l" indent="0" marL="0">
              <a:lnSpc>
                <a:spcPct val="91803"/>
              </a:lnSpc>
              <a:buNone/>
            </a:pPr>
            <a:r>
              <a:rPr lang="en-US" sz="4200" b="1" dirty="0">
                <a:solidFill>
                  <a:srgbClr val="EC3013"/>
                </a:solidFill>
                <a:latin typeface="Archivo" pitchFamily="34" charset="0"/>
                <a:ea typeface="Archivo" pitchFamily="34" charset="-122"/>
                <a:cs typeface="Archivo" pitchFamily="34" charset="-120"/>
              </a:rPr>
              <a:t>01</a:t>
            </a:r>
            <a:endParaRPr lang="en-US" sz="4200" dirty="0"/>
          </a:p>
        </p:txBody>
      </p:sp>
      <p:sp>
        <p:nvSpPr>
          <p:cNvPr id="8" name="Text 6"/>
          <p:cNvSpPr/>
          <p:nvPr/>
        </p:nvSpPr>
        <p:spPr>
          <a:xfrm>
            <a:off x="1409700" y="3908078"/>
            <a:ext cx="7994333" cy="569565"/>
          </a:xfrm>
          <a:prstGeom prst="rect">
            <a:avLst/>
          </a:prstGeom>
          <a:noFill/>
          <a:ln/>
        </p:spPr>
        <p:txBody>
          <a:bodyPr wrap="square" lIns="25400" tIns="25400" rIns="25400" bIns="25400" rtlCol="0" anchor="t">
            <a:normAutofit/>
          </a:bodyPr>
          <a:lstStyle/>
          <a:p>
            <a:pPr algn="l" indent="0" marL="0">
              <a:lnSpc>
                <a:spcPct val="139500"/>
              </a:lnSpc>
              <a:buNone/>
            </a:pPr>
            <a:r>
              <a:rPr lang="en-US" sz="2700" b="1" dirty="0">
                <a:solidFill>
                  <a:srgbClr val="201E1D"/>
                </a:solidFill>
                <a:latin typeface="Archivo" pitchFamily="34" charset="0"/>
                <a:ea typeface="Archivo" pitchFamily="34" charset="-122"/>
                <a:cs typeface="Archivo" pitchFamily="34" charset="-120"/>
              </a:rPr>
              <a:t>Hold out calibration data</a:t>
            </a:r>
            <a:endParaRPr lang="en-US" sz="2700" dirty="0"/>
          </a:p>
        </p:txBody>
      </p:sp>
      <p:sp>
        <p:nvSpPr>
          <p:cNvPr id="9" name="Text 7"/>
          <p:cNvSpPr/>
          <p:nvPr/>
        </p:nvSpPr>
        <p:spPr>
          <a:xfrm>
            <a:off x="1409700" y="4572893"/>
            <a:ext cx="7994333" cy="411361"/>
          </a:xfrm>
          <a:prstGeom prst="rect">
            <a:avLst/>
          </a:prstGeom>
          <a:noFill/>
          <a:ln/>
        </p:spPr>
        <p:txBody>
          <a:bodyPr wrap="square" lIns="25400" tIns="25400" rIns="25400" bIns="25400" rtlCol="0" anchor="t">
            <a:normAutofit/>
          </a:bodyPr>
          <a:lstStyle/>
          <a:p>
            <a:pPr algn="l" indent="0" marL="0">
              <a:lnSpc>
                <a:spcPct val="126452"/>
              </a:lnSpc>
              <a:buNone/>
            </a:pPr>
            <a:r>
              <a:rPr lang="en-US" sz="2100" dirty="0">
                <a:solidFill>
                  <a:srgbClr val="444141"/>
                </a:solidFill>
                <a:latin typeface="Archivo" pitchFamily="34" charset="0"/>
                <a:ea typeface="Archivo" pitchFamily="34" charset="-122"/>
                <a:cs typeface="Archivo" pitchFamily="34" charset="-120"/>
              </a:rPr>
              <a:t>Data the fitted model never saw. We use 2,000 images.</a:t>
            </a:r>
            <a:endParaRPr lang="en-US" sz="2100" dirty="0"/>
          </a:p>
        </p:txBody>
      </p:sp>
      <p:sp>
        <p:nvSpPr>
          <p:cNvPr id="10" name="Shape 8"/>
          <p:cNvSpPr/>
          <p:nvPr/>
        </p:nvSpPr>
        <p:spPr>
          <a:xfrm>
            <a:off x="9153525" y="2860328"/>
            <a:ext cx="8181975" cy="3322737"/>
          </a:xfrm>
          <a:prstGeom prst="rect">
            <a:avLst/>
          </a:prstGeom>
          <a:solidFill>
            <a:srgbClr val="F3F2F2"/>
          </a:solidFill>
          <a:ln/>
        </p:spPr>
      </p:sp>
      <p:sp>
        <p:nvSpPr>
          <p:cNvPr id="11" name="Text 9"/>
          <p:cNvSpPr/>
          <p:nvPr/>
        </p:nvSpPr>
        <p:spPr>
          <a:xfrm>
            <a:off x="9610725" y="3241328"/>
            <a:ext cx="7994333" cy="571500"/>
          </a:xfrm>
          <a:prstGeom prst="rect">
            <a:avLst/>
          </a:prstGeom>
          <a:noFill/>
          <a:ln/>
        </p:spPr>
        <p:txBody>
          <a:bodyPr wrap="square" lIns="25400" tIns="25400" rIns="25400" bIns="25400" rtlCol="0" anchor="t">
            <a:normAutofit/>
          </a:bodyPr>
          <a:lstStyle/>
          <a:p>
            <a:pPr algn="l" indent="0" marL="0">
              <a:lnSpc>
                <a:spcPct val="91803"/>
              </a:lnSpc>
              <a:buNone/>
            </a:pPr>
            <a:r>
              <a:rPr lang="en-US" sz="4200" b="1" dirty="0">
                <a:solidFill>
                  <a:srgbClr val="EC3013"/>
                </a:solidFill>
                <a:latin typeface="Archivo" pitchFamily="34" charset="0"/>
                <a:ea typeface="Archivo" pitchFamily="34" charset="-122"/>
                <a:cs typeface="Archivo" pitchFamily="34" charset="-120"/>
              </a:rPr>
              <a:t>02</a:t>
            </a:r>
            <a:endParaRPr lang="en-US" sz="4200" dirty="0"/>
          </a:p>
        </p:txBody>
      </p:sp>
      <p:sp>
        <p:nvSpPr>
          <p:cNvPr id="12" name="Text 10"/>
          <p:cNvSpPr/>
          <p:nvPr/>
        </p:nvSpPr>
        <p:spPr>
          <a:xfrm>
            <a:off x="9610725" y="3908078"/>
            <a:ext cx="7994333" cy="569565"/>
          </a:xfrm>
          <a:prstGeom prst="rect">
            <a:avLst/>
          </a:prstGeom>
          <a:noFill/>
          <a:ln/>
        </p:spPr>
        <p:txBody>
          <a:bodyPr wrap="square" lIns="25400" tIns="25400" rIns="25400" bIns="25400" rtlCol="0" anchor="t">
            <a:normAutofit/>
          </a:bodyPr>
          <a:lstStyle/>
          <a:p>
            <a:pPr algn="l" indent="0" marL="0">
              <a:lnSpc>
                <a:spcPct val="139500"/>
              </a:lnSpc>
              <a:buNone/>
            </a:pPr>
            <a:r>
              <a:rPr lang="en-US" sz="2700" b="1" dirty="0">
                <a:solidFill>
                  <a:srgbClr val="201E1D"/>
                </a:solidFill>
                <a:latin typeface="Archivo" pitchFamily="34" charset="0"/>
                <a:ea typeface="Archivo" pitchFamily="34" charset="-122"/>
                <a:cs typeface="Archivo" pitchFamily="34" charset="-120"/>
              </a:rPr>
              <a:t>Define a score s(X, Y)</a:t>
            </a:r>
            <a:endParaRPr lang="en-US" sz="2700" dirty="0"/>
          </a:p>
        </p:txBody>
      </p:sp>
      <p:sp>
        <p:nvSpPr>
          <p:cNvPr id="13" name="Text 11"/>
          <p:cNvSpPr/>
          <p:nvPr/>
        </p:nvSpPr>
        <p:spPr>
          <a:xfrm>
            <a:off x="9610725" y="4572893"/>
            <a:ext cx="7485602" cy="784622"/>
          </a:xfrm>
          <a:prstGeom prst="rect">
            <a:avLst/>
          </a:prstGeom>
          <a:noFill/>
          <a:ln/>
        </p:spPr>
        <p:txBody>
          <a:bodyPr wrap="square" lIns="25400" tIns="25400" rIns="25400" bIns="25400" rtlCol="0" anchor="t">
            <a:normAutofit/>
          </a:bodyPr>
          <a:lstStyle/>
          <a:p>
            <a:pPr algn="l" indent="0" marL="0">
              <a:lnSpc>
                <a:spcPct val="126452"/>
              </a:lnSpc>
              <a:buNone/>
            </a:pPr>
            <a:r>
              <a:rPr lang="en-US" sz="2100" dirty="0">
                <a:solidFill>
                  <a:srgbClr val="444141"/>
                </a:solidFill>
                <a:latin typeface="Archivo" pitchFamily="34" charset="0"/>
                <a:ea typeface="Archivo" pitchFamily="34" charset="-122"/>
                <a:cs typeface="Archivo" pitchFamily="34" charset="-120"/>
              </a:rPr>
              <a:t>LAC: 1 − p(true class). APS: cumulative mass down to the true class.</a:t>
            </a:r>
            <a:endParaRPr lang="en-US" sz="2100" dirty="0"/>
          </a:p>
        </p:txBody>
      </p:sp>
      <p:sp>
        <p:nvSpPr>
          <p:cNvPr id="14" name="Shape 12"/>
          <p:cNvSpPr/>
          <p:nvPr/>
        </p:nvSpPr>
        <p:spPr>
          <a:xfrm>
            <a:off x="952500" y="6202114"/>
            <a:ext cx="8181975" cy="3322886"/>
          </a:xfrm>
          <a:prstGeom prst="rect">
            <a:avLst/>
          </a:prstGeom>
          <a:solidFill>
            <a:srgbClr val="F3F2F2"/>
          </a:solidFill>
          <a:ln/>
        </p:spPr>
      </p:sp>
      <p:sp>
        <p:nvSpPr>
          <p:cNvPr id="15" name="Text 13"/>
          <p:cNvSpPr/>
          <p:nvPr/>
        </p:nvSpPr>
        <p:spPr>
          <a:xfrm>
            <a:off x="1409700" y="6583114"/>
            <a:ext cx="7994333" cy="571500"/>
          </a:xfrm>
          <a:prstGeom prst="rect">
            <a:avLst/>
          </a:prstGeom>
          <a:noFill/>
          <a:ln/>
        </p:spPr>
        <p:txBody>
          <a:bodyPr wrap="square" lIns="25400" tIns="25400" rIns="25400" bIns="25400" rtlCol="0" anchor="t">
            <a:normAutofit/>
          </a:bodyPr>
          <a:lstStyle/>
          <a:p>
            <a:pPr algn="l" indent="0" marL="0">
              <a:lnSpc>
                <a:spcPct val="91803"/>
              </a:lnSpc>
              <a:buNone/>
            </a:pPr>
            <a:r>
              <a:rPr lang="en-US" sz="4200" b="1" dirty="0">
                <a:solidFill>
                  <a:srgbClr val="EC3013"/>
                </a:solidFill>
                <a:latin typeface="Archivo" pitchFamily="34" charset="0"/>
                <a:ea typeface="Archivo" pitchFamily="34" charset="-122"/>
                <a:cs typeface="Archivo" pitchFamily="34" charset="-120"/>
              </a:rPr>
              <a:t>03</a:t>
            </a:r>
            <a:endParaRPr lang="en-US" sz="4200" dirty="0"/>
          </a:p>
        </p:txBody>
      </p:sp>
      <p:sp>
        <p:nvSpPr>
          <p:cNvPr id="16" name="Text 14"/>
          <p:cNvSpPr/>
          <p:nvPr/>
        </p:nvSpPr>
        <p:spPr>
          <a:xfrm>
            <a:off x="1409700" y="7249864"/>
            <a:ext cx="7994333" cy="569565"/>
          </a:xfrm>
          <a:prstGeom prst="rect">
            <a:avLst/>
          </a:prstGeom>
          <a:noFill/>
          <a:ln/>
        </p:spPr>
        <p:txBody>
          <a:bodyPr wrap="square" lIns="25400" tIns="25400" rIns="25400" bIns="25400" rtlCol="0" anchor="t">
            <a:normAutofit/>
          </a:bodyPr>
          <a:lstStyle/>
          <a:p>
            <a:pPr algn="l" indent="0" marL="0">
              <a:lnSpc>
                <a:spcPct val="139500"/>
              </a:lnSpc>
              <a:buNone/>
            </a:pPr>
            <a:r>
              <a:rPr lang="en-US" sz="2700" b="1" dirty="0">
                <a:solidFill>
                  <a:srgbClr val="201E1D"/>
                </a:solidFill>
                <a:latin typeface="Archivo" pitchFamily="34" charset="0"/>
                <a:ea typeface="Archivo" pitchFamily="34" charset="-122"/>
                <a:cs typeface="Archivo" pitchFamily="34" charset="-120"/>
              </a:rPr>
              <a:t>Take the conformal quantile</a:t>
            </a:r>
            <a:endParaRPr lang="en-US" sz="2700" dirty="0"/>
          </a:p>
        </p:txBody>
      </p:sp>
      <p:sp>
        <p:nvSpPr>
          <p:cNvPr id="17" name="Text 15"/>
          <p:cNvSpPr/>
          <p:nvPr/>
        </p:nvSpPr>
        <p:spPr>
          <a:xfrm>
            <a:off x="1409700" y="7914680"/>
            <a:ext cx="7485602" cy="784622"/>
          </a:xfrm>
          <a:prstGeom prst="rect">
            <a:avLst/>
          </a:prstGeom>
          <a:noFill/>
          <a:ln/>
        </p:spPr>
        <p:txBody>
          <a:bodyPr wrap="square" lIns="25400" tIns="25400" rIns="25400" bIns="25400" rtlCol="0" anchor="t">
            <a:normAutofit/>
          </a:bodyPr>
          <a:lstStyle/>
          <a:p>
            <a:pPr algn="l" indent="0" marL="0">
              <a:lnSpc>
                <a:spcPct val="126452"/>
              </a:lnSpc>
              <a:buNone/>
            </a:pPr>
            <a:r>
              <a:rPr lang="en-US" sz="2100" dirty="0">
                <a:solidFill>
                  <a:srgbClr val="444141"/>
                </a:solidFill>
                <a:latin typeface="Archivo" pitchFamily="34" charset="0"/>
                <a:ea typeface="Archivo" pitchFamily="34" charset="-122"/>
                <a:cs typeface="Archivo" pitchFamily="34" charset="-120"/>
              </a:rPr>
              <a:t>q̂ is the ⌈(n+1)(1−α)⌉-th smallest calibration score, with α = 0.10.</a:t>
            </a:r>
            <a:endParaRPr lang="en-US" sz="2100" dirty="0"/>
          </a:p>
        </p:txBody>
      </p:sp>
      <p:sp>
        <p:nvSpPr>
          <p:cNvPr id="18" name="Shape 16"/>
          <p:cNvSpPr/>
          <p:nvPr/>
        </p:nvSpPr>
        <p:spPr>
          <a:xfrm>
            <a:off x="9153525" y="6202114"/>
            <a:ext cx="8181975" cy="3322886"/>
          </a:xfrm>
          <a:prstGeom prst="rect">
            <a:avLst/>
          </a:prstGeom>
          <a:solidFill>
            <a:srgbClr val="F3F2F2"/>
          </a:solidFill>
          <a:ln/>
        </p:spPr>
      </p:sp>
      <p:sp>
        <p:nvSpPr>
          <p:cNvPr id="19" name="Text 17"/>
          <p:cNvSpPr/>
          <p:nvPr/>
        </p:nvSpPr>
        <p:spPr>
          <a:xfrm>
            <a:off x="9610725" y="6583114"/>
            <a:ext cx="7994333" cy="571500"/>
          </a:xfrm>
          <a:prstGeom prst="rect">
            <a:avLst/>
          </a:prstGeom>
          <a:noFill/>
          <a:ln/>
        </p:spPr>
        <p:txBody>
          <a:bodyPr wrap="square" lIns="25400" tIns="25400" rIns="25400" bIns="25400" rtlCol="0" anchor="t">
            <a:normAutofit/>
          </a:bodyPr>
          <a:lstStyle/>
          <a:p>
            <a:pPr algn="l" indent="0" marL="0">
              <a:lnSpc>
                <a:spcPct val="91803"/>
              </a:lnSpc>
              <a:buNone/>
            </a:pPr>
            <a:r>
              <a:rPr lang="en-US" sz="4200" b="1" dirty="0">
                <a:solidFill>
                  <a:srgbClr val="EC3013"/>
                </a:solidFill>
                <a:latin typeface="Archivo" pitchFamily="34" charset="0"/>
                <a:ea typeface="Archivo" pitchFamily="34" charset="-122"/>
                <a:cs typeface="Archivo" pitchFamily="34" charset="-120"/>
              </a:rPr>
              <a:t>04</a:t>
            </a:r>
            <a:endParaRPr lang="en-US" sz="4200" dirty="0"/>
          </a:p>
        </p:txBody>
      </p:sp>
      <p:sp>
        <p:nvSpPr>
          <p:cNvPr id="20" name="Text 18"/>
          <p:cNvSpPr/>
          <p:nvPr/>
        </p:nvSpPr>
        <p:spPr>
          <a:xfrm>
            <a:off x="9610725" y="7249864"/>
            <a:ext cx="7994333" cy="569565"/>
          </a:xfrm>
          <a:prstGeom prst="rect">
            <a:avLst/>
          </a:prstGeom>
          <a:noFill/>
          <a:ln/>
        </p:spPr>
        <p:txBody>
          <a:bodyPr wrap="square" lIns="25400" tIns="25400" rIns="25400" bIns="25400" rtlCol="0" anchor="t">
            <a:normAutofit/>
          </a:bodyPr>
          <a:lstStyle/>
          <a:p>
            <a:pPr algn="l" indent="0" marL="0">
              <a:lnSpc>
                <a:spcPct val="139500"/>
              </a:lnSpc>
              <a:buNone/>
            </a:pPr>
            <a:r>
              <a:rPr lang="en-US" sz="2700" b="1" dirty="0">
                <a:solidFill>
                  <a:srgbClr val="201E1D"/>
                </a:solidFill>
                <a:latin typeface="Archivo" pitchFamily="34" charset="0"/>
                <a:ea typeface="Archivo" pitchFamily="34" charset="-122"/>
                <a:cs typeface="Archivo" pitchFamily="34" charset="-120"/>
              </a:rPr>
              <a:t>Form the set T(X)</a:t>
            </a:r>
            <a:endParaRPr lang="en-US" sz="2700" dirty="0"/>
          </a:p>
        </p:txBody>
      </p:sp>
      <p:sp>
        <p:nvSpPr>
          <p:cNvPr id="21" name="Text 19"/>
          <p:cNvSpPr/>
          <p:nvPr/>
        </p:nvSpPr>
        <p:spPr>
          <a:xfrm>
            <a:off x="9610725" y="7914680"/>
            <a:ext cx="7485602" cy="784622"/>
          </a:xfrm>
          <a:prstGeom prst="rect">
            <a:avLst/>
          </a:prstGeom>
          <a:noFill/>
          <a:ln/>
        </p:spPr>
        <p:txBody>
          <a:bodyPr wrap="square" lIns="25400" tIns="25400" rIns="25400" bIns="25400" rtlCol="0" anchor="t">
            <a:normAutofit/>
          </a:bodyPr>
          <a:lstStyle/>
          <a:p>
            <a:pPr algn="l" indent="0" marL="0">
              <a:lnSpc>
                <a:spcPct val="126452"/>
              </a:lnSpc>
              <a:buNone/>
            </a:pPr>
            <a:r>
              <a:rPr lang="en-US" sz="2100" dirty="0">
                <a:solidFill>
                  <a:srgbClr val="444141"/>
                </a:solidFill>
                <a:latin typeface="Archivo" pitchFamily="34" charset="0"/>
                <a:ea typeface="Archivo" pitchFamily="34" charset="-122"/>
                <a:cs typeface="Archivo" pitchFamily="34" charset="-120"/>
              </a:rPr>
              <a:t>Every label whose score falls at or below q̂. Coverage ≥ 1 − α follows.</a:t>
            </a:r>
            <a:endParaRPr lang="en-US" sz="2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3F2F2"/>
        </a:solidFill>
      </p:bgPr>
    </p:bg>
    <p:spTree>
      <p:nvGrpSpPr>
        <p:cNvPr id="1" name=""/>
        <p:cNvGrpSpPr/>
        <p:nvPr/>
      </p:nvGrpSpPr>
      <p:grpSpPr>
        <a:xfrm>
          <a:off x="0" y="0"/>
          <a:ext cx="0" cy="0"/>
          <a:chOff x="0" y="0"/>
          <a:chExt cx="0" cy="0"/>
        </a:xfrm>
      </p:grpSpPr>
      <p:sp>
        <p:nvSpPr>
          <p:cNvPr id="2" name="Text 0"/>
          <p:cNvSpPr/>
          <p:nvPr/>
        </p:nvSpPr>
        <p:spPr>
          <a:xfrm>
            <a:off x="952500" y="952500"/>
            <a:ext cx="18021300" cy="392311"/>
          </a:xfrm>
          <a:prstGeom prst="rect">
            <a:avLst/>
          </a:prstGeom>
          <a:noFill/>
          <a:ln/>
        </p:spPr>
        <p:txBody>
          <a:bodyPr wrap="square" lIns="25400" tIns="25400" rIns="25400" bIns="25400" rtlCol="0" anchor="t">
            <a:normAutofit/>
          </a:bodyPr>
          <a:lstStyle/>
          <a:p>
            <a:pPr algn="l" indent="0" marL="0">
              <a:lnSpc>
                <a:spcPct val="143077"/>
              </a:lnSpc>
              <a:buNone/>
            </a:pPr>
            <a:r>
              <a:rPr lang="en-US" sz="1800" b="1" spc="216" kern="0" dirty="0">
                <a:solidFill>
                  <a:srgbClr val="EC3013"/>
                </a:solidFill>
                <a:latin typeface="Archivo" pitchFamily="34" charset="0"/>
                <a:ea typeface="Archivo" pitchFamily="34" charset="-122"/>
                <a:cs typeface="Archivo" pitchFamily="34" charset="-120"/>
              </a:rPr>
              <a:t>SETUP</a:t>
            </a:r>
            <a:endParaRPr lang="en-US" sz="1800" dirty="0"/>
          </a:p>
        </p:txBody>
      </p:sp>
      <p:sp>
        <p:nvSpPr>
          <p:cNvPr id="3" name="Text 1"/>
          <p:cNvSpPr/>
          <p:nvPr/>
        </p:nvSpPr>
        <p:spPr>
          <a:xfrm>
            <a:off x="952500" y="1421011"/>
            <a:ext cx="18021300" cy="696367"/>
          </a:xfrm>
          <a:prstGeom prst="rect">
            <a:avLst/>
          </a:prstGeom>
          <a:noFill/>
          <a:ln/>
        </p:spPr>
        <p:txBody>
          <a:bodyPr wrap="square" lIns="25400" tIns="25400" rIns="25400" bIns="25400" rtlCol="0" anchor="t">
            <a:normAutofit/>
          </a:bodyPr>
          <a:lstStyle/>
          <a:p>
            <a:pPr algn="l" indent="0" marL="0">
              <a:lnSpc>
                <a:spcPct val="100174"/>
              </a:lnSpc>
              <a:buNone/>
            </a:pPr>
            <a:r>
              <a:rPr lang="en-US" sz="4800" b="1" spc="-72" kern="0" dirty="0">
                <a:solidFill>
                  <a:srgbClr val="201E1D"/>
                </a:solidFill>
                <a:latin typeface="Archivo" pitchFamily="34" charset="0"/>
                <a:ea typeface="Archivo" pitchFamily="34" charset="-122"/>
                <a:cs typeface="Archivo" pitchFamily="34" charset="-120"/>
              </a:rPr>
              <a:t>Data, Splits and Base Classifier</a:t>
            </a:r>
            <a:endParaRPr lang="en-US" sz="4800" dirty="0"/>
          </a:p>
        </p:txBody>
      </p:sp>
      <p:sp>
        <p:nvSpPr>
          <p:cNvPr id="4" name="Shape 2"/>
          <p:cNvSpPr/>
          <p:nvPr/>
        </p:nvSpPr>
        <p:spPr>
          <a:xfrm>
            <a:off x="952500" y="2422178"/>
            <a:ext cx="16383000" cy="19050"/>
          </a:xfrm>
          <a:prstGeom prst="rect">
            <a:avLst/>
          </a:prstGeom>
          <a:solidFill>
            <a:srgbClr val="201E1D">
              <a:alpha val="40000"/>
            </a:srgbClr>
          </a:solidFill>
          <a:ln/>
        </p:spPr>
      </p:sp>
      <p:sp>
        <p:nvSpPr>
          <p:cNvPr id="5" name="Shape 3"/>
          <p:cNvSpPr/>
          <p:nvPr/>
        </p:nvSpPr>
        <p:spPr>
          <a:xfrm>
            <a:off x="952500" y="2860328"/>
            <a:ext cx="6096000" cy="828675"/>
          </a:xfrm>
          <a:prstGeom prst="rect">
            <a:avLst/>
          </a:prstGeom>
          <a:solidFill>
            <a:srgbClr val="201E1D">
              <a:alpha val="40000"/>
            </a:srgbClr>
          </a:solidFill>
          <a:ln/>
        </p:spPr>
      </p:sp>
      <p:sp>
        <p:nvSpPr>
          <p:cNvPr id="6" name="Shape 4"/>
          <p:cNvSpPr/>
          <p:nvPr/>
        </p:nvSpPr>
        <p:spPr>
          <a:xfrm>
            <a:off x="952500" y="2860328"/>
            <a:ext cx="1739205" cy="828675"/>
          </a:xfrm>
          <a:prstGeom prst="rect">
            <a:avLst/>
          </a:prstGeom>
          <a:solidFill>
            <a:srgbClr val="F3F2F2"/>
          </a:solidFill>
          <a:ln/>
        </p:spPr>
      </p:sp>
      <p:sp>
        <p:nvSpPr>
          <p:cNvPr id="7" name="Text 5"/>
          <p:cNvSpPr/>
          <p:nvPr/>
        </p:nvSpPr>
        <p:spPr>
          <a:xfrm>
            <a:off x="952500" y="2860328"/>
            <a:ext cx="1535936" cy="333375"/>
          </a:xfrm>
          <a:prstGeom prst="rect">
            <a:avLst/>
          </a:prstGeom>
          <a:noFill/>
          <a:ln/>
        </p:spPr>
        <p:txBody>
          <a:bodyPr wrap="square" lIns="25400" tIns="25400" rIns="25400" bIns="25400" rtlCol="0" anchor="t">
            <a:normAutofit/>
          </a:bodyPr>
          <a:lstStyle/>
          <a:p>
            <a:pPr algn="l" indent="0" marL="0">
              <a:lnSpc>
                <a:spcPct val="140909"/>
              </a:lnSpc>
              <a:buNone/>
            </a:pPr>
            <a:r>
              <a:rPr lang="en-US" sz="1500" b="1" spc="120" kern="0" dirty="0">
                <a:solidFill>
                  <a:srgbClr val="7D7979"/>
                </a:solidFill>
                <a:latin typeface="Archivo" pitchFamily="34" charset="0"/>
                <a:ea typeface="Archivo" pitchFamily="34" charset="-122"/>
                <a:cs typeface="Archivo" pitchFamily="34" charset="-120"/>
              </a:rPr>
              <a:t>TRAIN</a:t>
            </a:r>
            <a:endParaRPr lang="en-US" sz="1500" dirty="0"/>
          </a:p>
        </p:txBody>
      </p:sp>
      <p:sp>
        <p:nvSpPr>
          <p:cNvPr id="8" name="Text 6"/>
          <p:cNvSpPr/>
          <p:nvPr/>
        </p:nvSpPr>
        <p:spPr>
          <a:xfrm>
            <a:off x="952500" y="3193703"/>
            <a:ext cx="1535936" cy="533400"/>
          </a:xfrm>
          <a:prstGeom prst="rect">
            <a:avLst/>
          </a:prstGeom>
          <a:noFill/>
          <a:ln/>
        </p:spPr>
        <p:txBody>
          <a:bodyPr wrap="square" lIns="25400" tIns="25400" rIns="25400" bIns="25400" rtlCol="0" anchor="t">
            <a:normAutofit/>
          </a:bodyPr>
          <a:lstStyle/>
          <a:p>
            <a:pPr algn="l" indent="0" marL="0">
              <a:lnSpc>
                <a:spcPct val="91228"/>
              </a:lnSpc>
              <a:buNone/>
            </a:pPr>
            <a:r>
              <a:rPr lang="en-US" sz="3900" b="1" dirty="0">
                <a:solidFill>
                  <a:srgbClr val="201E1D"/>
                </a:solidFill>
                <a:latin typeface="Archivo" pitchFamily="34" charset="0"/>
                <a:ea typeface="Archivo" pitchFamily="34" charset="-122"/>
                <a:cs typeface="Archivo" pitchFamily="34" charset="-120"/>
              </a:rPr>
              <a:t>4,000</a:t>
            </a:r>
            <a:endParaRPr lang="en-US" sz="3900" dirty="0"/>
          </a:p>
        </p:txBody>
      </p:sp>
      <p:sp>
        <p:nvSpPr>
          <p:cNvPr id="9" name="Shape 7"/>
          <p:cNvSpPr/>
          <p:nvPr/>
        </p:nvSpPr>
        <p:spPr>
          <a:xfrm>
            <a:off x="2710755" y="2860328"/>
            <a:ext cx="2081808" cy="828675"/>
          </a:xfrm>
          <a:prstGeom prst="rect">
            <a:avLst/>
          </a:prstGeom>
          <a:solidFill>
            <a:srgbClr val="F3F2F2"/>
          </a:solidFill>
          <a:ln/>
        </p:spPr>
      </p:sp>
      <p:sp>
        <p:nvSpPr>
          <p:cNvPr id="10" name="Text 8"/>
          <p:cNvSpPr/>
          <p:nvPr/>
        </p:nvSpPr>
        <p:spPr>
          <a:xfrm>
            <a:off x="3053655" y="2860328"/>
            <a:ext cx="1535609" cy="333375"/>
          </a:xfrm>
          <a:prstGeom prst="rect">
            <a:avLst/>
          </a:prstGeom>
          <a:noFill/>
          <a:ln/>
        </p:spPr>
        <p:txBody>
          <a:bodyPr wrap="square" lIns="25400" tIns="25400" rIns="25400" bIns="25400" rtlCol="0" anchor="t">
            <a:normAutofit/>
          </a:bodyPr>
          <a:lstStyle/>
          <a:p>
            <a:pPr algn="l" indent="0" marL="0">
              <a:lnSpc>
                <a:spcPct val="140909"/>
              </a:lnSpc>
              <a:buNone/>
            </a:pPr>
            <a:r>
              <a:rPr lang="en-US" sz="1500" b="1" spc="120" kern="0" dirty="0">
                <a:solidFill>
                  <a:srgbClr val="7D7979"/>
                </a:solidFill>
                <a:latin typeface="Archivo" pitchFamily="34" charset="0"/>
                <a:ea typeface="Archivo" pitchFamily="34" charset="-122"/>
                <a:cs typeface="Archivo" pitchFamily="34" charset="-120"/>
              </a:rPr>
              <a:t>CALIBRATE</a:t>
            </a:r>
            <a:endParaRPr lang="en-US" sz="1500" dirty="0"/>
          </a:p>
        </p:txBody>
      </p:sp>
      <p:sp>
        <p:nvSpPr>
          <p:cNvPr id="11" name="Text 9"/>
          <p:cNvSpPr/>
          <p:nvPr/>
        </p:nvSpPr>
        <p:spPr>
          <a:xfrm>
            <a:off x="3053655" y="3193703"/>
            <a:ext cx="1535609" cy="533400"/>
          </a:xfrm>
          <a:prstGeom prst="rect">
            <a:avLst/>
          </a:prstGeom>
          <a:noFill/>
          <a:ln/>
        </p:spPr>
        <p:txBody>
          <a:bodyPr wrap="square" lIns="25400" tIns="25400" rIns="25400" bIns="25400" rtlCol="0" anchor="t">
            <a:normAutofit/>
          </a:bodyPr>
          <a:lstStyle/>
          <a:p>
            <a:pPr algn="l" indent="0" marL="0">
              <a:lnSpc>
                <a:spcPct val="91228"/>
              </a:lnSpc>
              <a:buNone/>
            </a:pPr>
            <a:r>
              <a:rPr lang="en-US" sz="3900" b="1" dirty="0">
                <a:solidFill>
                  <a:srgbClr val="EC3013"/>
                </a:solidFill>
                <a:latin typeface="Archivo" pitchFamily="34" charset="0"/>
                <a:ea typeface="Archivo" pitchFamily="34" charset="-122"/>
                <a:cs typeface="Archivo" pitchFamily="34" charset="-120"/>
              </a:rPr>
              <a:t>2,000</a:t>
            </a:r>
            <a:endParaRPr lang="en-US" sz="3900" dirty="0"/>
          </a:p>
        </p:txBody>
      </p:sp>
      <p:sp>
        <p:nvSpPr>
          <p:cNvPr id="12" name="Shape 10"/>
          <p:cNvSpPr/>
          <p:nvPr/>
        </p:nvSpPr>
        <p:spPr>
          <a:xfrm>
            <a:off x="4811613" y="2860328"/>
            <a:ext cx="1738908" cy="828675"/>
          </a:xfrm>
          <a:prstGeom prst="rect">
            <a:avLst/>
          </a:prstGeom>
          <a:solidFill>
            <a:srgbClr val="F3F2F2"/>
          </a:solidFill>
          <a:ln/>
        </p:spPr>
      </p:sp>
      <p:sp>
        <p:nvSpPr>
          <p:cNvPr id="13" name="Text 11"/>
          <p:cNvSpPr/>
          <p:nvPr/>
        </p:nvSpPr>
        <p:spPr>
          <a:xfrm>
            <a:off x="5154513" y="2860328"/>
            <a:ext cx="1535609" cy="333375"/>
          </a:xfrm>
          <a:prstGeom prst="rect">
            <a:avLst/>
          </a:prstGeom>
          <a:noFill/>
          <a:ln/>
        </p:spPr>
        <p:txBody>
          <a:bodyPr wrap="square" lIns="25400" tIns="25400" rIns="25400" bIns="25400" rtlCol="0" anchor="t">
            <a:normAutofit/>
          </a:bodyPr>
          <a:lstStyle/>
          <a:p>
            <a:pPr algn="l" indent="0" marL="0">
              <a:lnSpc>
                <a:spcPct val="140909"/>
              </a:lnSpc>
              <a:buNone/>
            </a:pPr>
            <a:r>
              <a:rPr lang="en-US" sz="1500" b="1" spc="120" kern="0" dirty="0">
                <a:solidFill>
                  <a:srgbClr val="7D7979"/>
                </a:solidFill>
                <a:latin typeface="Archivo" pitchFamily="34" charset="0"/>
                <a:ea typeface="Archivo" pitchFamily="34" charset="-122"/>
                <a:cs typeface="Archivo" pitchFamily="34" charset="-120"/>
              </a:rPr>
              <a:t>TEST</a:t>
            </a:r>
            <a:endParaRPr lang="en-US" sz="1500" dirty="0"/>
          </a:p>
        </p:txBody>
      </p:sp>
      <p:sp>
        <p:nvSpPr>
          <p:cNvPr id="14" name="Text 12"/>
          <p:cNvSpPr/>
          <p:nvPr/>
        </p:nvSpPr>
        <p:spPr>
          <a:xfrm>
            <a:off x="5154513" y="3193703"/>
            <a:ext cx="1535609" cy="533400"/>
          </a:xfrm>
          <a:prstGeom prst="rect">
            <a:avLst/>
          </a:prstGeom>
          <a:noFill/>
          <a:ln/>
        </p:spPr>
        <p:txBody>
          <a:bodyPr wrap="square" lIns="25400" tIns="25400" rIns="25400" bIns="25400" rtlCol="0" anchor="t">
            <a:normAutofit/>
          </a:bodyPr>
          <a:lstStyle/>
          <a:p>
            <a:pPr algn="l" indent="0" marL="0">
              <a:lnSpc>
                <a:spcPct val="91228"/>
              </a:lnSpc>
              <a:buNone/>
            </a:pPr>
            <a:r>
              <a:rPr lang="en-US" sz="3900" b="1" dirty="0">
                <a:solidFill>
                  <a:srgbClr val="201E1D"/>
                </a:solidFill>
                <a:latin typeface="Archivo" pitchFamily="34" charset="0"/>
                <a:ea typeface="Archivo" pitchFamily="34" charset="-122"/>
                <a:cs typeface="Archivo" pitchFamily="34" charset="-120"/>
              </a:rPr>
              <a:t>2,000</a:t>
            </a:r>
            <a:endParaRPr lang="en-US" sz="3900" dirty="0"/>
          </a:p>
        </p:txBody>
      </p:sp>
      <p:sp>
        <p:nvSpPr>
          <p:cNvPr id="15" name="Shape 13"/>
          <p:cNvSpPr/>
          <p:nvPr/>
        </p:nvSpPr>
        <p:spPr>
          <a:xfrm>
            <a:off x="952500" y="4012853"/>
            <a:ext cx="6096000" cy="19050"/>
          </a:xfrm>
          <a:prstGeom prst="rect">
            <a:avLst/>
          </a:prstGeom>
          <a:solidFill>
            <a:srgbClr val="201E1D">
              <a:alpha val="40000"/>
            </a:srgbClr>
          </a:solidFill>
          <a:ln/>
        </p:spPr>
      </p:sp>
      <p:sp>
        <p:nvSpPr>
          <p:cNvPr id="16" name="Text 14"/>
          <p:cNvSpPr/>
          <p:nvPr/>
        </p:nvSpPr>
        <p:spPr>
          <a:xfrm>
            <a:off x="952500" y="4355753"/>
            <a:ext cx="6278880" cy="1638300"/>
          </a:xfrm>
          <a:prstGeom prst="rect">
            <a:avLst/>
          </a:prstGeom>
          <a:noFill/>
          <a:ln/>
        </p:spPr>
        <p:txBody>
          <a:bodyPr wrap="square" lIns="25400" tIns="25400" rIns="25400" bIns="25400" rtlCol="0" anchor="t">
            <a:normAutofit/>
          </a:bodyPr>
          <a:lstStyle/>
          <a:p>
            <a:pPr algn="l" indent="0" marL="0">
              <a:lnSpc>
                <a:spcPct val="135484"/>
              </a:lnSpc>
              <a:buNone/>
            </a:pPr>
            <a:r>
              <a:rPr lang="en-US" sz="2100" dirty="0">
                <a:solidFill>
                  <a:srgbClr val="444141"/>
                </a:solidFill>
                <a:latin typeface="Archivo" pitchFamily="34" charset="0"/>
                <a:ea typeface="Archivo" pitchFamily="34" charset="-122"/>
                <a:cs typeface="Archivo" pitchFamily="34" charset="-120"/>
              </a:rPr>
              <a:t>784 pixels scaled to [0, 1] → one hidden layer of 64 ReLU units → softmax over 10 digits. Full-batch gradient descent, learning rate 0.1, 400 epochs, seed fixed.</a:t>
            </a:r>
            <a:endParaRPr lang="en-US" sz="2100" dirty="0"/>
          </a:p>
        </p:txBody>
      </p:sp>
      <p:sp>
        <p:nvSpPr>
          <p:cNvPr id="17" name="Shape 15"/>
          <p:cNvSpPr/>
          <p:nvPr/>
        </p:nvSpPr>
        <p:spPr>
          <a:xfrm>
            <a:off x="952500" y="7119789"/>
            <a:ext cx="6096000" cy="19050"/>
          </a:xfrm>
          <a:prstGeom prst="rect">
            <a:avLst/>
          </a:prstGeom>
          <a:solidFill>
            <a:srgbClr val="201E1D">
              <a:alpha val="40000"/>
            </a:srgbClr>
          </a:solidFill>
          <a:ln/>
        </p:spPr>
      </p:sp>
      <p:sp>
        <p:nvSpPr>
          <p:cNvPr id="18" name="Text 16"/>
          <p:cNvSpPr/>
          <p:nvPr/>
        </p:nvSpPr>
        <p:spPr>
          <a:xfrm>
            <a:off x="952500" y="6470303"/>
            <a:ext cx="3347234" cy="539948"/>
          </a:xfrm>
          <a:prstGeom prst="rect">
            <a:avLst/>
          </a:prstGeom>
          <a:noFill/>
          <a:ln/>
        </p:spPr>
        <p:txBody>
          <a:bodyPr wrap="square" lIns="25400" tIns="25400" rIns="25400" bIns="25400" rtlCol="0" anchor="t">
            <a:normAutofit/>
          </a:bodyPr>
          <a:lstStyle/>
          <a:p>
            <a:pPr algn="l" indent="0" marL="0">
              <a:lnSpc>
                <a:spcPct val="142432"/>
              </a:lnSpc>
              <a:buNone/>
            </a:pPr>
            <a:r>
              <a:rPr lang="en-US" sz="2550" dirty="0">
                <a:solidFill>
                  <a:srgbClr val="201E1D"/>
                </a:solidFill>
                <a:latin typeface="Archivo" pitchFamily="34" charset="0"/>
                <a:ea typeface="Archivo" pitchFamily="34" charset="-122"/>
                <a:cs typeface="Archivo" pitchFamily="34" charset="-120"/>
              </a:rPr>
              <a:t>Accuracy, training set</a:t>
            </a:r>
            <a:endParaRPr lang="en-US" sz="2550" dirty="0"/>
          </a:p>
        </p:txBody>
      </p:sp>
      <p:sp>
        <p:nvSpPr>
          <p:cNvPr id="19" name="Text 17"/>
          <p:cNvSpPr/>
          <p:nvPr/>
        </p:nvSpPr>
        <p:spPr>
          <a:xfrm>
            <a:off x="5454700" y="6356003"/>
            <a:ext cx="1753180" cy="687586"/>
          </a:xfrm>
          <a:prstGeom prst="rect">
            <a:avLst/>
          </a:prstGeom>
          <a:noFill/>
          <a:ln/>
        </p:spPr>
        <p:txBody>
          <a:bodyPr wrap="square" lIns="25400" tIns="25400" rIns="25400" bIns="25400" rtlCol="0" anchor="t">
            <a:normAutofit/>
          </a:bodyPr>
          <a:lstStyle/>
          <a:p>
            <a:pPr algn="l" indent="0" marL="0">
              <a:lnSpc>
                <a:spcPct val="142083"/>
              </a:lnSpc>
              <a:buNone/>
            </a:pPr>
            <a:r>
              <a:rPr lang="en-US" sz="3300" b="1" dirty="0">
                <a:solidFill>
                  <a:srgbClr val="201E1D"/>
                </a:solidFill>
                <a:latin typeface="Archivo" pitchFamily="34" charset="0"/>
                <a:ea typeface="Archivo" pitchFamily="34" charset="-122"/>
                <a:cs typeface="Archivo" pitchFamily="34" charset="-120"/>
              </a:rPr>
              <a:t>91.95%</a:t>
            </a:r>
            <a:endParaRPr lang="en-US" sz="3300" dirty="0"/>
          </a:p>
        </p:txBody>
      </p:sp>
      <p:sp>
        <p:nvSpPr>
          <p:cNvPr id="20" name="Shape 18"/>
          <p:cNvSpPr/>
          <p:nvPr/>
        </p:nvSpPr>
        <p:spPr>
          <a:xfrm>
            <a:off x="952500" y="8074075"/>
            <a:ext cx="6096000" cy="19050"/>
          </a:xfrm>
          <a:prstGeom prst="rect">
            <a:avLst/>
          </a:prstGeom>
          <a:solidFill>
            <a:srgbClr val="201E1D">
              <a:alpha val="40000"/>
            </a:srgbClr>
          </a:solidFill>
          <a:ln/>
        </p:spPr>
      </p:sp>
      <p:sp>
        <p:nvSpPr>
          <p:cNvPr id="21" name="Text 19"/>
          <p:cNvSpPr/>
          <p:nvPr/>
        </p:nvSpPr>
        <p:spPr>
          <a:xfrm>
            <a:off x="952500" y="7424589"/>
            <a:ext cx="2761476" cy="539948"/>
          </a:xfrm>
          <a:prstGeom prst="rect">
            <a:avLst/>
          </a:prstGeom>
          <a:noFill/>
          <a:ln/>
        </p:spPr>
        <p:txBody>
          <a:bodyPr wrap="square" lIns="25400" tIns="25400" rIns="25400" bIns="25400" rtlCol="0" anchor="t">
            <a:normAutofit/>
          </a:bodyPr>
          <a:lstStyle/>
          <a:p>
            <a:pPr algn="l" indent="0" marL="0">
              <a:lnSpc>
                <a:spcPct val="142432"/>
              </a:lnSpc>
              <a:buNone/>
            </a:pPr>
            <a:r>
              <a:rPr lang="en-US" sz="2550" dirty="0">
                <a:solidFill>
                  <a:srgbClr val="201E1D"/>
                </a:solidFill>
                <a:latin typeface="Archivo" pitchFamily="34" charset="0"/>
                <a:ea typeface="Archivo" pitchFamily="34" charset="-122"/>
                <a:cs typeface="Archivo" pitchFamily="34" charset="-120"/>
              </a:rPr>
              <a:t>Accuracy, test set</a:t>
            </a:r>
            <a:endParaRPr lang="en-US" sz="2550" dirty="0"/>
          </a:p>
        </p:txBody>
      </p:sp>
      <p:sp>
        <p:nvSpPr>
          <p:cNvPr id="22" name="Text 20"/>
          <p:cNvSpPr/>
          <p:nvPr/>
        </p:nvSpPr>
        <p:spPr>
          <a:xfrm>
            <a:off x="5454402" y="7310289"/>
            <a:ext cx="1753508" cy="687586"/>
          </a:xfrm>
          <a:prstGeom prst="rect">
            <a:avLst/>
          </a:prstGeom>
          <a:noFill/>
          <a:ln/>
        </p:spPr>
        <p:txBody>
          <a:bodyPr wrap="square" lIns="25400" tIns="25400" rIns="25400" bIns="25400" rtlCol="0" anchor="t">
            <a:normAutofit/>
          </a:bodyPr>
          <a:lstStyle/>
          <a:p>
            <a:pPr algn="l" indent="0" marL="0">
              <a:lnSpc>
                <a:spcPct val="142083"/>
              </a:lnSpc>
              <a:buNone/>
            </a:pPr>
            <a:r>
              <a:rPr lang="en-US" sz="3300" b="1" dirty="0">
                <a:solidFill>
                  <a:srgbClr val="201E1D"/>
                </a:solidFill>
                <a:latin typeface="Archivo" pitchFamily="34" charset="0"/>
                <a:ea typeface="Archivo" pitchFamily="34" charset="-122"/>
                <a:cs typeface="Archivo" pitchFamily="34" charset="-120"/>
              </a:rPr>
              <a:t>89.10%</a:t>
            </a:r>
            <a:endParaRPr lang="en-US" sz="3300" dirty="0"/>
          </a:p>
        </p:txBody>
      </p:sp>
      <p:sp>
        <p:nvSpPr>
          <p:cNvPr id="23" name="Text 21"/>
          <p:cNvSpPr/>
          <p:nvPr/>
        </p:nvSpPr>
        <p:spPr>
          <a:xfrm>
            <a:off x="7810500" y="2860328"/>
            <a:ext cx="10477500" cy="333375"/>
          </a:xfrm>
          <a:prstGeom prst="rect">
            <a:avLst/>
          </a:prstGeom>
          <a:noFill/>
          <a:ln/>
        </p:spPr>
        <p:txBody>
          <a:bodyPr wrap="square" lIns="25400" tIns="25400" rIns="25400" bIns="25400" rtlCol="0" anchor="t">
            <a:normAutofit/>
          </a:bodyPr>
          <a:lstStyle/>
          <a:p>
            <a:pPr algn="l" indent="0" marL="0">
              <a:lnSpc>
                <a:spcPct val="140909"/>
              </a:lnSpc>
              <a:buNone/>
            </a:pPr>
            <a:r>
              <a:rPr lang="en-US" sz="1500" b="1" spc="120" kern="0" dirty="0">
                <a:solidFill>
                  <a:srgbClr val="7D7979"/>
                </a:solidFill>
                <a:latin typeface="Archivo" pitchFamily="34" charset="0"/>
                <a:ea typeface="Archivo" pitchFamily="34" charset="-122"/>
                <a:cs typeface="Archivo" pitchFamily="34" charset="-120"/>
              </a:rPr>
              <a:t>CROSS-ENTROPY LOSS OVER 400 EPOCHS</a:t>
            </a:r>
            <a:endParaRPr lang="en-US" sz="1500" dirty="0"/>
          </a:p>
        </p:txBody>
      </p:sp>
      <p:pic>
        <p:nvPicPr>
          <p:cNvPr id="24"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7810500" y="3308003"/>
            <a:ext cx="9525000" cy="4953000"/>
          </a:xfrm>
          <a:prstGeom prst="rect">
            <a:avLst/>
          </a:prstGeom>
        </p:spPr>
      </p:pic>
      <p:sp>
        <p:nvSpPr>
          <p:cNvPr id="25" name="Text 22"/>
          <p:cNvSpPr/>
          <p:nvPr/>
        </p:nvSpPr>
        <p:spPr>
          <a:xfrm>
            <a:off x="7810500" y="8413403"/>
            <a:ext cx="9810750" cy="678061"/>
          </a:xfrm>
          <a:prstGeom prst="rect">
            <a:avLst/>
          </a:prstGeom>
          <a:noFill/>
          <a:ln/>
        </p:spPr>
        <p:txBody>
          <a:bodyPr wrap="square" lIns="25400" tIns="25400" rIns="25400" bIns="25400" rtlCol="0" anchor="t">
            <a:normAutofit/>
          </a:bodyPr>
          <a:lstStyle/>
          <a:p>
            <a:pPr algn="l" indent="0" marL="0">
              <a:lnSpc>
                <a:spcPct val="129231"/>
              </a:lnSpc>
              <a:buNone/>
            </a:pPr>
            <a:r>
              <a:rPr lang="en-US" sz="1800" dirty="0">
                <a:solidFill>
                  <a:srgbClr val="605D5D"/>
                </a:solidFill>
                <a:latin typeface="Archivo" pitchFamily="34" charset="0"/>
                <a:ea typeface="Archivo" pitchFamily="34" charset="-122"/>
                <a:cs typeface="Archivo" pitchFamily="34" charset="-120"/>
              </a:rPr>
              <a:t>Loss falls from 2.302 to 0.312. The curve is still descending — the classifier is adequate, not tuned.</a:t>
            </a:r>
            <a:endParaRPr lang="en-US" sz="1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3F2F2"/>
        </a:solidFill>
      </p:bgPr>
    </p:bg>
    <p:spTree>
      <p:nvGrpSpPr>
        <p:cNvPr id="1" name=""/>
        <p:cNvGrpSpPr/>
        <p:nvPr/>
      </p:nvGrpSpPr>
      <p:grpSpPr>
        <a:xfrm>
          <a:off x="0" y="0"/>
          <a:ext cx="0" cy="0"/>
          <a:chOff x="0" y="0"/>
          <a:chExt cx="0" cy="0"/>
        </a:xfrm>
      </p:grpSpPr>
      <p:sp>
        <p:nvSpPr>
          <p:cNvPr id="2" name="Text 0"/>
          <p:cNvSpPr/>
          <p:nvPr/>
        </p:nvSpPr>
        <p:spPr>
          <a:xfrm>
            <a:off x="952500" y="952500"/>
            <a:ext cx="18021300" cy="392311"/>
          </a:xfrm>
          <a:prstGeom prst="rect">
            <a:avLst/>
          </a:prstGeom>
          <a:noFill/>
          <a:ln/>
        </p:spPr>
        <p:txBody>
          <a:bodyPr wrap="square" lIns="25400" tIns="25400" rIns="25400" bIns="25400" rtlCol="0" anchor="t">
            <a:normAutofit/>
          </a:bodyPr>
          <a:lstStyle/>
          <a:p>
            <a:pPr algn="l" indent="0" marL="0">
              <a:lnSpc>
                <a:spcPct val="143077"/>
              </a:lnSpc>
              <a:buNone/>
            </a:pPr>
            <a:r>
              <a:rPr lang="en-US" sz="1800" b="1" spc="216" kern="0" dirty="0">
                <a:solidFill>
                  <a:srgbClr val="EC3013"/>
                </a:solidFill>
                <a:latin typeface="Archivo" pitchFamily="34" charset="0"/>
                <a:ea typeface="Archivo" pitchFamily="34" charset="-122"/>
                <a:cs typeface="Archivo" pitchFamily="34" charset="-120"/>
              </a:rPr>
              <a:t>DIAGNOSTIC</a:t>
            </a:r>
            <a:endParaRPr lang="en-US" sz="1800" dirty="0"/>
          </a:p>
        </p:txBody>
      </p:sp>
      <p:sp>
        <p:nvSpPr>
          <p:cNvPr id="3" name="Text 1"/>
          <p:cNvSpPr/>
          <p:nvPr/>
        </p:nvSpPr>
        <p:spPr>
          <a:xfrm>
            <a:off x="952500" y="1421011"/>
            <a:ext cx="18021300" cy="696367"/>
          </a:xfrm>
          <a:prstGeom prst="rect">
            <a:avLst/>
          </a:prstGeom>
          <a:noFill/>
          <a:ln/>
        </p:spPr>
        <p:txBody>
          <a:bodyPr wrap="square" lIns="25400" tIns="25400" rIns="25400" bIns="25400" rtlCol="0" anchor="t">
            <a:normAutofit/>
          </a:bodyPr>
          <a:lstStyle/>
          <a:p>
            <a:pPr algn="l" indent="0" marL="0">
              <a:lnSpc>
                <a:spcPct val="100174"/>
              </a:lnSpc>
              <a:buNone/>
            </a:pPr>
            <a:r>
              <a:rPr lang="en-US" sz="4800" b="1" spc="-72" kern="0" dirty="0">
                <a:solidFill>
                  <a:srgbClr val="201E1D"/>
                </a:solidFill>
                <a:latin typeface="Archivo" pitchFamily="34" charset="0"/>
                <a:ea typeface="Archivo" pitchFamily="34" charset="-122"/>
                <a:cs typeface="Archivo" pitchFamily="34" charset="-120"/>
              </a:rPr>
              <a:t>Calibration of the Raw Softmax</a:t>
            </a:r>
            <a:endParaRPr lang="en-US" sz="4800" dirty="0"/>
          </a:p>
        </p:txBody>
      </p:sp>
      <p:sp>
        <p:nvSpPr>
          <p:cNvPr id="4" name="Shape 2"/>
          <p:cNvSpPr/>
          <p:nvPr/>
        </p:nvSpPr>
        <p:spPr>
          <a:xfrm>
            <a:off x="952500" y="2422178"/>
            <a:ext cx="16383000" cy="19050"/>
          </a:xfrm>
          <a:prstGeom prst="rect">
            <a:avLst/>
          </a:prstGeom>
          <a:solidFill>
            <a:srgbClr val="201E1D">
              <a:alpha val="40000"/>
            </a:srgbClr>
          </a:solidFill>
          <a:ln/>
        </p:spPr>
      </p:sp>
      <p:pic>
        <p:nvPicPr>
          <p:cNvPr id="5"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952500" y="2860328"/>
            <a:ext cx="8191500" cy="4762500"/>
          </a:xfrm>
          <a:prstGeom prst="rect">
            <a:avLst/>
          </a:prstGeom>
        </p:spPr>
      </p:pic>
      <p:sp>
        <p:nvSpPr>
          <p:cNvPr id="6" name="Text 3"/>
          <p:cNvSpPr/>
          <p:nvPr/>
        </p:nvSpPr>
        <p:spPr>
          <a:xfrm>
            <a:off x="952500" y="7775228"/>
            <a:ext cx="8437245" cy="678061"/>
          </a:xfrm>
          <a:prstGeom prst="rect">
            <a:avLst/>
          </a:prstGeom>
          <a:noFill/>
          <a:ln/>
        </p:spPr>
        <p:txBody>
          <a:bodyPr wrap="square" lIns="25400" tIns="25400" rIns="25400" bIns="25400" rtlCol="0" anchor="t">
            <a:normAutofit/>
          </a:bodyPr>
          <a:lstStyle/>
          <a:p>
            <a:pPr algn="l" indent="0" marL="0">
              <a:lnSpc>
                <a:spcPct val="129231"/>
              </a:lnSpc>
              <a:buNone/>
            </a:pPr>
            <a:r>
              <a:rPr lang="en-US" sz="1800" dirty="0">
                <a:solidFill>
                  <a:srgbClr val="605D5D"/>
                </a:solidFill>
                <a:latin typeface="Archivo" pitchFamily="34" charset="0"/>
                <a:ea typeface="Archivo" pitchFamily="34" charset="-122"/>
                <a:cs typeface="Archivo" pitchFamily="34" charset="-120"/>
              </a:rPr>
              <a:t>Observed accuracy against predicted confidence, ten bins, 2,000 test images. Dashed line is perfect calibration.</a:t>
            </a:r>
            <a:endParaRPr lang="en-US" sz="1800" dirty="0"/>
          </a:p>
        </p:txBody>
      </p:sp>
      <p:sp>
        <p:nvSpPr>
          <p:cNvPr id="7" name="Text 4"/>
          <p:cNvSpPr/>
          <p:nvPr/>
        </p:nvSpPr>
        <p:spPr>
          <a:xfrm>
            <a:off x="9906000" y="2860328"/>
            <a:ext cx="7652385" cy="944761"/>
          </a:xfrm>
          <a:prstGeom prst="rect">
            <a:avLst/>
          </a:prstGeom>
          <a:noFill/>
          <a:ln/>
        </p:spPr>
        <p:txBody>
          <a:bodyPr wrap="square" lIns="25400" tIns="25400" rIns="25400" bIns="25400" rtlCol="0" anchor="t">
            <a:normAutofit/>
          </a:bodyPr>
          <a:lstStyle/>
          <a:p>
            <a:pPr algn="l" indent="0" marL="0">
              <a:lnSpc>
                <a:spcPct val="128649"/>
              </a:lnSpc>
              <a:buNone/>
            </a:pPr>
            <a:r>
              <a:rPr lang="en-US" sz="2550" dirty="0">
                <a:solidFill>
                  <a:srgbClr val="201E1D"/>
                </a:solidFill>
                <a:latin typeface="Archivo" pitchFamily="34" charset="0"/>
                <a:ea typeface="Archivo" pitchFamily="34" charset="-122"/>
                <a:cs typeface="Archivo" pitchFamily="34" charset="-120"/>
              </a:rPr>
              <a:t>The softmax is not a probability we can trust as it stands.</a:t>
            </a:r>
            <a:endParaRPr lang="en-US" sz="2550" dirty="0"/>
          </a:p>
        </p:txBody>
      </p:sp>
      <p:sp>
        <p:nvSpPr>
          <p:cNvPr id="8" name="Text 5"/>
          <p:cNvSpPr/>
          <p:nvPr/>
        </p:nvSpPr>
        <p:spPr>
          <a:xfrm>
            <a:off x="9906000" y="4033689"/>
            <a:ext cx="7652385" cy="1238250"/>
          </a:xfrm>
          <a:prstGeom prst="rect">
            <a:avLst/>
          </a:prstGeom>
          <a:noFill/>
          <a:ln/>
        </p:spPr>
        <p:txBody>
          <a:bodyPr wrap="square" lIns="25400" tIns="25400" rIns="25400" bIns="25400" rtlCol="0" anchor="t">
            <a:normAutofit/>
          </a:bodyPr>
          <a:lstStyle/>
          <a:p>
            <a:pPr algn="l" indent="0" marL="0">
              <a:lnSpc>
                <a:spcPct val="135484"/>
              </a:lnSpc>
              <a:buNone/>
            </a:pPr>
            <a:r>
              <a:rPr lang="en-US" sz="2100" dirty="0">
                <a:solidFill>
                  <a:srgbClr val="444141"/>
                </a:solidFill>
                <a:latin typeface="Archivo" pitchFamily="34" charset="0"/>
                <a:ea typeface="Archivo" pitchFamily="34" charset="-122"/>
                <a:cs typeface="Archivo" pitchFamily="34" charset="-120"/>
              </a:rPr>
              <a:t>In the 0.75 bin the network is right 87.9% of the time and in the 0.85 bin 94.4% — it understates its own accuracy. Below 0.5 the estimates wander and the bins are thin.</a:t>
            </a:r>
            <a:endParaRPr lang="en-US" sz="2100" dirty="0"/>
          </a:p>
        </p:txBody>
      </p:sp>
      <p:sp>
        <p:nvSpPr>
          <p:cNvPr id="9" name="Shape 6"/>
          <p:cNvSpPr/>
          <p:nvPr/>
        </p:nvSpPr>
        <p:spPr>
          <a:xfrm>
            <a:off x="9906000" y="5500539"/>
            <a:ext cx="7429500" cy="19050"/>
          </a:xfrm>
          <a:prstGeom prst="rect">
            <a:avLst/>
          </a:prstGeom>
          <a:solidFill>
            <a:srgbClr val="201E1D">
              <a:alpha val="40000"/>
            </a:srgbClr>
          </a:solidFill>
          <a:ln/>
        </p:spPr>
      </p:sp>
      <p:sp>
        <p:nvSpPr>
          <p:cNvPr id="10" name="Text 7"/>
          <p:cNvSpPr/>
          <p:nvPr/>
        </p:nvSpPr>
        <p:spPr>
          <a:xfrm>
            <a:off x="9906000" y="5786289"/>
            <a:ext cx="7652385" cy="1238250"/>
          </a:xfrm>
          <a:prstGeom prst="rect">
            <a:avLst/>
          </a:prstGeom>
          <a:noFill/>
          <a:ln/>
        </p:spPr>
        <p:txBody>
          <a:bodyPr wrap="square" lIns="25400" tIns="25400" rIns="25400" bIns="25400" rtlCol="0" anchor="t">
            <a:normAutofit/>
          </a:bodyPr>
          <a:lstStyle/>
          <a:p>
            <a:pPr algn="l" indent="0" marL="0">
              <a:lnSpc>
                <a:spcPct val="135484"/>
              </a:lnSpc>
              <a:buNone/>
            </a:pPr>
            <a:r>
              <a:rPr lang="en-US" sz="2100" dirty="0">
                <a:solidFill>
                  <a:srgbClr val="444141"/>
                </a:solidFill>
                <a:latin typeface="Archivo" pitchFamily="34" charset="0"/>
                <a:ea typeface="Archivo" pitchFamily="34" charset="-122"/>
                <a:cs typeface="Archivo" pitchFamily="34" charset="-120"/>
              </a:rPr>
              <a:t>55% of test images arrive with confidence above 0.90, where accuracy is 99.3%. The remaining tail is where prediction sets have to do the work.</a:t>
            </a:r>
            <a:endParaRPr lang="en-US" sz="2100" dirty="0"/>
          </a:p>
        </p:txBody>
      </p:sp>
      <p:sp>
        <p:nvSpPr>
          <p:cNvPr id="11" name="Text 8"/>
          <p:cNvSpPr/>
          <p:nvPr/>
        </p:nvSpPr>
        <p:spPr>
          <a:xfrm>
            <a:off x="9906000" y="7253139"/>
            <a:ext cx="7652385" cy="1238250"/>
          </a:xfrm>
          <a:prstGeom prst="rect">
            <a:avLst/>
          </a:prstGeom>
          <a:noFill/>
          <a:ln/>
        </p:spPr>
        <p:txBody>
          <a:bodyPr wrap="square" lIns="25400" tIns="25400" rIns="25400" bIns="25400" rtlCol="0" anchor="t">
            <a:normAutofit/>
          </a:bodyPr>
          <a:lstStyle/>
          <a:p>
            <a:pPr algn="l" indent="0" marL="0">
              <a:lnSpc>
                <a:spcPct val="135484"/>
              </a:lnSpc>
              <a:buNone/>
            </a:pPr>
            <a:r>
              <a:rPr lang="en-US" sz="2100" dirty="0">
                <a:solidFill>
                  <a:srgbClr val="444141"/>
                </a:solidFill>
                <a:latin typeface="Archivo" pitchFamily="34" charset="0"/>
                <a:ea typeface="Archivo" pitchFamily="34" charset="-122"/>
                <a:cs typeface="Archivo" pitchFamily="34" charset="-120"/>
              </a:rPr>
              <a:t>This is why the paper insists the guarantee is distribution-free: nothing above needs to be fixed for conformal prediction to be valid.</a:t>
            </a:r>
            <a:endParaRPr lang="en-US" sz="2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3F2F2"/>
        </a:solidFill>
      </p:bgPr>
    </p:bg>
    <p:spTree>
      <p:nvGrpSpPr>
        <p:cNvPr id="1" name=""/>
        <p:cNvGrpSpPr/>
        <p:nvPr/>
      </p:nvGrpSpPr>
      <p:grpSpPr>
        <a:xfrm>
          <a:off x="0" y="0"/>
          <a:ext cx="0" cy="0"/>
          <a:chOff x="0" y="0"/>
          <a:chExt cx="0" cy="0"/>
        </a:xfrm>
      </p:grpSpPr>
      <p:sp>
        <p:nvSpPr>
          <p:cNvPr id="2" name="Text 0"/>
          <p:cNvSpPr/>
          <p:nvPr/>
        </p:nvSpPr>
        <p:spPr>
          <a:xfrm>
            <a:off x="952500" y="952500"/>
            <a:ext cx="18021300" cy="392311"/>
          </a:xfrm>
          <a:prstGeom prst="rect">
            <a:avLst/>
          </a:prstGeom>
          <a:noFill/>
          <a:ln/>
        </p:spPr>
        <p:txBody>
          <a:bodyPr wrap="square" lIns="25400" tIns="25400" rIns="25400" bIns="25400" rtlCol="0" anchor="t">
            <a:normAutofit/>
          </a:bodyPr>
          <a:lstStyle/>
          <a:p>
            <a:pPr algn="l" indent="0" marL="0">
              <a:lnSpc>
                <a:spcPct val="143077"/>
              </a:lnSpc>
              <a:buNone/>
            </a:pPr>
            <a:r>
              <a:rPr lang="en-US" sz="1800" b="1" spc="216" kern="0" dirty="0">
                <a:solidFill>
                  <a:srgbClr val="EC3013"/>
                </a:solidFill>
                <a:latin typeface="Archivo" pitchFamily="34" charset="0"/>
                <a:ea typeface="Archivo" pitchFamily="34" charset="-122"/>
                <a:cs typeface="Archivo" pitchFamily="34" charset="-120"/>
              </a:rPr>
              <a:t>CALIBRATION</a:t>
            </a:r>
            <a:endParaRPr lang="en-US" sz="1800" dirty="0"/>
          </a:p>
        </p:txBody>
      </p:sp>
      <p:sp>
        <p:nvSpPr>
          <p:cNvPr id="3" name="Text 1"/>
          <p:cNvSpPr/>
          <p:nvPr/>
        </p:nvSpPr>
        <p:spPr>
          <a:xfrm>
            <a:off x="952500" y="1421011"/>
            <a:ext cx="18021300" cy="696367"/>
          </a:xfrm>
          <a:prstGeom prst="rect">
            <a:avLst/>
          </a:prstGeom>
          <a:noFill/>
          <a:ln/>
        </p:spPr>
        <p:txBody>
          <a:bodyPr wrap="square" lIns="25400" tIns="25400" rIns="25400" bIns="25400" rtlCol="0" anchor="t">
            <a:normAutofit/>
          </a:bodyPr>
          <a:lstStyle/>
          <a:p>
            <a:pPr algn="l" indent="0" marL="0">
              <a:lnSpc>
                <a:spcPct val="100174"/>
              </a:lnSpc>
              <a:buNone/>
            </a:pPr>
            <a:r>
              <a:rPr lang="en-US" sz="4800" b="1" spc="-72" kern="0" dirty="0">
                <a:solidFill>
                  <a:srgbClr val="201E1D"/>
                </a:solidFill>
                <a:latin typeface="Archivo" pitchFamily="34" charset="0"/>
                <a:ea typeface="Archivo" pitchFamily="34" charset="-122"/>
                <a:cs typeface="Archivo" pitchFamily="34" charset="-120"/>
              </a:rPr>
              <a:t>Conformal Scores and Thresholds</a:t>
            </a:r>
            <a:endParaRPr lang="en-US" sz="4800" dirty="0"/>
          </a:p>
        </p:txBody>
      </p:sp>
      <p:sp>
        <p:nvSpPr>
          <p:cNvPr id="4" name="Shape 2"/>
          <p:cNvSpPr/>
          <p:nvPr/>
        </p:nvSpPr>
        <p:spPr>
          <a:xfrm>
            <a:off x="952500" y="2422178"/>
            <a:ext cx="16383000" cy="19050"/>
          </a:xfrm>
          <a:prstGeom prst="rect">
            <a:avLst/>
          </a:prstGeom>
          <a:solidFill>
            <a:srgbClr val="201E1D">
              <a:alpha val="40000"/>
            </a:srgbClr>
          </a:solidFill>
          <a:ln/>
        </p:spPr>
      </p:sp>
      <p:sp>
        <p:nvSpPr>
          <p:cNvPr id="5" name="Text 3"/>
          <p:cNvSpPr/>
          <p:nvPr/>
        </p:nvSpPr>
        <p:spPr>
          <a:xfrm>
            <a:off x="952500" y="2860328"/>
            <a:ext cx="8329613" cy="569565"/>
          </a:xfrm>
          <a:prstGeom prst="rect">
            <a:avLst/>
          </a:prstGeom>
          <a:noFill/>
          <a:ln/>
        </p:spPr>
        <p:txBody>
          <a:bodyPr wrap="square" lIns="25400" tIns="25400" rIns="25400" bIns="25400" rtlCol="0" anchor="t">
            <a:normAutofit/>
          </a:bodyPr>
          <a:lstStyle/>
          <a:p>
            <a:pPr algn="l" indent="0" marL="0">
              <a:lnSpc>
                <a:spcPct val="139500"/>
              </a:lnSpc>
              <a:buNone/>
            </a:pPr>
            <a:r>
              <a:rPr lang="en-US" sz="2700" b="1" dirty="0">
                <a:solidFill>
                  <a:srgbClr val="201E1D"/>
                </a:solidFill>
                <a:latin typeface="Archivo" pitchFamily="34" charset="0"/>
                <a:ea typeface="Archivo" pitchFamily="34" charset="-122"/>
                <a:cs typeface="Archivo" pitchFamily="34" charset="-120"/>
              </a:rPr>
              <a:t>LAC — s = 1 − p(true class)</a:t>
            </a:r>
            <a:endParaRPr lang="en-US" sz="2700" dirty="0"/>
          </a:p>
        </p:txBody>
      </p:sp>
      <p:pic>
        <p:nvPicPr>
          <p:cNvPr id="6"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952500" y="3525143"/>
            <a:ext cx="7572375" cy="4191000"/>
          </a:xfrm>
          <a:prstGeom prst="rect">
            <a:avLst/>
          </a:prstGeom>
        </p:spPr>
      </p:pic>
      <p:sp>
        <p:nvSpPr>
          <p:cNvPr id="7" name="Text 4"/>
          <p:cNvSpPr/>
          <p:nvPr/>
        </p:nvSpPr>
        <p:spPr>
          <a:xfrm>
            <a:off x="952500" y="7849493"/>
            <a:ext cx="7799546" cy="1077962"/>
          </a:xfrm>
          <a:prstGeom prst="rect">
            <a:avLst/>
          </a:prstGeom>
          <a:noFill/>
          <a:ln/>
        </p:spPr>
        <p:txBody>
          <a:bodyPr wrap="square" lIns="25400" tIns="25400" rIns="25400" bIns="25400" rtlCol="0" anchor="t">
            <a:normAutofit/>
          </a:bodyPr>
          <a:lstStyle/>
          <a:p>
            <a:pPr algn="l" indent="0" marL="0">
              <a:lnSpc>
                <a:spcPct val="130000"/>
              </a:lnSpc>
              <a:buNone/>
            </a:pPr>
            <a:r>
              <a:rPr lang="en-US" sz="1950" dirty="0">
                <a:solidFill>
                  <a:srgbClr val="444141"/>
                </a:solidFill>
                <a:latin typeface="Archivo" pitchFamily="34" charset="0"/>
                <a:ea typeface="Archivo" pitchFamily="34" charset="-122"/>
                <a:cs typeface="Archivo" pitchFamily="34" charset="-120"/>
              </a:rPr>
              <a:t>Heavily right-skewed: 48% of calibration images score below 0.033. The 90th percentile lands at </a:t>
            </a:r>
            <a:pPr algn="l" indent="0" marL="0">
              <a:lnSpc>
                <a:spcPct val="130000"/>
              </a:lnSpc>
              <a:buNone/>
            </a:pPr>
            <a:r>
              <a:rPr lang="en-US" sz="1950" b="1" dirty="0">
                <a:solidFill>
                  <a:srgbClr val="444141"/>
                </a:solidFill>
                <a:latin typeface="Archivo" pitchFamily="34" charset="0"/>
                <a:ea typeface="Archivo" pitchFamily="34" charset="-122"/>
                <a:cs typeface="Archivo" pitchFamily="34" charset="-120"/>
              </a:rPr>
              <a:t>q̂ = 0.573 </a:t>
            </a:r>
            <a:pPr algn="l" indent="0" marL="0">
              <a:lnSpc>
                <a:spcPct val="130000"/>
              </a:lnSpc>
              <a:buNone/>
            </a:pPr>
            <a:r>
              <a:rPr lang="en-US" sz="1950" dirty="0">
                <a:solidFill>
                  <a:srgbClr val="444141"/>
                </a:solidFill>
                <a:latin typeface="Archivo" pitchFamily="34" charset="0"/>
                <a:ea typeface="Archivo" pitchFamily="34" charset="-122"/>
                <a:cs typeface="Archivo" pitchFamily="34" charset="-120"/>
              </a:rPr>
              <a:t>, so a label enters the set when its softmax exceeds 0.427.</a:t>
            </a:r>
            <a:endParaRPr lang="en-US" sz="1950" dirty="0"/>
          </a:p>
        </p:txBody>
      </p:sp>
      <p:sp>
        <p:nvSpPr>
          <p:cNvPr id="8" name="Shape 5"/>
          <p:cNvSpPr/>
          <p:nvPr/>
        </p:nvSpPr>
        <p:spPr>
          <a:xfrm>
            <a:off x="9134475" y="2860328"/>
            <a:ext cx="19050" cy="6664672"/>
          </a:xfrm>
          <a:prstGeom prst="rect">
            <a:avLst/>
          </a:prstGeom>
          <a:solidFill>
            <a:srgbClr val="201E1D">
              <a:alpha val="40000"/>
            </a:srgbClr>
          </a:solidFill>
          <a:ln/>
        </p:spPr>
      </p:sp>
      <p:sp>
        <p:nvSpPr>
          <p:cNvPr id="9" name="Text 6"/>
          <p:cNvSpPr/>
          <p:nvPr/>
        </p:nvSpPr>
        <p:spPr>
          <a:xfrm>
            <a:off x="9763125" y="2860328"/>
            <a:ext cx="8329613" cy="569565"/>
          </a:xfrm>
          <a:prstGeom prst="rect">
            <a:avLst/>
          </a:prstGeom>
          <a:noFill/>
          <a:ln/>
        </p:spPr>
        <p:txBody>
          <a:bodyPr wrap="square" lIns="25400" tIns="25400" rIns="25400" bIns="25400" rtlCol="0" anchor="t">
            <a:normAutofit/>
          </a:bodyPr>
          <a:lstStyle/>
          <a:p>
            <a:pPr algn="l" indent="0" marL="0">
              <a:lnSpc>
                <a:spcPct val="139500"/>
              </a:lnSpc>
              <a:buNone/>
            </a:pPr>
            <a:r>
              <a:rPr lang="en-US" sz="2700" b="1" dirty="0">
                <a:solidFill>
                  <a:srgbClr val="201E1D"/>
                </a:solidFill>
                <a:latin typeface="Archivo" pitchFamily="34" charset="0"/>
                <a:ea typeface="Archivo" pitchFamily="34" charset="-122"/>
                <a:cs typeface="Archivo" pitchFamily="34" charset="-120"/>
              </a:rPr>
              <a:t>APS — cumulative mass to true class</a:t>
            </a:r>
            <a:endParaRPr lang="en-US" sz="2700" dirty="0"/>
          </a:p>
        </p:txBody>
      </p:sp>
      <p:pic>
        <p:nvPicPr>
          <p:cNvPr id="10"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9763125" y="3525143"/>
            <a:ext cx="7572375" cy="4191000"/>
          </a:xfrm>
          <a:prstGeom prst="rect">
            <a:avLst/>
          </a:prstGeom>
        </p:spPr>
      </p:pic>
      <p:sp>
        <p:nvSpPr>
          <p:cNvPr id="11" name="Text 7"/>
          <p:cNvSpPr/>
          <p:nvPr/>
        </p:nvSpPr>
        <p:spPr>
          <a:xfrm>
            <a:off x="9763125" y="7849493"/>
            <a:ext cx="7799546" cy="1077962"/>
          </a:xfrm>
          <a:prstGeom prst="rect">
            <a:avLst/>
          </a:prstGeom>
          <a:noFill/>
          <a:ln/>
        </p:spPr>
        <p:txBody>
          <a:bodyPr wrap="square" lIns="25400" tIns="25400" rIns="25400" bIns="25400" rtlCol="0" anchor="t">
            <a:normAutofit/>
          </a:bodyPr>
          <a:lstStyle/>
          <a:p>
            <a:pPr algn="l" indent="0" marL="0">
              <a:lnSpc>
                <a:spcPct val="130000"/>
              </a:lnSpc>
              <a:buNone/>
            </a:pPr>
            <a:r>
              <a:rPr lang="en-US" sz="1950" dirty="0">
                <a:solidFill>
                  <a:srgbClr val="444141"/>
                </a:solidFill>
                <a:latin typeface="Archivo" pitchFamily="34" charset="0"/>
                <a:ea typeface="Archivo" pitchFamily="34" charset="-122"/>
                <a:cs typeface="Archivo" pitchFamily="34" charset="-120"/>
              </a:rPr>
              <a:t>Mirror image: mass concentrates just under 1. The quantile is pushed to </a:t>
            </a:r>
            <a:pPr algn="l" indent="0" marL="0">
              <a:lnSpc>
                <a:spcPct val="130000"/>
              </a:lnSpc>
              <a:buNone/>
            </a:pPr>
            <a:r>
              <a:rPr lang="en-US" sz="1950" b="1" dirty="0">
                <a:solidFill>
                  <a:srgbClr val="444141"/>
                </a:solidFill>
                <a:latin typeface="Archivo" pitchFamily="34" charset="0"/>
                <a:ea typeface="Archivo" pitchFamily="34" charset="-122"/>
                <a:cs typeface="Archivo" pitchFamily="34" charset="-120"/>
              </a:rPr>
              <a:t>q̂ = 0.9948 </a:t>
            </a:r>
            <a:pPr algn="l" indent="0" marL="0">
              <a:lnSpc>
                <a:spcPct val="130000"/>
              </a:lnSpc>
              <a:buNone/>
            </a:pPr>
            <a:r>
              <a:rPr lang="en-US" sz="1950" dirty="0">
                <a:solidFill>
                  <a:srgbClr val="444141"/>
                </a:solidFill>
                <a:latin typeface="Archivo" pitchFamily="34" charset="0"/>
                <a:ea typeface="Archivo" pitchFamily="34" charset="-122"/>
                <a:cs typeface="Archivo" pitchFamily="34" charset="-120"/>
              </a:rPr>
              <a:t>, which forces sets to accumulate almost all the probability mass.</a:t>
            </a:r>
            <a:endParaRPr lang="en-US" sz="19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3F2F2"/>
        </a:solidFill>
      </p:bgPr>
    </p:bg>
    <p:spTree>
      <p:nvGrpSpPr>
        <p:cNvPr id="1" name=""/>
        <p:cNvGrpSpPr/>
        <p:nvPr/>
      </p:nvGrpSpPr>
      <p:grpSpPr>
        <a:xfrm>
          <a:off x="0" y="0"/>
          <a:ext cx="0" cy="0"/>
          <a:chOff x="0" y="0"/>
          <a:chExt cx="0" cy="0"/>
        </a:xfrm>
      </p:grpSpPr>
      <p:sp>
        <p:nvSpPr>
          <p:cNvPr id="2" name="Text 0"/>
          <p:cNvSpPr/>
          <p:nvPr/>
        </p:nvSpPr>
        <p:spPr>
          <a:xfrm>
            <a:off x="952500" y="952500"/>
            <a:ext cx="18021300" cy="392311"/>
          </a:xfrm>
          <a:prstGeom prst="rect">
            <a:avLst/>
          </a:prstGeom>
          <a:noFill/>
          <a:ln/>
        </p:spPr>
        <p:txBody>
          <a:bodyPr wrap="square" lIns="25400" tIns="25400" rIns="25400" bIns="25400" rtlCol="0" anchor="t">
            <a:normAutofit/>
          </a:bodyPr>
          <a:lstStyle/>
          <a:p>
            <a:pPr algn="l" indent="0" marL="0">
              <a:lnSpc>
                <a:spcPct val="143077"/>
              </a:lnSpc>
              <a:buNone/>
            </a:pPr>
            <a:r>
              <a:rPr lang="en-US" sz="1800" b="1" spc="216" kern="0" dirty="0">
                <a:solidFill>
                  <a:srgbClr val="EC3013"/>
                </a:solidFill>
                <a:latin typeface="Archivo" pitchFamily="34" charset="0"/>
                <a:ea typeface="Archivo" pitchFamily="34" charset="-122"/>
                <a:cs typeface="Archivo" pitchFamily="34" charset="-120"/>
              </a:rPr>
              <a:t>RESULTS — SECTION 1</a:t>
            </a:r>
            <a:endParaRPr lang="en-US" sz="1800" dirty="0"/>
          </a:p>
        </p:txBody>
      </p:sp>
      <p:sp>
        <p:nvSpPr>
          <p:cNvPr id="3" name="Text 1"/>
          <p:cNvSpPr/>
          <p:nvPr/>
        </p:nvSpPr>
        <p:spPr>
          <a:xfrm>
            <a:off x="952500" y="1421011"/>
            <a:ext cx="18021300" cy="696367"/>
          </a:xfrm>
          <a:prstGeom prst="rect">
            <a:avLst/>
          </a:prstGeom>
          <a:noFill/>
          <a:ln/>
        </p:spPr>
        <p:txBody>
          <a:bodyPr wrap="square" lIns="25400" tIns="25400" rIns="25400" bIns="25400" rtlCol="0" anchor="t">
            <a:normAutofit/>
          </a:bodyPr>
          <a:lstStyle/>
          <a:p>
            <a:pPr algn="l" indent="0" marL="0">
              <a:lnSpc>
                <a:spcPct val="100174"/>
              </a:lnSpc>
              <a:buNone/>
            </a:pPr>
            <a:r>
              <a:rPr lang="en-US" sz="4800" b="1" spc="-72" kern="0" dirty="0">
                <a:solidFill>
                  <a:srgbClr val="201E1D"/>
                </a:solidFill>
                <a:latin typeface="Archivo" pitchFamily="34" charset="0"/>
                <a:ea typeface="Archivo" pitchFamily="34" charset="-122"/>
                <a:cs typeface="Archivo" pitchFamily="34" charset="-120"/>
              </a:rPr>
              <a:t>LAC Results on the Test Split</a:t>
            </a:r>
            <a:endParaRPr lang="en-US" sz="4800" dirty="0"/>
          </a:p>
        </p:txBody>
      </p:sp>
      <p:sp>
        <p:nvSpPr>
          <p:cNvPr id="4" name="Shape 2"/>
          <p:cNvSpPr/>
          <p:nvPr/>
        </p:nvSpPr>
        <p:spPr>
          <a:xfrm>
            <a:off x="952500" y="2422178"/>
            <a:ext cx="16383000" cy="19050"/>
          </a:xfrm>
          <a:prstGeom prst="rect">
            <a:avLst/>
          </a:prstGeom>
          <a:solidFill>
            <a:srgbClr val="201E1D">
              <a:alpha val="40000"/>
            </a:srgbClr>
          </a:solidFill>
          <a:ln/>
        </p:spPr>
      </p:sp>
      <p:sp>
        <p:nvSpPr>
          <p:cNvPr id="5" name="Shape 3"/>
          <p:cNvSpPr/>
          <p:nvPr/>
        </p:nvSpPr>
        <p:spPr>
          <a:xfrm>
            <a:off x="952500" y="2860328"/>
            <a:ext cx="16383000" cy="1304925"/>
          </a:xfrm>
          <a:prstGeom prst="rect">
            <a:avLst/>
          </a:prstGeom>
          <a:solidFill>
            <a:srgbClr val="201E1D">
              <a:alpha val="40000"/>
            </a:srgbClr>
          </a:solidFill>
          <a:ln/>
        </p:spPr>
      </p:sp>
      <p:sp>
        <p:nvSpPr>
          <p:cNvPr id="6" name="Shape 4"/>
          <p:cNvSpPr/>
          <p:nvPr/>
        </p:nvSpPr>
        <p:spPr>
          <a:xfrm>
            <a:off x="952500" y="2860328"/>
            <a:ext cx="5448300" cy="1304925"/>
          </a:xfrm>
          <a:prstGeom prst="rect">
            <a:avLst/>
          </a:prstGeom>
          <a:solidFill>
            <a:srgbClr val="F3F2F2"/>
          </a:solidFill>
          <a:ln/>
        </p:spPr>
      </p:sp>
      <p:sp>
        <p:nvSpPr>
          <p:cNvPr id="7" name="Text 5"/>
          <p:cNvSpPr/>
          <p:nvPr/>
        </p:nvSpPr>
        <p:spPr>
          <a:xfrm>
            <a:off x="952500" y="2860328"/>
            <a:ext cx="5490210" cy="333375"/>
          </a:xfrm>
          <a:prstGeom prst="rect">
            <a:avLst/>
          </a:prstGeom>
          <a:noFill/>
          <a:ln/>
        </p:spPr>
        <p:txBody>
          <a:bodyPr wrap="square" lIns="25400" tIns="25400" rIns="25400" bIns="25400" rtlCol="0" anchor="t">
            <a:normAutofit/>
          </a:bodyPr>
          <a:lstStyle/>
          <a:p>
            <a:pPr algn="l" indent="0" marL="0">
              <a:lnSpc>
                <a:spcPct val="140909"/>
              </a:lnSpc>
              <a:buNone/>
            </a:pPr>
            <a:r>
              <a:rPr lang="en-US" sz="1500" b="1" spc="120" kern="0" dirty="0">
                <a:solidFill>
                  <a:srgbClr val="7D7979"/>
                </a:solidFill>
                <a:latin typeface="Archivo" pitchFamily="34" charset="0"/>
                <a:ea typeface="Archivo" pitchFamily="34" charset="-122"/>
                <a:cs typeface="Archivo" pitchFamily="34" charset="-120"/>
              </a:rPr>
              <a:t>THRESHOLD Q̂</a:t>
            </a:r>
            <a:endParaRPr lang="en-US" sz="1500" dirty="0"/>
          </a:p>
        </p:txBody>
      </p:sp>
      <p:sp>
        <p:nvSpPr>
          <p:cNvPr id="8" name="Text 6"/>
          <p:cNvSpPr/>
          <p:nvPr/>
        </p:nvSpPr>
        <p:spPr>
          <a:xfrm>
            <a:off x="952500" y="3250853"/>
            <a:ext cx="5490210" cy="952500"/>
          </a:xfrm>
          <a:prstGeom prst="rect">
            <a:avLst/>
          </a:prstGeom>
          <a:noFill/>
          <a:ln/>
        </p:spPr>
        <p:txBody>
          <a:bodyPr wrap="square" lIns="25400" tIns="25400" rIns="25400" bIns="25400" rtlCol="0" anchor="t">
            <a:normAutofit/>
          </a:bodyPr>
          <a:lstStyle/>
          <a:p>
            <a:pPr algn="l" indent="0" marL="0">
              <a:lnSpc>
                <a:spcPct val="92308"/>
              </a:lnSpc>
              <a:buNone/>
            </a:pPr>
            <a:r>
              <a:rPr lang="en-US" sz="7200" b="1" dirty="0">
                <a:solidFill>
                  <a:srgbClr val="201E1D"/>
                </a:solidFill>
                <a:latin typeface="Archivo" pitchFamily="34" charset="0"/>
                <a:ea typeface="Archivo" pitchFamily="34" charset="-122"/>
                <a:cs typeface="Archivo" pitchFamily="34" charset="-120"/>
              </a:rPr>
              <a:t>0.573</a:t>
            </a:r>
            <a:endParaRPr lang="en-US" sz="7200" dirty="0"/>
          </a:p>
        </p:txBody>
      </p:sp>
      <p:sp>
        <p:nvSpPr>
          <p:cNvPr id="9" name="Shape 7"/>
          <p:cNvSpPr/>
          <p:nvPr/>
        </p:nvSpPr>
        <p:spPr>
          <a:xfrm>
            <a:off x="6419850" y="2860328"/>
            <a:ext cx="5448300" cy="1304925"/>
          </a:xfrm>
          <a:prstGeom prst="rect">
            <a:avLst/>
          </a:prstGeom>
          <a:solidFill>
            <a:srgbClr val="F3F2F2"/>
          </a:solidFill>
          <a:ln/>
        </p:spPr>
      </p:sp>
      <p:sp>
        <p:nvSpPr>
          <p:cNvPr id="10" name="Text 8"/>
          <p:cNvSpPr/>
          <p:nvPr/>
        </p:nvSpPr>
        <p:spPr>
          <a:xfrm>
            <a:off x="6877050" y="2860328"/>
            <a:ext cx="4987290" cy="333375"/>
          </a:xfrm>
          <a:prstGeom prst="rect">
            <a:avLst/>
          </a:prstGeom>
          <a:noFill/>
          <a:ln/>
        </p:spPr>
        <p:txBody>
          <a:bodyPr wrap="square" lIns="25400" tIns="25400" rIns="25400" bIns="25400" rtlCol="0" anchor="t">
            <a:normAutofit/>
          </a:bodyPr>
          <a:lstStyle/>
          <a:p>
            <a:pPr algn="l" indent="0" marL="0">
              <a:lnSpc>
                <a:spcPct val="140909"/>
              </a:lnSpc>
              <a:buNone/>
            </a:pPr>
            <a:r>
              <a:rPr lang="en-US" sz="1500" b="1" spc="120" kern="0" dirty="0">
                <a:solidFill>
                  <a:srgbClr val="7D7979"/>
                </a:solidFill>
                <a:latin typeface="Archivo" pitchFamily="34" charset="0"/>
                <a:ea typeface="Archivo" pitchFamily="34" charset="-122"/>
                <a:cs typeface="Archivo" pitchFamily="34" charset="-120"/>
              </a:rPr>
              <a:t>EMPIRICAL COVERAGE</a:t>
            </a:r>
            <a:endParaRPr lang="en-US" sz="1500" dirty="0"/>
          </a:p>
        </p:txBody>
      </p:sp>
      <p:sp>
        <p:nvSpPr>
          <p:cNvPr id="11" name="Text 9"/>
          <p:cNvSpPr/>
          <p:nvPr/>
        </p:nvSpPr>
        <p:spPr>
          <a:xfrm>
            <a:off x="6877050" y="3250853"/>
            <a:ext cx="4987290" cy="952500"/>
          </a:xfrm>
          <a:prstGeom prst="rect">
            <a:avLst/>
          </a:prstGeom>
          <a:noFill/>
          <a:ln/>
        </p:spPr>
        <p:txBody>
          <a:bodyPr wrap="square" lIns="25400" tIns="25400" rIns="25400" bIns="25400" rtlCol="0" anchor="t">
            <a:normAutofit/>
          </a:bodyPr>
          <a:lstStyle/>
          <a:p>
            <a:pPr algn="l" indent="0" marL="0">
              <a:lnSpc>
                <a:spcPct val="92308"/>
              </a:lnSpc>
              <a:buNone/>
            </a:pPr>
            <a:r>
              <a:rPr lang="en-US" sz="7200" b="1" dirty="0">
                <a:solidFill>
                  <a:srgbClr val="EC3013"/>
                </a:solidFill>
                <a:latin typeface="Archivo" pitchFamily="34" charset="0"/>
                <a:ea typeface="Archivo" pitchFamily="34" charset="-122"/>
                <a:cs typeface="Archivo" pitchFamily="34" charset="-120"/>
              </a:rPr>
              <a:t>88.15%</a:t>
            </a:r>
            <a:endParaRPr lang="en-US" sz="7200" dirty="0"/>
          </a:p>
        </p:txBody>
      </p:sp>
      <p:sp>
        <p:nvSpPr>
          <p:cNvPr id="12" name="Shape 10"/>
          <p:cNvSpPr/>
          <p:nvPr/>
        </p:nvSpPr>
        <p:spPr>
          <a:xfrm>
            <a:off x="11887200" y="2860328"/>
            <a:ext cx="5448300" cy="1304925"/>
          </a:xfrm>
          <a:prstGeom prst="rect">
            <a:avLst/>
          </a:prstGeom>
          <a:solidFill>
            <a:srgbClr val="F3F2F2"/>
          </a:solidFill>
          <a:ln/>
        </p:spPr>
      </p:sp>
      <p:sp>
        <p:nvSpPr>
          <p:cNvPr id="13" name="Text 11"/>
          <p:cNvSpPr/>
          <p:nvPr/>
        </p:nvSpPr>
        <p:spPr>
          <a:xfrm>
            <a:off x="12344400" y="2860328"/>
            <a:ext cx="5490210" cy="333375"/>
          </a:xfrm>
          <a:prstGeom prst="rect">
            <a:avLst/>
          </a:prstGeom>
          <a:noFill/>
          <a:ln/>
        </p:spPr>
        <p:txBody>
          <a:bodyPr wrap="square" lIns="25400" tIns="25400" rIns="25400" bIns="25400" rtlCol="0" anchor="t">
            <a:normAutofit/>
          </a:bodyPr>
          <a:lstStyle/>
          <a:p>
            <a:pPr algn="l" indent="0" marL="0">
              <a:lnSpc>
                <a:spcPct val="140909"/>
              </a:lnSpc>
              <a:buNone/>
            </a:pPr>
            <a:r>
              <a:rPr lang="en-US" sz="1500" b="1" spc="120" kern="0" dirty="0">
                <a:solidFill>
                  <a:srgbClr val="7D7979"/>
                </a:solidFill>
                <a:latin typeface="Archivo" pitchFamily="34" charset="0"/>
                <a:ea typeface="Archivo" pitchFamily="34" charset="-122"/>
                <a:cs typeface="Archivo" pitchFamily="34" charset="-120"/>
              </a:rPr>
              <a:t>MEAN SET SIZE</a:t>
            </a:r>
            <a:endParaRPr lang="en-US" sz="1500" dirty="0"/>
          </a:p>
        </p:txBody>
      </p:sp>
      <p:sp>
        <p:nvSpPr>
          <p:cNvPr id="14" name="Text 12"/>
          <p:cNvSpPr/>
          <p:nvPr/>
        </p:nvSpPr>
        <p:spPr>
          <a:xfrm>
            <a:off x="12344400" y="3250853"/>
            <a:ext cx="5490210" cy="952500"/>
          </a:xfrm>
          <a:prstGeom prst="rect">
            <a:avLst/>
          </a:prstGeom>
          <a:noFill/>
          <a:ln/>
        </p:spPr>
        <p:txBody>
          <a:bodyPr wrap="square" lIns="25400" tIns="25400" rIns="25400" bIns="25400" rtlCol="0" anchor="t">
            <a:normAutofit/>
          </a:bodyPr>
          <a:lstStyle/>
          <a:p>
            <a:pPr algn="l" indent="0" marL="0">
              <a:lnSpc>
                <a:spcPct val="92308"/>
              </a:lnSpc>
              <a:buNone/>
            </a:pPr>
            <a:r>
              <a:rPr lang="en-US" sz="7200" b="1" dirty="0">
                <a:solidFill>
                  <a:srgbClr val="201E1D"/>
                </a:solidFill>
                <a:latin typeface="Archivo" pitchFamily="34" charset="0"/>
                <a:ea typeface="Archivo" pitchFamily="34" charset="-122"/>
                <a:cs typeface="Archivo" pitchFamily="34" charset="-120"/>
              </a:rPr>
              <a:t>0.98</a:t>
            </a:r>
            <a:endParaRPr lang="en-US" sz="7200" dirty="0"/>
          </a:p>
        </p:txBody>
      </p:sp>
      <p:sp>
        <p:nvSpPr>
          <p:cNvPr id="15" name="Shape 13"/>
          <p:cNvSpPr/>
          <p:nvPr/>
        </p:nvSpPr>
        <p:spPr>
          <a:xfrm>
            <a:off x="952500" y="4584353"/>
            <a:ext cx="16383000" cy="19050"/>
          </a:xfrm>
          <a:prstGeom prst="rect">
            <a:avLst/>
          </a:prstGeom>
          <a:solidFill>
            <a:srgbClr val="201E1D">
              <a:alpha val="40000"/>
            </a:srgbClr>
          </a:solidFill>
          <a:ln/>
        </p:spPr>
      </p:sp>
      <p:sp>
        <p:nvSpPr>
          <p:cNvPr id="16" name="Text 14"/>
          <p:cNvSpPr/>
          <p:nvPr/>
        </p:nvSpPr>
        <p:spPr>
          <a:xfrm>
            <a:off x="952500" y="5022503"/>
            <a:ext cx="8044815" cy="944761"/>
          </a:xfrm>
          <a:prstGeom prst="rect">
            <a:avLst/>
          </a:prstGeom>
          <a:noFill/>
          <a:ln/>
        </p:spPr>
        <p:txBody>
          <a:bodyPr wrap="square" lIns="25400" tIns="25400" rIns="25400" bIns="25400" rtlCol="0" anchor="t">
            <a:normAutofit/>
          </a:bodyPr>
          <a:lstStyle/>
          <a:p>
            <a:pPr algn="l" indent="0" marL="0">
              <a:lnSpc>
                <a:spcPct val="128649"/>
              </a:lnSpc>
              <a:buNone/>
            </a:pPr>
            <a:r>
              <a:rPr lang="en-US" sz="2550" dirty="0">
                <a:solidFill>
                  <a:srgbClr val="201E1D"/>
                </a:solidFill>
                <a:latin typeface="Archivo" pitchFamily="34" charset="0"/>
                <a:ea typeface="Archivo" pitchFamily="34" charset="-122"/>
                <a:cs typeface="Archivo" pitchFamily="34" charset="-120"/>
              </a:rPr>
              <a:t>Sets are almost always a single digit: 96.1% of test images get exactly one label.</a:t>
            </a:r>
            <a:endParaRPr lang="en-US" sz="2550" dirty="0"/>
          </a:p>
        </p:txBody>
      </p:sp>
      <p:sp>
        <p:nvSpPr>
          <p:cNvPr id="17" name="Text 15"/>
          <p:cNvSpPr/>
          <p:nvPr/>
        </p:nvSpPr>
        <p:spPr>
          <a:xfrm>
            <a:off x="952500" y="6195864"/>
            <a:ext cx="8044815" cy="1238250"/>
          </a:xfrm>
          <a:prstGeom prst="rect">
            <a:avLst/>
          </a:prstGeom>
          <a:noFill/>
          <a:ln/>
        </p:spPr>
        <p:txBody>
          <a:bodyPr wrap="square" lIns="25400" tIns="25400" rIns="25400" bIns="25400" rtlCol="0" anchor="t">
            <a:normAutofit/>
          </a:bodyPr>
          <a:lstStyle/>
          <a:p>
            <a:pPr algn="l" indent="0" marL="0">
              <a:lnSpc>
                <a:spcPct val="135484"/>
              </a:lnSpc>
              <a:buNone/>
            </a:pPr>
            <a:r>
              <a:rPr lang="en-US" sz="2100" dirty="0">
                <a:solidFill>
                  <a:srgbClr val="444141"/>
                </a:solidFill>
                <a:latin typeface="Archivo" pitchFamily="34" charset="0"/>
                <a:ea typeface="Archivo" pitchFamily="34" charset="-122"/>
                <a:cs typeface="Archivo" pitchFamily="34" charset="-120"/>
              </a:rPr>
              <a:t>Only 18 images (0.9%) receive two or more labels. LAC is the most efficient score in the paper, and this is what that efficiency looks like.</a:t>
            </a:r>
            <a:endParaRPr lang="en-US" sz="2100" dirty="0"/>
          </a:p>
        </p:txBody>
      </p:sp>
      <p:sp>
        <p:nvSpPr>
          <p:cNvPr id="18" name="Text 16"/>
          <p:cNvSpPr/>
          <p:nvPr/>
        </p:nvSpPr>
        <p:spPr>
          <a:xfrm>
            <a:off x="9525000" y="5022503"/>
            <a:ext cx="8591550" cy="491430"/>
          </a:xfrm>
          <a:prstGeom prst="rect">
            <a:avLst/>
          </a:prstGeom>
          <a:noFill/>
          <a:ln/>
        </p:spPr>
        <p:txBody>
          <a:bodyPr wrap="square" lIns="25400" tIns="25400" rIns="25400" bIns="25400" rtlCol="0" anchor="t">
            <a:normAutofit/>
          </a:bodyPr>
          <a:lstStyle/>
          <a:p>
            <a:pPr algn="l" indent="0" marL="0">
              <a:lnSpc>
                <a:spcPct val="128649"/>
              </a:lnSpc>
              <a:buNone/>
            </a:pPr>
            <a:r>
              <a:rPr lang="en-US" sz="2550" dirty="0">
                <a:solidFill>
                  <a:srgbClr val="201E1D"/>
                </a:solidFill>
                <a:latin typeface="Archivo" pitchFamily="34" charset="0"/>
                <a:ea typeface="Archivo" pitchFamily="34" charset="-122"/>
                <a:cs typeface="Archivo" pitchFamily="34" charset="-120"/>
              </a:rPr>
              <a:t>60 test images (3.0%) receive an </a:t>
            </a:r>
            <a:pPr algn="l" indent="0" marL="0">
              <a:lnSpc>
                <a:spcPct val="128649"/>
              </a:lnSpc>
              <a:buNone/>
            </a:pPr>
            <a:r>
              <a:rPr lang="en-US" sz="2550" b="1" dirty="0">
                <a:solidFill>
                  <a:srgbClr val="201E1D"/>
                </a:solidFill>
                <a:latin typeface="Archivo" pitchFamily="34" charset="0"/>
                <a:ea typeface="Archivo" pitchFamily="34" charset="-122"/>
                <a:cs typeface="Archivo" pitchFamily="34" charset="-120"/>
              </a:rPr>
              <a:t>empty set</a:t>
            </a:r>
            <a:pPr algn="l" indent="0" marL="0">
              <a:lnSpc>
                <a:spcPct val="128649"/>
              </a:lnSpc>
              <a:buNone/>
            </a:pPr>
            <a:r>
              <a:rPr lang="en-US" sz="2550" dirty="0">
                <a:solidFill>
                  <a:srgbClr val="201E1D"/>
                </a:solidFill>
                <a:latin typeface="Archivo" pitchFamily="34" charset="0"/>
                <a:ea typeface="Archivo" pitchFamily="34" charset="-122"/>
                <a:cs typeface="Archivo" pitchFamily="34" charset="-120"/>
              </a:rPr>
              <a:t>.</a:t>
            </a:r>
            <a:endParaRPr lang="en-US" sz="2550" dirty="0"/>
          </a:p>
        </p:txBody>
      </p:sp>
      <p:sp>
        <p:nvSpPr>
          <p:cNvPr id="19" name="Text 17"/>
          <p:cNvSpPr/>
          <p:nvPr/>
        </p:nvSpPr>
        <p:spPr>
          <a:xfrm>
            <a:off x="9525000" y="5742533"/>
            <a:ext cx="8044815" cy="1638300"/>
          </a:xfrm>
          <a:prstGeom prst="rect">
            <a:avLst/>
          </a:prstGeom>
          <a:noFill/>
          <a:ln/>
        </p:spPr>
        <p:txBody>
          <a:bodyPr wrap="square" lIns="25400" tIns="25400" rIns="25400" bIns="25400" rtlCol="0" anchor="t">
            <a:normAutofit/>
          </a:bodyPr>
          <a:lstStyle/>
          <a:p>
            <a:pPr algn="l" indent="0" marL="0">
              <a:lnSpc>
                <a:spcPct val="135484"/>
              </a:lnSpc>
              <a:buNone/>
            </a:pPr>
            <a:r>
              <a:rPr lang="en-US" sz="2100" dirty="0">
                <a:solidFill>
                  <a:srgbClr val="444141"/>
                </a:solidFill>
                <a:latin typeface="Archivo" pitchFamily="34" charset="0"/>
                <a:ea typeface="Archivo" pitchFamily="34" charset="-122"/>
                <a:cs typeface="Archivo" pitchFamily="34" charset="-120"/>
              </a:rPr>
              <a:t>When no softmax value exceeds 1 − q̂ = 0.427, the rule returns nothing and coverage on those images is zero by construction. Marginal coverage still holds; the sets are simply useless where the model is most confused.</a:t>
            </a:r>
            <a:endParaRPr lang="en-US" sz="2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3F2F2"/>
        </a:solidFill>
      </p:bgPr>
    </p:bg>
    <p:spTree>
      <p:nvGrpSpPr>
        <p:cNvPr id="1" name=""/>
        <p:cNvGrpSpPr/>
        <p:nvPr/>
      </p:nvGrpSpPr>
      <p:grpSpPr>
        <a:xfrm>
          <a:off x="0" y="0"/>
          <a:ext cx="0" cy="0"/>
          <a:chOff x="0" y="0"/>
          <a:chExt cx="0" cy="0"/>
        </a:xfrm>
      </p:grpSpPr>
      <p:sp>
        <p:nvSpPr>
          <p:cNvPr id="2" name="Text 0"/>
          <p:cNvSpPr/>
          <p:nvPr/>
        </p:nvSpPr>
        <p:spPr>
          <a:xfrm>
            <a:off x="952500" y="952500"/>
            <a:ext cx="18021300" cy="392311"/>
          </a:xfrm>
          <a:prstGeom prst="rect">
            <a:avLst/>
          </a:prstGeom>
          <a:noFill/>
          <a:ln/>
        </p:spPr>
        <p:txBody>
          <a:bodyPr wrap="square" lIns="25400" tIns="25400" rIns="25400" bIns="25400" rtlCol="0" anchor="t">
            <a:normAutofit/>
          </a:bodyPr>
          <a:lstStyle/>
          <a:p>
            <a:pPr algn="l" indent="0" marL="0">
              <a:lnSpc>
                <a:spcPct val="143077"/>
              </a:lnSpc>
              <a:buNone/>
            </a:pPr>
            <a:r>
              <a:rPr lang="en-US" sz="1800" b="1" spc="216" kern="0" dirty="0">
                <a:solidFill>
                  <a:srgbClr val="EC3013"/>
                </a:solidFill>
                <a:latin typeface="Archivo" pitchFamily="34" charset="0"/>
                <a:ea typeface="Archivo" pitchFamily="34" charset="-122"/>
                <a:cs typeface="Archivo" pitchFamily="34" charset="-120"/>
              </a:rPr>
              <a:t>RESULTS — SECTION 2.1</a:t>
            </a:r>
            <a:endParaRPr lang="en-US" sz="1800" dirty="0"/>
          </a:p>
        </p:txBody>
      </p:sp>
      <p:sp>
        <p:nvSpPr>
          <p:cNvPr id="3" name="Text 1"/>
          <p:cNvSpPr/>
          <p:nvPr/>
        </p:nvSpPr>
        <p:spPr>
          <a:xfrm>
            <a:off x="952500" y="1421011"/>
            <a:ext cx="18021300" cy="696367"/>
          </a:xfrm>
          <a:prstGeom prst="rect">
            <a:avLst/>
          </a:prstGeom>
          <a:noFill/>
          <a:ln/>
        </p:spPr>
        <p:txBody>
          <a:bodyPr wrap="square" lIns="25400" tIns="25400" rIns="25400" bIns="25400" rtlCol="0" anchor="t">
            <a:normAutofit/>
          </a:bodyPr>
          <a:lstStyle/>
          <a:p>
            <a:pPr algn="l" indent="0" marL="0">
              <a:lnSpc>
                <a:spcPct val="100174"/>
              </a:lnSpc>
              <a:buNone/>
            </a:pPr>
            <a:r>
              <a:rPr lang="en-US" sz="4800" b="1" spc="-72" kern="0" dirty="0">
                <a:solidFill>
                  <a:srgbClr val="201E1D"/>
                </a:solidFill>
                <a:latin typeface="Archivo" pitchFamily="34" charset="0"/>
                <a:ea typeface="Archivo" pitchFamily="34" charset="-122"/>
                <a:cs typeface="Archivo" pitchFamily="34" charset="-120"/>
              </a:rPr>
              <a:t>APS Results on the Test Split</a:t>
            </a:r>
            <a:endParaRPr lang="en-US" sz="4800" dirty="0"/>
          </a:p>
        </p:txBody>
      </p:sp>
      <p:sp>
        <p:nvSpPr>
          <p:cNvPr id="4" name="Shape 2"/>
          <p:cNvSpPr/>
          <p:nvPr/>
        </p:nvSpPr>
        <p:spPr>
          <a:xfrm>
            <a:off x="952500" y="2422178"/>
            <a:ext cx="16383000" cy="19050"/>
          </a:xfrm>
          <a:prstGeom prst="rect">
            <a:avLst/>
          </a:prstGeom>
          <a:solidFill>
            <a:srgbClr val="201E1D">
              <a:alpha val="40000"/>
            </a:srgbClr>
          </a:solidFill>
          <a:ln/>
        </p:spPr>
      </p:sp>
      <p:sp>
        <p:nvSpPr>
          <p:cNvPr id="5" name="Shape 3"/>
          <p:cNvSpPr/>
          <p:nvPr/>
        </p:nvSpPr>
        <p:spPr>
          <a:xfrm>
            <a:off x="952500" y="2860328"/>
            <a:ext cx="16383000" cy="1304925"/>
          </a:xfrm>
          <a:prstGeom prst="rect">
            <a:avLst/>
          </a:prstGeom>
          <a:solidFill>
            <a:srgbClr val="201E1D">
              <a:alpha val="40000"/>
            </a:srgbClr>
          </a:solidFill>
          <a:ln/>
        </p:spPr>
      </p:sp>
      <p:sp>
        <p:nvSpPr>
          <p:cNvPr id="6" name="Shape 4"/>
          <p:cNvSpPr/>
          <p:nvPr/>
        </p:nvSpPr>
        <p:spPr>
          <a:xfrm>
            <a:off x="952500" y="2860328"/>
            <a:ext cx="5448300" cy="1304925"/>
          </a:xfrm>
          <a:prstGeom prst="rect">
            <a:avLst/>
          </a:prstGeom>
          <a:solidFill>
            <a:srgbClr val="F3F2F2"/>
          </a:solidFill>
          <a:ln/>
        </p:spPr>
      </p:sp>
      <p:sp>
        <p:nvSpPr>
          <p:cNvPr id="7" name="Text 5"/>
          <p:cNvSpPr/>
          <p:nvPr/>
        </p:nvSpPr>
        <p:spPr>
          <a:xfrm>
            <a:off x="952500" y="2860328"/>
            <a:ext cx="5490210" cy="333375"/>
          </a:xfrm>
          <a:prstGeom prst="rect">
            <a:avLst/>
          </a:prstGeom>
          <a:noFill/>
          <a:ln/>
        </p:spPr>
        <p:txBody>
          <a:bodyPr wrap="square" lIns="25400" tIns="25400" rIns="25400" bIns="25400" rtlCol="0" anchor="t">
            <a:normAutofit/>
          </a:bodyPr>
          <a:lstStyle/>
          <a:p>
            <a:pPr algn="l" indent="0" marL="0">
              <a:lnSpc>
                <a:spcPct val="140909"/>
              </a:lnSpc>
              <a:buNone/>
            </a:pPr>
            <a:r>
              <a:rPr lang="en-US" sz="1500" b="1" spc="120" kern="0" dirty="0">
                <a:solidFill>
                  <a:srgbClr val="7D7979"/>
                </a:solidFill>
                <a:latin typeface="Archivo" pitchFamily="34" charset="0"/>
                <a:ea typeface="Archivo" pitchFamily="34" charset="-122"/>
                <a:cs typeface="Archivo" pitchFamily="34" charset="-120"/>
              </a:rPr>
              <a:t>THRESHOLD Q̂</a:t>
            </a:r>
            <a:endParaRPr lang="en-US" sz="1500" dirty="0"/>
          </a:p>
        </p:txBody>
      </p:sp>
      <p:sp>
        <p:nvSpPr>
          <p:cNvPr id="8" name="Text 6"/>
          <p:cNvSpPr/>
          <p:nvPr/>
        </p:nvSpPr>
        <p:spPr>
          <a:xfrm>
            <a:off x="952500" y="3250853"/>
            <a:ext cx="5490210" cy="952500"/>
          </a:xfrm>
          <a:prstGeom prst="rect">
            <a:avLst/>
          </a:prstGeom>
          <a:noFill/>
          <a:ln/>
        </p:spPr>
        <p:txBody>
          <a:bodyPr wrap="square" lIns="25400" tIns="25400" rIns="25400" bIns="25400" rtlCol="0" anchor="t">
            <a:normAutofit/>
          </a:bodyPr>
          <a:lstStyle/>
          <a:p>
            <a:pPr algn="l" indent="0" marL="0">
              <a:lnSpc>
                <a:spcPct val="92308"/>
              </a:lnSpc>
              <a:buNone/>
            </a:pPr>
            <a:r>
              <a:rPr lang="en-US" sz="7200" b="1" dirty="0">
                <a:solidFill>
                  <a:srgbClr val="201E1D"/>
                </a:solidFill>
                <a:latin typeface="Archivo" pitchFamily="34" charset="0"/>
                <a:ea typeface="Archivo" pitchFamily="34" charset="-122"/>
                <a:cs typeface="Archivo" pitchFamily="34" charset="-120"/>
              </a:rPr>
              <a:t>0.995</a:t>
            </a:r>
            <a:endParaRPr lang="en-US" sz="7200" dirty="0"/>
          </a:p>
        </p:txBody>
      </p:sp>
      <p:sp>
        <p:nvSpPr>
          <p:cNvPr id="9" name="Shape 7"/>
          <p:cNvSpPr/>
          <p:nvPr/>
        </p:nvSpPr>
        <p:spPr>
          <a:xfrm>
            <a:off x="6419850" y="2860328"/>
            <a:ext cx="5448300" cy="1304925"/>
          </a:xfrm>
          <a:prstGeom prst="rect">
            <a:avLst/>
          </a:prstGeom>
          <a:solidFill>
            <a:srgbClr val="F3F2F2"/>
          </a:solidFill>
          <a:ln/>
        </p:spPr>
      </p:sp>
      <p:sp>
        <p:nvSpPr>
          <p:cNvPr id="10" name="Text 8"/>
          <p:cNvSpPr/>
          <p:nvPr/>
        </p:nvSpPr>
        <p:spPr>
          <a:xfrm>
            <a:off x="6877050" y="2860328"/>
            <a:ext cx="4987290" cy="333375"/>
          </a:xfrm>
          <a:prstGeom prst="rect">
            <a:avLst/>
          </a:prstGeom>
          <a:noFill/>
          <a:ln/>
        </p:spPr>
        <p:txBody>
          <a:bodyPr wrap="square" lIns="25400" tIns="25400" rIns="25400" bIns="25400" rtlCol="0" anchor="t">
            <a:normAutofit/>
          </a:bodyPr>
          <a:lstStyle/>
          <a:p>
            <a:pPr algn="l" indent="0" marL="0">
              <a:lnSpc>
                <a:spcPct val="140909"/>
              </a:lnSpc>
              <a:buNone/>
            </a:pPr>
            <a:r>
              <a:rPr lang="en-US" sz="1500" b="1" spc="120" kern="0" dirty="0">
                <a:solidFill>
                  <a:srgbClr val="7D7979"/>
                </a:solidFill>
                <a:latin typeface="Archivo" pitchFamily="34" charset="0"/>
                <a:ea typeface="Archivo" pitchFamily="34" charset="-122"/>
                <a:cs typeface="Archivo" pitchFamily="34" charset="-120"/>
              </a:rPr>
              <a:t>EMPIRICAL COVERAGE</a:t>
            </a:r>
            <a:endParaRPr lang="en-US" sz="1500" dirty="0"/>
          </a:p>
        </p:txBody>
      </p:sp>
      <p:sp>
        <p:nvSpPr>
          <p:cNvPr id="11" name="Text 9"/>
          <p:cNvSpPr/>
          <p:nvPr/>
        </p:nvSpPr>
        <p:spPr>
          <a:xfrm>
            <a:off x="6877050" y="3250853"/>
            <a:ext cx="4987290" cy="952500"/>
          </a:xfrm>
          <a:prstGeom prst="rect">
            <a:avLst/>
          </a:prstGeom>
          <a:noFill/>
          <a:ln/>
        </p:spPr>
        <p:txBody>
          <a:bodyPr wrap="square" lIns="25400" tIns="25400" rIns="25400" bIns="25400" rtlCol="0" anchor="t">
            <a:normAutofit/>
          </a:bodyPr>
          <a:lstStyle/>
          <a:p>
            <a:pPr algn="l" indent="0" marL="0">
              <a:lnSpc>
                <a:spcPct val="92308"/>
              </a:lnSpc>
              <a:buNone/>
            </a:pPr>
            <a:r>
              <a:rPr lang="en-US" sz="7200" b="1" dirty="0">
                <a:solidFill>
                  <a:srgbClr val="EC3013"/>
                </a:solidFill>
                <a:latin typeface="Archivo" pitchFamily="34" charset="0"/>
                <a:ea typeface="Archivo" pitchFamily="34" charset="-122"/>
                <a:cs typeface="Archivo" pitchFamily="34" charset="-120"/>
              </a:rPr>
              <a:t>99.70%</a:t>
            </a:r>
            <a:endParaRPr lang="en-US" sz="7200" dirty="0"/>
          </a:p>
        </p:txBody>
      </p:sp>
      <p:sp>
        <p:nvSpPr>
          <p:cNvPr id="12" name="Shape 10"/>
          <p:cNvSpPr/>
          <p:nvPr/>
        </p:nvSpPr>
        <p:spPr>
          <a:xfrm>
            <a:off x="11887200" y="2860328"/>
            <a:ext cx="5448300" cy="1304925"/>
          </a:xfrm>
          <a:prstGeom prst="rect">
            <a:avLst/>
          </a:prstGeom>
          <a:solidFill>
            <a:srgbClr val="F3F2F2"/>
          </a:solidFill>
          <a:ln/>
        </p:spPr>
      </p:sp>
      <p:sp>
        <p:nvSpPr>
          <p:cNvPr id="13" name="Text 11"/>
          <p:cNvSpPr/>
          <p:nvPr/>
        </p:nvSpPr>
        <p:spPr>
          <a:xfrm>
            <a:off x="12344400" y="2860328"/>
            <a:ext cx="5490210" cy="333375"/>
          </a:xfrm>
          <a:prstGeom prst="rect">
            <a:avLst/>
          </a:prstGeom>
          <a:noFill/>
          <a:ln/>
        </p:spPr>
        <p:txBody>
          <a:bodyPr wrap="square" lIns="25400" tIns="25400" rIns="25400" bIns="25400" rtlCol="0" anchor="t">
            <a:normAutofit/>
          </a:bodyPr>
          <a:lstStyle/>
          <a:p>
            <a:pPr algn="l" indent="0" marL="0">
              <a:lnSpc>
                <a:spcPct val="140909"/>
              </a:lnSpc>
              <a:buNone/>
            </a:pPr>
            <a:r>
              <a:rPr lang="en-US" sz="1500" b="1" spc="120" kern="0" dirty="0">
                <a:solidFill>
                  <a:srgbClr val="7D7979"/>
                </a:solidFill>
                <a:latin typeface="Archivo" pitchFamily="34" charset="0"/>
                <a:ea typeface="Archivo" pitchFamily="34" charset="-122"/>
                <a:cs typeface="Archivo" pitchFamily="34" charset="-120"/>
              </a:rPr>
              <a:t>MEAN SET SIZE</a:t>
            </a:r>
            <a:endParaRPr lang="en-US" sz="1500" dirty="0"/>
          </a:p>
        </p:txBody>
      </p:sp>
      <p:sp>
        <p:nvSpPr>
          <p:cNvPr id="14" name="Text 12"/>
          <p:cNvSpPr/>
          <p:nvPr/>
        </p:nvSpPr>
        <p:spPr>
          <a:xfrm>
            <a:off x="12344400" y="3250853"/>
            <a:ext cx="5490210" cy="952500"/>
          </a:xfrm>
          <a:prstGeom prst="rect">
            <a:avLst/>
          </a:prstGeom>
          <a:noFill/>
          <a:ln/>
        </p:spPr>
        <p:txBody>
          <a:bodyPr wrap="square" lIns="25400" tIns="25400" rIns="25400" bIns="25400" rtlCol="0" anchor="t">
            <a:normAutofit/>
          </a:bodyPr>
          <a:lstStyle/>
          <a:p>
            <a:pPr algn="l" indent="0" marL="0">
              <a:lnSpc>
                <a:spcPct val="92308"/>
              </a:lnSpc>
              <a:buNone/>
            </a:pPr>
            <a:r>
              <a:rPr lang="en-US" sz="7200" b="1" dirty="0">
                <a:solidFill>
                  <a:srgbClr val="201E1D"/>
                </a:solidFill>
                <a:latin typeface="Archivo" pitchFamily="34" charset="0"/>
                <a:ea typeface="Archivo" pitchFamily="34" charset="-122"/>
                <a:cs typeface="Archivo" pitchFamily="34" charset="-120"/>
              </a:rPr>
              <a:t>4.04</a:t>
            </a:r>
            <a:endParaRPr lang="en-US" sz="7200" dirty="0"/>
          </a:p>
        </p:txBody>
      </p:sp>
      <p:sp>
        <p:nvSpPr>
          <p:cNvPr id="15" name="Shape 13"/>
          <p:cNvSpPr/>
          <p:nvPr/>
        </p:nvSpPr>
        <p:spPr>
          <a:xfrm>
            <a:off x="952500" y="4584353"/>
            <a:ext cx="16383000" cy="19050"/>
          </a:xfrm>
          <a:prstGeom prst="rect">
            <a:avLst/>
          </a:prstGeom>
          <a:solidFill>
            <a:srgbClr val="201E1D">
              <a:alpha val="40000"/>
            </a:srgbClr>
          </a:solidFill>
          <a:ln/>
        </p:spPr>
      </p:sp>
      <p:sp>
        <p:nvSpPr>
          <p:cNvPr id="16" name="Text 14"/>
          <p:cNvSpPr/>
          <p:nvPr/>
        </p:nvSpPr>
        <p:spPr>
          <a:xfrm>
            <a:off x="952500" y="5022503"/>
            <a:ext cx="8044815" cy="944761"/>
          </a:xfrm>
          <a:prstGeom prst="rect">
            <a:avLst/>
          </a:prstGeom>
          <a:noFill/>
          <a:ln/>
        </p:spPr>
        <p:txBody>
          <a:bodyPr wrap="square" lIns="25400" tIns="25400" rIns="25400" bIns="25400" rtlCol="0" anchor="t">
            <a:normAutofit/>
          </a:bodyPr>
          <a:lstStyle/>
          <a:p>
            <a:pPr algn="l" indent="0" marL="0">
              <a:lnSpc>
                <a:spcPct val="128649"/>
              </a:lnSpc>
              <a:buNone/>
            </a:pPr>
            <a:r>
              <a:rPr lang="en-US" sz="2550" dirty="0">
                <a:solidFill>
                  <a:srgbClr val="201E1D"/>
                </a:solidFill>
                <a:latin typeface="Archivo" pitchFamily="34" charset="0"/>
                <a:ea typeface="Archivo" pitchFamily="34" charset="-122"/>
                <a:cs typeface="Archivo" pitchFamily="34" charset="-120"/>
              </a:rPr>
              <a:t>The guarantee is a lower bound, and APS sits far above it.</a:t>
            </a:r>
            <a:endParaRPr lang="en-US" sz="2550" dirty="0"/>
          </a:p>
        </p:txBody>
      </p:sp>
      <p:sp>
        <p:nvSpPr>
          <p:cNvPr id="17" name="Text 15"/>
          <p:cNvSpPr/>
          <p:nvPr/>
        </p:nvSpPr>
        <p:spPr>
          <a:xfrm>
            <a:off x="952500" y="6195864"/>
            <a:ext cx="8044815" cy="1638300"/>
          </a:xfrm>
          <a:prstGeom prst="rect">
            <a:avLst/>
          </a:prstGeom>
          <a:noFill/>
          <a:ln/>
        </p:spPr>
        <p:txBody>
          <a:bodyPr wrap="square" lIns="25400" tIns="25400" rIns="25400" bIns="25400" rtlCol="0" anchor="t">
            <a:normAutofit/>
          </a:bodyPr>
          <a:lstStyle/>
          <a:p>
            <a:pPr algn="l" indent="0" marL="0">
              <a:lnSpc>
                <a:spcPct val="135484"/>
              </a:lnSpc>
              <a:buNone/>
            </a:pPr>
            <a:r>
              <a:rPr lang="en-US" sz="2100" dirty="0">
                <a:solidFill>
                  <a:srgbClr val="444141"/>
                </a:solidFill>
                <a:latin typeface="Archivo" pitchFamily="34" charset="0"/>
                <a:ea typeface="Archivo" pitchFamily="34" charset="-122"/>
                <a:cs typeface="Archivo" pitchFamily="34" charset="-120"/>
              </a:rPr>
              <a:t>We implemented Equation 2 without the randomised tie-breaking the paper mentions in its footnote. The greedy rule always adds one class past the threshold, so every set is at least as large as it needs to be — and never empty.</a:t>
            </a:r>
            <a:endParaRPr lang="en-US" sz="2100" dirty="0"/>
          </a:p>
        </p:txBody>
      </p:sp>
      <p:sp>
        <p:nvSpPr>
          <p:cNvPr id="18" name="Text 16"/>
          <p:cNvSpPr/>
          <p:nvPr/>
        </p:nvSpPr>
        <p:spPr>
          <a:xfrm>
            <a:off x="9525000" y="5022503"/>
            <a:ext cx="8591550" cy="491430"/>
          </a:xfrm>
          <a:prstGeom prst="rect">
            <a:avLst/>
          </a:prstGeom>
          <a:noFill/>
          <a:ln/>
        </p:spPr>
        <p:txBody>
          <a:bodyPr wrap="square" lIns="25400" tIns="25400" rIns="25400" bIns="25400" rtlCol="0" anchor="t">
            <a:normAutofit/>
          </a:bodyPr>
          <a:lstStyle/>
          <a:p>
            <a:pPr algn="l" indent="0" marL="0">
              <a:lnSpc>
                <a:spcPct val="128649"/>
              </a:lnSpc>
              <a:buNone/>
            </a:pPr>
            <a:r>
              <a:rPr lang="en-US" sz="2550" dirty="0">
                <a:solidFill>
                  <a:srgbClr val="201E1D"/>
                </a:solidFill>
                <a:latin typeface="Archivo" pitchFamily="34" charset="0"/>
                <a:ea typeface="Archivo" pitchFamily="34" charset="-122"/>
                <a:cs typeface="Archivo" pitchFamily="34" charset="-120"/>
              </a:rPr>
              <a:t>Overconfident tails inflate q̂.</a:t>
            </a:r>
            <a:endParaRPr lang="en-US" sz="2550" dirty="0"/>
          </a:p>
        </p:txBody>
      </p:sp>
      <p:sp>
        <p:nvSpPr>
          <p:cNvPr id="19" name="Text 17"/>
          <p:cNvSpPr/>
          <p:nvPr/>
        </p:nvSpPr>
        <p:spPr>
          <a:xfrm>
            <a:off x="9525000" y="5742533"/>
            <a:ext cx="8044815" cy="1638300"/>
          </a:xfrm>
          <a:prstGeom prst="rect">
            <a:avLst/>
          </a:prstGeom>
          <a:noFill/>
          <a:ln/>
        </p:spPr>
        <p:txBody>
          <a:bodyPr wrap="square" lIns="25400" tIns="25400" rIns="25400" bIns="25400" rtlCol="0" anchor="t">
            <a:normAutofit/>
          </a:bodyPr>
          <a:lstStyle/>
          <a:p>
            <a:pPr algn="l" indent="0" marL="0">
              <a:lnSpc>
                <a:spcPct val="135484"/>
              </a:lnSpc>
              <a:buNone/>
            </a:pPr>
            <a:r>
              <a:rPr lang="en-US" sz="2100" dirty="0">
                <a:solidFill>
                  <a:srgbClr val="444141"/>
                </a:solidFill>
                <a:latin typeface="Archivo" pitchFamily="34" charset="0"/>
                <a:ea typeface="Archivo" pitchFamily="34" charset="-122"/>
                <a:cs typeface="Archivo" pitchFamily="34" charset="-120"/>
              </a:rPr>
              <a:t>For the ~11% of calibration images the network gets badly wrong, the true class sits near the bottom of the ranking, so the cumulative mass needed to reach it is close to 1. The 90th percentile of that distribution is 0.9948, and every test image then pays for it.</a:t>
            </a:r>
            <a:endParaRPr lang="en-US" sz="2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3F2F2"/>
        </a:solidFill>
      </p:bgPr>
    </p:bg>
    <p:spTree>
      <p:nvGrpSpPr>
        <p:cNvPr id="1" name=""/>
        <p:cNvGrpSpPr/>
        <p:nvPr/>
      </p:nvGrpSpPr>
      <p:grpSpPr>
        <a:xfrm>
          <a:off x="0" y="0"/>
          <a:ext cx="0" cy="0"/>
          <a:chOff x="0" y="0"/>
          <a:chExt cx="0" cy="0"/>
        </a:xfrm>
      </p:grpSpPr>
      <p:sp>
        <p:nvSpPr>
          <p:cNvPr id="2" name="Text 0"/>
          <p:cNvSpPr/>
          <p:nvPr/>
        </p:nvSpPr>
        <p:spPr>
          <a:xfrm>
            <a:off x="952500" y="952500"/>
            <a:ext cx="18021300" cy="392311"/>
          </a:xfrm>
          <a:prstGeom prst="rect">
            <a:avLst/>
          </a:prstGeom>
          <a:noFill/>
          <a:ln/>
        </p:spPr>
        <p:txBody>
          <a:bodyPr wrap="square" lIns="25400" tIns="25400" rIns="25400" bIns="25400" rtlCol="0" anchor="t">
            <a:normAutofit/>
          </a:bodyPr>
          <a:lstStyle/>
          <a:p>
            <a:pPr algn="l" indent="0" marL="0">
              <a:lnSpc>
                <a:spcPct val="143077"/>
              </a:lnSpc>
              <a:buNone/>
            </a:pPr>
            <a:r>
              <a:rPr lang="en-US" sz="1800" b="1" spc="216" kern="0" dirty="0">
                <a:solidFill>
                  <a:srgbClr val="EC3013"/>
                </a:solidFill>
                <a:latin typeface="Archivo" pitchFamily="34" charset="0"/>
                <a:ea typeface="Archivo" pitchFamily="34" charset="-122"/>
                <a:cs typeface="Archivo" pitchFamily="34" charset="-120"/>
              </a:rPr>
              <a:t>ILLUSTRATION</a:t>
            </a:r>
            <a:endParaRPr lang="en-US" sz="1800" dirty="0"/>
          </a:p>
        </p:txBody>
      </p:sp>
      <p:sp>
        <p:nvSpPr>
          <p:cNvPr id="3" name="Text 1"/>
          <p:cNvSpPr/>
          <p:nvPr/>
        </p:nvSpPr>
        <p:spPr>
          <a:xfrm>
            <a:off x="952500" y="1421011"/>
            <a:ext cx="18021300" cy="696367"/>
          </a:xfrm>
          <a:prstGeom prst="rect">
            <a:avLst/>
          </a:prstGeom>
          <a:noFill/>
          <a:ln/>
        </p:spPr>
        <p:txBody>
          <a:bodyPr wrap="square" lIns="25400" tIns="25400" rIns="25400" bIns="25400" rtlCol="0" anchor="t">
            <a:normAutofit/>
          </a:bodyPr>
          <a:lstStyle/>
          <a:p>
            <a:pPr algn="l" indent="0" marL="0">
              <a:lnSpc>
                <a:spcPct val="100174"/>
              </a:lnSpc>
              <a:buNone/>
            </a:pPr>
            <a:r>
              <a:rPr lang="en-US" sz="4800" b="1" spc="-72" kern="0" dirty="0">
                <a:solidFill>
                  <a:srgbClr val="201E1D"/>
                </a:solidFill>
                <a:latin typeface="Archivo" pitchFamily="34" charset="0"/>
                <a:ea typeface="Archivo" pitchFamily="34" charset="-122"/>
                <a:cs typeface="Archivo" pitchFamily="34" charset="-120"/>
              </a:rPr>
              <a:t>Prediction Sets on Real Digits</a:t>
            </a:r>
            <a:endParaRPr lang="en-US" sz="4800" dirty="0"/>
          </a:p>
        </p:txBody>
      </p:sp>
      <p:sp>
        <p:nvSpPr>
          <p:cNvPr id="4" name="Shape 2"/>
          <p:cNvSpPr/>
          <p:nvPr/>
        </p:nvSpPr>
        <p:spPr>
          <a:xfrm>
            <a:off x="952500" y="2422178"/>
            <a:ext cx="16383000" cy="19050"/>
          </a:xfrm>
          <a:prstGeom prst="rect">
            <a:avLst/>
          </a:prstGeom>
          <a:solidFill>
            <a:srgbClr val="201E1D">
              <a:alpha val="40000"/>
            </a:srgbClr>
          </a:solidFill>
          <a:ln/>
        </p:spPr>
      </p:sp>
      <p:sp>
        <p:nvSpPr>
          <p:cNvPr id="5" name="Shape 3"/>
          <p:cNvSpPr/>
          <p:nvPr/>
        </p:nvSpPr>
        <p:spPr>
          <a:xfrm>
            <a:off x="952500" y="2860328"/>
            <a:ext cx="16383000" cy="6013252"/>
          </a:xfrm>
          <a:prstGeom prst="rect">
            <a:avLst/>
          </a:prstGeom>
          <a:solidFill>
            <a:srgbClr val="201E1D">
              <a:alpha val="40000"/>
            </a:srgbClr>
          </a:solidFill>
          <a:ln/>
        </p:spPr>
      </p:sp>
      <p:sp>
        <p:nvSpPr>
          <p:cNvPr id="6" name="Shape 4"/>
          <p:cNvSpPr/>
          <p:nvPr/>
        </p:nvSpPr>
        <p:spPr>
          <a:xfrm>
            <a:off x="952500" y="2860328"/>
            <a:ext cx="2714625" cy="6013252"/>
          </a:xfrm>
          <a:prstGeom prst="rect">
            <a:avLst/>
          </a:prstGeom>
          <a:solidFill>
            <a:srgbClr val="F3F2F2"/>
          </a:solidFill>
          <a:ln/>
        </p:spPr>
      </p:sp>
      <p:pic>
        <p:nvPicPr>
          <p:cNvPr id="7" name="Image 0" descr="preencoded.png">    </p:cNvPr>
          <p:cNvPicPr>
            <a:picLocks noChangeAspect="1"/>
          </p:cNvPicPr>
          <p:nvPr/>
        </p:nvPicPr>
        <p:blipFill>
          <a:blip r:embed="rId1"/>
          <a:srcRect l="0" r="0" t="0" b="0"/>
          <a:stretch/>
        </p:blipFill>
        <p:spPr>
          <a:xfrm>
            <a:off x="952500" y="2860328"/>
            <a:ext cx="2466975" cy="2466975"/>
          </a:xfrm>
          <a:prstGeom prst="rect">
            <a:avLst/>
          </a:prstGeom>
        </p:spPr>
      </p:pic>
      <p:sp>
        <p:nvSpPr>
          <p:cNvPr id="8" name="Text 5"/>
          <p:cNvSpPr/>
          <p:nvPr/>
        </p:nvSpPr>
        <p:spPr>
          <a:xfrm>
            <a:off x="952500" y="5517803"/>
            <a:ext cx="2713673" cy="421928"/>
          </a:xfrm>
          <a:prstGeom prst="rect">
            <a:avLst/>
          </a:prstGeom>
          <a:noFill/>
          <a:ln/>
        </p:spPr>
        <p:txBody>
          <a:bodyPr wrap="square" lIns="25400" tIns="25400" rIns="25400" bIns="25400" rtlCol="0" anchor="t">
            <a:normAutofit/>
          </a:bodyPr>
          <a:lstStyle/>
          <a:p>
            <a:pPr algn="l" indent="0" marL="0">
              <a:lnSpc>
                <a:spcPct val="143929"/>
              </a:lnSpc>
              <a:buNone/>
            </a:pPr>
            <a:r>
              <a:rPr lang="en-US" sz="1950" b="1" spc="117" kern="0" dirty="0">
                <a:solidFill>
                  <a:srgbClr val="7D7979"/>
                </a:solidFill>
                <a:latin typeface="Archivo" pitchFamily="34" charset="0"/>
                <a:ea typeface="Archivo" pitchFamily="34" charset="-122"/>
                <a:cs typeface="Archivo" pitchFamily="34" charset="-120"/>
              </a:rPr>
              <a:t>TRUE 9</a:t>
            </a:r>
            <a:endParaRPr lang="en-US" sz="1950" dirty="0"/>
          </a:p>
        </p:txBody>
      </p:sp>
      <p:sp>
        <p:nvSpPr>
          <p:cNvPr id="9" name="Text 6"/>
          <p:cNvSpPr/>
          <p:nvPr/>
        </p:nvSpPr>
        <p:spPr>
          <a:xfrm>
            <a:off x="952500" y="6092130"/>
            <a:ext cx="2713673" cy="481012"/>
          </a:xfrm>
          <a:prstGeom prst="rect">
            <a:avLst/>
          </a:prstGeom>
          <a:noFill/>
          <a:ln/>
        </p:spPr>
        <p:txBody>
          <a:bodyPr wrap="square" lIns="25400" tIns="25400" rIns="25400" bIns="25400" rtlCol="0" anchor="t">
            <a:normAutofit/>
          </a:bodyPr>
          <a:lstStyle/>
          <a:p>
            <a:pPr algn="l" indent="0" marL="0">
              <a:lnSpc>
                <a:spcPct val="145313"/>
              </a:lnSpc>
              <a:buNone/>
            </a:pPr>
            <a:r>
              <a:rPr lang="en-US" sz="2250" dirty="0">
                <a:solidFill>
                  <a:srgbClr val="201E1D"/>
                </a:solidFill>
                <a:latin typeface="Archivo" pitchFamily="34" charset="0"/>
                <a:ea typeface="Archivo" pitchFamily="34" charset="-122"/>
                <a:cs typeface="Archivo" pitchFamily="34" charset="-120"/>
              </a:rPr>
              <a:t>LAC {9}</a:t>
            </a:r>
            <a:endParaRPr lang="en-US" sz="2250" dirty="0"/>
          </a:p>
        </p:txBody>
      </p:sp>
      <p:sp>
        <p:nvSpPr>
          <p:cNvPr id="10" name="Text 7"/>
          <p:cNvSpPr/>
          <p:nvPr/>
        </p:nvSpPr>
        <p:spPr>
          <a:xfrm>
            <a:off x="952500" y="6725543"/>
            <a:ext cx="2713673" cy="481012"/>
          </a:xfrm>
          <a:prstGeom prst="rect">
            <a:avLst/>
          </a:prstGeom>
          <a:noFill/>
          <a:ln/>
        </p:spPr>
        <p:txBody>
          <a:bodyPr wrap="square" lIns="25400" tIns="25400" rIns="25400" bIns="25400" rtlCol="0" anchor="t">
            <a:normAutofit/>
          </a:bodyPr>
          <a:lstStyle/>
          <a:p>
            <a:pPr algn="l" indent="0" marL="0">
              <a:lnSpc>
                <a:spcPct val="145313"/>
              </a:lnSpc>
              <a:buNone/>
            </a:pPr>
            <a:r>
              <a:rPr lang="en-US" sz="2250" dirty="0">
                <a:solidFill>
                  <a:srgbClr val="EC3013"/>
                </a:solidFill>
                <a:latin typeface="Archivo" pitchFamily="34" charset="0"/>
                <a:ea typeface="Archivo" pitchFamily="34" charset="-122"/>
                <a:cs typeface="Archivo" pitchFamily="34" charset="-120"/>
              </a:rPr>
              <a:t>APS {3,4,5,8,9}</a:t>
            </a:r>
            <a:endParaRPr lang="en-US" sz="2250" dirty="0"/>
          </a:p>
        </p:txBody>
      </p:sp>
      <p:sp>
        <p:nvSpPr>
          <p:cNvPr id="11" name="Shape 8"/>
          <p:cNvSpPr/>
          <p:nvPr/>
        </p:nvSpPr>
        <p:spPr>
          <a:xfrm>
            <a:off x="3686175" y="2860328"/>
            <a:ext cx="2714625" cy="6013252"/>
          </a:xfrm>
          <a:prstGeom prst="rect">
            <a:avLst/>
          </a:prstGeom>
          <a:solidFill>
            <a:srgbClr val="F3F2F2"/>
          </a:solidFill>
          <a:ln/>
        </p:spPr>
      </p:sp>
      <p:pic>
        <p:nvPicPr>
          <p:cNvPr id="12" name="Image 1" descr="preencoded.png">    </p:cNvPr>
          <p:cNvPicPr>
            <a:picLocks noChangeAspect="1"/>
          </p:cNvPicPr>
          <p:nvPr/>
        </p:nvPicPr>
        <p:blipFill>
          <a:blip r:embed="rId2"/>
          <a:srcRect l="0" r="0" t="0" b="0"/>
          <a:stretch/>
        </p:blipFill>
        <p:spPr>
          <a:xfrm>
            <a:off x="3933825" y="2860328"/>
            <a:ext cx="2219325" cy="2219325"/>
          </a:xfrm>
          <a:prstGeom prst="rect">
            <a:avLst/>
          </a:prstGeom>
        </p:spPr>
      </p:pic>
      <p:sp>
        <p:nvSpPr>
          <p:cNvPr id="13" name="Text 9"/>
          <p:cNvSpPr/>
          <p:nvPr/>
        </p:nvSpPr>
        <p:spPr>
          <a:xfrm>
            <a:off x="3933825" y="5270153"/>
            <a:ext cx="2441258" cy="421928"/>
          </a:xfrm>
          <a:prstGeom prst="rect">
            <a:avLst/>
          </a:prstGeom>
          <a:noFill/>
          <a:ln/>
        </p:spPr>
        <p:txBody>
          <a:bodyPr wrap="square" lIns="25400" tIns="25400" rIns="25400" bIns="25400" rtlCol="0" anchor="t">
            <a:normAutofit/>
          </a:bodyPr>
          <a:lstStyle/>
          <a:p>
            <a:pPr algn="l" indent="0" marL="0">
              <a:lnSpc>
                <a:spcPct val="143929"/>
              </a:lnSpc>
              <a:buNone/>
            </a:pPr>
            <a:r>
              <a:rPr lang="en-US" sz="1950" b="1" spc="117" kern="0" dirty="0">
                <a:solidFill>
                  <a:srgbClr val="7D7979"/>
                </a:solidFill>
                <a:latin typeface="Archivo" pitchFamily="34" charset="0"/>
                <a:ea typeface="Archivo" pitchFamily="34" charset="-122"/>
                <a:cs typeface="Archivo" pitchFamily="34" charset="-120"/>
              </a:rPr>
              <a:t>TRUE 0</a:t>
            </a:r>
            <a:endParaRPr lang="en-US" sz="1950" dirty="0"/>
          </a:p>
        </p:txBody>
      </p:sp>
      <p:sp>
        <p:nvSpPr>
          <p:cNvPr id="14" name="Text 10"/>
          <p:cNvSpPr/>
          <p:nvPr/>
        </p:nvSpPr>
        <p:spPr>
          <a:xfrm>
            <a:off x="3933825" y="5844480"/>
            <a:ext cx="2441258" cy="481012"/>
          </a:xfrm>
          <a:prstGeom prst="rect">
            <a:avLst/>
          </a:prstGeom>
          <a:noFill/>
          <a:ln/>
        </p:spPr>
        <p:txBody>
          <a:bodyPr wrap="square" lIns="25400" tIns="25400" rIns="25400" bIns="25400" rtlCol="0" anchor="t">
            <a:normAutofit/>
          </a:bodyPr>
          <a:lstStyle/>
          <a:p>
            <a:pPr algn="l" indent="0" marL="0">
              <a:lnSpc>
                <a:spcPct val="145313"/>
              </a:lnSpc>
              <a:buNone/>
            </a:pPr>
            <a:r>
              <a:rPr lang="en-US" sz="2250" dirty="0">
                <a:solidFill>
                  <a:srgbClr val="201E1D"/>
                </a:solidFill>
                <a:latin typeface="Archivo" pitchFamily="34" charset="0"/>
                <a:ea typeface="Archivo" pitchFamily="34" charset="-122"/>
                <a:cs typeface="Archivo" pitchFamily="34" charset="-120"/>
              </a:rPr>
              <a:t>LAC {0}</a:t>
            </a:r>
            <a:endParaRPr lang="en-US" sz="2250" dirty="0"/>
          </a:p>
        </p:txBody>
      </p:sp>
      <p:sp>
        <p:nvSpPr>
          <p:cNvPr id="15" name="Text 11"/>
          <p:cNvSpPr/>
          <p:nvPr/>
        </p:nvSpPr>
        <p:spPr>
          <a:xfrm>
            <a:off x="3933825" y="6477893"/>
            <a:ext cx="2441258" cy="481012"/>
          </a:xfrm>
          <a:prstGeom prst="rect">
            <a:avLst/>
          </a:prstGeom>
          <a:noFill/>
          <a:ln/>
        </p:spPr>
        <p:txBody>
          <a:bodyPr wrap="square" lIns="25400" tIns="25400" rIns="25400" bIns="25400" rtlCol="0" anchor="t">
            <a:normAutofit/>
          </a:bodyPr>
          <a:lstStyle/>
          <a:p>
            <a:pPr algn="l" indent="0" marL="0">
              <a:lnSpc>
                <a:spcPct val="145313"/>
              </a:lnSpc>
              <a:buNone/>
            </a:pPr>
            <a:r>
              <a:rPr lang="en-US" sz="2250" dirty="0">
                <a:solidFill>
                  <a:srgbClr val="EC3013"/>
                </a:solidFill>
                <a:latin typeface="Archivo" pitchFamily="34" charset="0"/>
                <a:ea typeface="Archivo" pitchFamily="34" charset="-122"/>
                <a:cs typeface="Archivo" pitchFamily="34" charset="-120"/>
              </a:rPr>
              <a:t>APS {0,2,6}</a:t>
            </a:r>
            <a:endParaRPr lang="en-US" sz="2250" dirty="0"/>
          </a:p>
        </p:txBody>
      </p:sp>
      <p:sp>
        <p:nvSpPr>
          <p:cNvPr id="16" name="Shape 12"/>
          <p:cNvSpPr/>
          <p:nvPr/>
        </p:nvSpPr>
        <p:spPr>
          <a:xfrm>
            <a:off x="6419850" y="2860328"/>
            <a:ext cx="2714625" cy="6013252"/>
          </a:xfrm>
          <a:prstGeom prst="rect">
            <a:avLst/>
          </a:prstGeom>
          <a:solidFill>
            <a:srgbClr val="F3F2F2"/>
          </a:solidFill>
          <a:ln/>
        </p:spPr>
      </p:sp>
      <p:pic>
        <p:nvPicPr>
          <p:cNvPr id="17" name="Image 2" descr="preencoded.png">    </p:cNvPr>
          <p:cNvPicPr>
            <a:picLocks noChangeAspect="1"/>
          </p:cNvPicPr>
          <p:nvPr/>
        </p:nvPicPr>
        <p:blipFill>
          <a:blip r:embed="rId3"/>
          <a:srcRect l="0" r="0" t="0" b="0"/>
          <a:stretch/>
        </p:blipFill>
        <p:spPr>
          <a:xfrm>
            <a:off x="6667500" y="2860328"/>
            <a:ext cx="2219325" cy="2219325"/>
          </a:xfrm>
          <a:prstGeom prst="rect">
            <a:avLst/>
          </a:prstGeom>
        </p:spPr>
      </p:pic>
      <p:sp>
        <p:nvSpPr>
          <p:cNvPr id="18" name="Text 13"/>
          <p:cNvSpPr/>
          <p:nvPr/>
        </p:nvSpPr>
        <p:spPr>
          <a:xfrm>
            <a:off x="6667500" y="5270153"/>
            <a:ext cx="2441258" cy="421928"/>
          </a:xfrm>
          <a:prstGeom prst="rect">
            <a:avLst/>
          </a:prstGeom>
          <a:noFill/>
          <a:ln/>
        </p:spPr>
        <p:txBody>
          <a:bodyPr wrap="square" lIns="25400" tIns="25400" rIns="25400" bIns="25400" rtlCol="0" anchor="t">
            <a:normAutofit/>
          </a:bodyPr>
          <a:lstStyle/>
          <a:p>
            <a:pPr algn="l" indent="0" marL="0">
              <a:lnSpc>
                <a:spcPct val="143929"/>
              </a:lnSpc>
              <a:buNone/>
            </a:pPr>
            <a:r>
              <a:rPr lang="en-US" sz="1950" b="1" spc="117" kern="0" dirty="0">
                <a:solidFill>
                  <a:srgbClr val="7D7979"/>
                </a:solidFill>
                <a:latin typeface="Archivo" pitchFamily="34" charset="0"/>
                <a:ea typeface="Archivo" pitchFamily="34" charset="-122"/>
                <a:cs typeface="Archivo" pitchFamily="34" charset="-120"/>
              </a:rPr>
              <a:t>TRUE 7</a:t>
            </a:r>
            <a:endParaRPr lang="en-US" sz="1950" dirty="0"/>
          </a:p>
        </p:txBody>
      </p:sp>
      <p:sp>
        <p:nvSpPr>
          <p:cNvPr id="19" name="Text 14"/>
          <p:cNvSpPr/>
          <p:nvPr/>
        </p:nvSpPr>
        <p:spPr>
          <a:xfrm>
            <a:off x="6667500" y="5844480"/>
            <a:ext cx="2441258" cy="481012"/>
          </a:xfrm>
          <a:prstGeom prst="rect">
            <a:avLst/>
          </a:prstGeom>
          <a:noFill/>
          <a:ln/>
        </p:spPr>
        <p:txBody>
          <a:bodyPr wrap="square" lIns="25400" tIns="25400" rIns="25400" bIns="25400" rtlCol="0" anchor="t">
            <a:normAutofit/>
          </a:bodyPr>
          <a:lstStyle/>
          <a:p>
            <a:pPr algn="l" indent="0" marL="0">
              <a:lnSpc>
                <a:spcPct val="145313"/>
              </a:lnSpc>
              <a:buNone/>
            </a:pPr>
            <a:r>
              <a:rPr lang="en-US" sz="2250" dirty="0">
                <a:solidFill>
                  <a:srgbClr val="201E1D"/>
                </a:solidFill>
                <a:latin typeface="Archivo" pitchFamily="34" charset="0"/>
                <a:ea typeface="Archivo" pitchFamily="34" charset="-122"/>
                <a:cs typeface="Archivo" pitchFamily="34" charset="-120"/>
              </a:rPr>
              <a:t>LAC {7}</a:t>
            </a:r>
            <a:endParaRPr lang="en-US" sz="2250" dirty="0"/>
          </a:p>
        </p:txBody>
      </p:sp>
      <p:sp>
        <p:nvSpPr>
          <p:cNvPr id="20" name="Text 15"/>
          <p:cNvSpPr/>
          <p:nvPr/>
        </p:nvSpPr>
        <p:spPr>
          <a:xfrm>
            <a:off x="6667500" y="6477893"/>
            <a:ext cx="2441258" cy="481012"/>
          </a:xfrm>
          <a:prstGeom prst="rect">
            <a:avLst/>
          </a:prstGeom>
          <a:noFill/>
          <a:ln/>
        </p:spPr>
        <p:txBody>
          <a:bodyPr wrap="square" lIns="25400" tIns="25400" rIns="25400" bIns="25400" rtlCol="0" anchor="t">
            <a:normAutofit/>
          </a:bodyPr>
          <a:lstStyle/>
          <a:p>
            <a:pPr algn="l" indent="0" marL="0">
              <a:lnSpc>
                <a:spcPct val="145313"/>
              </a:lnSpc>
              <a:buNone/>
            </a:pPr>
            <a:r>
              <a:rPr lang="en-US" sz="2250" dirty="0">
                <a:solidFill>
                  <a:srgbClr val="EC3013"/>
                </a:solidFill>
                <a:latin typeface="Archivo" pitchFamily="34" charset="0"/>
                <a:ea typeface="Archivo" pitchFamily="34" charset="-122"/>
                <a:cs typeface="Archivo" pitchFamily="34" charset="-120"/>
              </a:rPr>
              <a:t>APS {7,9}</a:t>
            </a:r>
            <a:endParaRPr lang="en-US" sz="2250" dirty="0"/>
          </a:p>
        </p:txBody>
      </p:sp>
      <p:sp>
        <p:nvSpPr>
          <p:cNvPr id="21" name="Shape 16"/>
          <p:cNvSpPr/>
          <p:nvPr/>
        </p:nvSpPr>
        <p:spPr>
          <a:xfrm>
            <a:off x="9153525" y="2860328"/>
            <a:ext cx="2714625" cy="6013252"/>
          </a:xfrm>
          <a:prstGeom prst="rect">
            <a:avLst/>
          </a:prstGeom>
          <a:solidFill>
            <a:srgbClr val="F3F2F2"/>
          </a:solidFill>
          <a:ln/>
        </p:spPr>
      </p:sp>
      <p:pic>
        <p:nvPicPr>
          <p:cNvPr id="22" name="Image 3" descr="preencoded.png">    </p:cNvPr>
          <p:cNvPicPr>
            <a:picLocks noChangeAspect="1"/>
          </p:cNvPicPr>
          <p:nvPr/>
        </p:nvPicPr>
        <p:blipFill>
          <a:blip r:embed="rId4"/>
          <a:srcRect l="0" r="0" t="0" b="0"/>
          <a:stretch/>
        </p:blipFill>
        <p:spPr>
          <a:xfrm>
            <a:off x="9401175" y="2860328"/>
            <a:ext cx="2219325" cy="2219325"/>
          </a:xfrm>
          <a:prstGeom prst="rect">
            <a:avLst/>
          </a:prstGeom>
        </p:spPr>
      </p:pic>
      <p:sp>
        <p:nvSpPr>
          <p:cNvPr id="23" name="Text 17"/>
          <p:cNvSpPr/>
          <p:nvPr/>
        </p:nvSpPr>
        <p:spPr>
          <a:xfrm>
            <a:off x="9401175" y="5270153"/>
            <a:ext cx="2441258" cy="421928"/>
          </a:xfrm>
          <a:prstGeom prst="rect">
            <a:avLst/>
          </a:prstGeom>
          <a:noFill/>
          <a:ln/>
        </p:spPr>
        <p:txBody>
          <a:bodyPr wrap="square" lIns="25400" tIns="25400" rIns="25400" bIns="25400" rtlCol="0" anchor="t">
            <a:normAutofit/>
          </a:bodyPr>
          <a:lstStyle/>
          <a:p>
            <a:pPr algn="l" indent="0" marL="0">
              <a:lnSpc>
                <a:spcPct val="143929"/>
              </a:lnSpc>
              <a:buNone/>
            </a:pPr>
            <a:r>
              <a:rPr lang="en-US" sz="1950" b="1" spc="117" kern="0" dirty="0">
                <a:solidFill>
                  <a:srgbClr val="7D7979"/>
                </a:solidFill>
                <a:latin typeface="Archivo" pitchFamily="34" charset="0"/>
                <a:ea typeface="Archivo" pitchFamily="34" charset="-122"/>
                <a:cs typeface="Archivo" pitchFamily="34" charset="-120"/>
              </a:rPr>
              <a:t>TRUE 2</a:t>
            </a:r>
            <a:endParaRPr lang="en-US" sz="1950" dirty="0"/>
          </a:p>
        </p:txBody>
      </p:sp>
      <p:sp>
        <p:nvSpPr>
          <p:cNvPr id="24" name="Text 18"/>
          <p:cNvSpPr/>
          <p:nvPr/>
        </p:nvSpPr>
        <p:spPr>
          <a:xfrm>
            <a:off x="9401175" y="5844480"/>
            <a:ext cx="2441258" cy="481012"/>
          </a:xfrm>
          <a:prstGeom prst="rect">
            <a:avLst/>
          </a:prstGeom>
          <a:noFill/>
          <a:ln/>
        </p:spPr>
        <p:txBody>
          <a:bodyPr wrap="square" lIns="25400" tIns="25400" rIns="25400" bIns="25400" rtlCol="0" anchor="t">
            <a:normAutofit/>
          </a:bodyPr>
          <a:lstStyle/>
          <a:p>
            <a:pPr algn="l" indent="0" marL="0">
              <a:lnSpc>
                <a:spcPct val="145313"/>
              </a:lnSpc>
              <a:buNone/>
            </a:pPr>
            <a:r>
              <a:rPr lang="en-US" sz="2250" dirty="0">
                <a:solidFill>
                  <a:srgbClr val="201E1D"/>
                </a:solidFill>
                <a:latin typeface="Archivo" pitchFamily="34" charset="0"/>
                <a:ea typeface="Archivo" pitchFamily="34" charset="-122"/>
                <a:cs typeface="Archivo" pitchFamily="34" charset="-120"/>
              </a:rPr>
              <a:t>LAC {2}</a:t>
            </a:r>
            <a:endParaRPr lang="en-US" sz="2250" dirty="0"/>
          </a:p>
        </p:txBody>
      </p:sp>
      <p:sp>
        <p:nvSpPr>
          <p:cNvPr id="25" name="Text 19"/>
          <p:cNvSpPr/>
          <p:nvPr/>
        </p:nvSpPr>
        <p:spPr>
          <a:xfrm>
            <a:off x="9401175" y="6477893"/>
            <a:ext cx="2441258" cy="481012"/>
          </a:xfrm>
          <a:prstGeom prst="rect">
            <a:avLst/>
          </a:prstGeom>
          <a:noFill/>
          <a:ln/>
        </p:spPr>
        <p:txBody>
          <a:bodyPr wrap="square" lIns="25400" tIns="25400" rIns="25400" bIns="25400" rtlCol="0" anchor="t">
            <a:normAutofit/>
          </a:bodyPr>
          <a:lstStyle/>
          <a:p>
            <a:pPr algn="l" indent="0" marL="0">
              <a:lnSpc>
                <a:spcPct val="145313"/>
              </a:lnSpc>
              <a:buNone/>
            </a:pPr>
            <a:r>
              <a:rPr lang="en-US" sz="2250" dirty="0">
                <a:solidFill>
                  <a:srgbClr val="EC3013"/>
                </a:solidFill>
                <a:latin typeface="Archivo" pitchFamily="34" charset="0"/>
                <a:ea typeface="Archivo" pitchFamily="34" charset="-122"/>
                <a:cs typeface="Archivo" pitchFamily="34" charset="-120"/>
              </a:rPr>
              <a:t>APS {2,6}</a:t>
            </a:r>
            <a:endParaRPr lang="en-US" sz="2250" dirty="0"/>
          </a:p>
        </p:txBody>
      </p:sp>
      <p:sp>
        <p:nvSpPr>
          <p:cNvPr id="26" name="Shape 20"/>
          <p:cNvSpPr/>
          <p:nvPr/>
        </p:nvSpPr>
        <p:spPr>
          <a:xfrm>
            <a:off x="11887200" y="2860328"/>
            <a:ext cx="2714625" cy="6013252"/>
          </a:xfrm>
          <a:prstGeom prst="rect">
            <a:avLst/>
          </a:prstGeom>
          <a:solidFill>
            <a:srgbClr val="F3F2F2"/>
          </a:solidFill>
          <a:ln/>
        </p:spPr>
      </p:sp>
      <p:pic>
        <p:nvPicPr>
          <p:cNvPr id="27" name="Image 4" descr="preencoded.png">    </p:cNvPr>
          <p:cNvPicPr>
            <a:picLocks noChangeAspect="1"/>
          </p:cNvPicPr>
          <p:nvPr/>
        </p:nvPicPr>
        <p:blipFill>
          <a:blip r:embed="rId5"/>
          <a:srcRect l="0" r="0" t="0" b="0"/>
          <a:stretch/>
        </p:blipFill>
        <p:spPr>
          <a:xfrm>
            <a:off x="12134850" y="2860328"/>
            <a:ext cx="2219325" cy="2219325"/>
          </a:xfrm>
          <a:prstGeom prst="rect">
            <a:avLst/>
          </a:prstGeom>
        </p:spPr>
      </p:pic>
      <p:sp>
        <p:nvSpPr>
          <p:cNvPr id="28" name="Text 21"/>
          <p:cNvSpPr/>
          <p:nvPr/>
        </p:nvSpPr>
        <p:spPr>
          <a:xfrm>
            <a:off x="12134850" y="5270153"/>
            <a:ext cx="2441258" cy="421928"/>
          </a:xfrm>
          <a:prstGeom prst="rect">
            <a:avLst/>
          </a:prstGeom>
          <a:noFill/>
          <a:ln/>
        </p:spPr>
        <p:txBody>
          <a:bodyPr wrap="square" lIns="25400" tIns="25400" rIns="25400" bIns="25400" rtlCol="0" anchor="t">
            <a:normAutofit/>
          </a:bodyPr>
          <a:lstStyle/>
          <a:p>
            <a:pPr algn="l" indent="0" marL="0">
              <a:lnSpc>
                <a:spcPct val="143929"/>
              </a:lnSpc>
              <a:buNone/>
            </a:pPr>
            <a:r>
              <a:rPr lang="en-US" sz="1950" b="1" spc="117" kern="0" dirty="0">
                <a:solidFill>
                  <a:srgbClr val="7D7979"/>
                </a:solidFill>
                <a:latin typeface="Archivo" pitchFamily="34" charset="0"/>
                <a:ea typeface="Archivo" pitchFamily="34" charset="-122"/>
                <a:cs typeface="Archivo" pitchFamily="34" charset="-120"/>
              </a:rPr>
              <a:t>TRUE 6</a:t>
            </a:r>
            <a:endParaRPr lang="en-US" sz="1950" dirty="0"/>
          </a:p>
        </p:txBody>
      </p:sp>
      <p:sp>
        <p:nvSpPr>
          <p:cNvPr id="29" name="Text 22"/>
          <p:cNvSpPr/>
          <p:nvPr/>
        </p:nvSpPr>
        <p:spPr>
          <a:xfrm>
            <a:off x="12134850" y="5844480"/>
            <a:ext cx="2441258" cy="481012"/>
          </a:xfrm>
          <a:prstGeom prst="rect">
            <a:avLst/>
          </a:prstGeom>
          <a:noFill/>
          <a:ln/>
        </p:spPr>
        <p:txBody>
          <a:bodyPr wrap="square" lIns="25400" tIns="25400" rIns="25400" bIns="25400" rtlCol="0" anchor="t">
            <a:normAutofit/>
          </a:bodyPr>
          <a:lstStyle/>
          <a:p>
            <a:pPr algn="l" indent="0" marL="0">
              <a:lnSpc>
                <a:spcPct val="145313"/>
              </a:lnSpc>
              <a:buNone/>
            </a:pPr>
            <a:r>
              <a:rPr lang="en-US" sz="2250" dirty="0">
                <a:solidFill>
                  <a:srgbClr val="201E1D"/>
                </a:solidFill>
                <a:latin typeface="Archivo" pitchFamily="34" charset="0"/>
                <a:ea typeface="Archivo" pitchFamily="34" charset="-122"/>
                <a:cs typeface="Archivo" pitchFamily="34" charset="-120"/>
              </a:rPr>
              <a:t>LAC {6}</a:t>
            </a:r>
            <a:endParaRPr lang="en-US" sz="2250" dirty="0"/>
          </a:p>
        </p:txBody>
      </p:sp>
      <p:sp>
        <p:nvSpPr>
          <p:cNvPr id="30" name="Text 23"/>
          <p:cNvSpPr/>
          <p:nvPr/>
        </p:nvSpPr>
        <p:spPr>
          <a:xfrm>
            <a:off x="12134850" y="6477893"/>
            <a:ext cx="2441258" cy="481012"/>
          </a:xfrm>
          <a:prstGeom prst="rect">
            <a:avLst/>
          </a:prstGeom>
          <a:noFill/>
          <a:ln/>
        </p:spPr>
        <p:txBody>
          <a:bodyPr wrap="square" lIns="25400" tIns="25400" rIns="25400" bIns="25400" rtlCol="0" anchor="t">
            <a:normAutofit/>
          </a:bodyPr>
          <a:lstStyle/>
          <a:p>
            <a:pPr algn="l" indent="0" marL="0">
              <a:lnSpc>
                <a:spcPct val="145313"/>
              </a:lnSpc>
              <a:buNone/>
            </a:pPr>
            <a:r>
              <a:rPr lang="en-US" sz="2250" dirty="0">
                <a:solidFill>
                  <a:srgbClr val="EC3013"/>
                </a:solidFill>
                <a:latin typeface="Archivo" pitchFamily="34" charset="0"/>
                <a:ea typeface="Archivo" pitchFamily="34" charset="-122"/>
                <a:cs typeface="Archivo" pitchFamily="34" charset="-120"/>
              </a:rPr>
              <a:t>APS {2,5,6,8}</a:t>
            </a:r>
            <a:endParaRPr lang="en-US" sz="2250" dirty="0"/>
          </a:p>
        </p:txBody>
      </p:sp>
      <p:sp>
        <p:nvSpPr>
          <p:cNvPr id="31" name="Shape 24"/>
          <p:cNvSpPr/>
          <p:nvPr/>
        </p:nvSpPr>
        <p:spPr>
          <a:xfrm>
            <a:off x="14620875" y="2860328"/>
            <a:ext cx="2714625" cy="6013252"/>
          </a:xfrm>
          <a:prstGeom prst="rect">
            <a:avLst/>
          </a:prstGeom>
          <a:solidFill>
            <a:srgbClr val="F3F2F2"/>
          </a:solidFill>
          <a:ln/>
        </p:spPr>
      </p:sp>
      <p:pic>
        <p:nvPicPr>
          <p:cNvPr id="32" name="Image 5" descr="preencoded.png">    </p:cNvPr>
          <p:cNvPicPr>
            <a:picLocks noChangeAspect="1"/>
          </p:cNvPicPr>
          <p:nvPr/>
        </p:nvPicPr>
        <p:blipFill>
          <a:blip r:embed="rId6"/>
          <a:srcRect l="0" r="0" t="0" b="0"/>
          <a:stretch/>
        </p:blipFill>
        <p:spPr>
          <a:xfrm>
            <a:off x="14868525" y="2860328"/>
            <a:ext cx="2466975" cy="2466975"/>
          </a:xfrm>
          <a:prstGeom prst="rect">
            <a:avLst/>
          </a:prstGeom>
        </p:spPr>
      </p:pic>
      <p:sp>
        <p:nvSpPr>
          <p:cNvPr id="33" name="Text 25"/>
          <p:cNvSpPr/>
          <p:nvPr/>
        </p:nvSpPr>
        <p:spPr>
          <a:xfrm>
            <a:off x="14868525" y="5517803"/>
            <a:ext cx="2713673" cy="421928"/>
          </a:xfrm>
          <a:prstGeom prst="rect">
            <a:avLst/>
          </a:prstGeom>
          <a:noFill/>
          <a:ln/>
        </p:spPr>
        <p:txBody>
          <a:bodyPr wrap="square" lIns="25400" tIns="25400" rIns="25400" bIns="25400" rtlCol="0" anchor="t">
            <a:normAutofit/>
          </a:bodyPr>
          <a:lstStyle/>
          <a:p>
            <a:pPr algn="l" indent="0" marL="0">
              <a:lnSpc>
                <a:spcPct val="143929"/>
              </a:lnSpc>
              <a:buNone/>
            </a:pPr>
            <a:r>
              <a:rPr lang="en-US" sz="1950" b="1" spc="117" kern="0" dirty="0">
                <a:solidFill>
                  <a:srgbClr val="7D7979"/>
                </a:solidFill>
                <a:latin typeface="Archivo" pitchFamily="34" charset="0"/>
                <a:ea typeface="Archivo" pitchFamily="34" charset="-122"/>
                <a:cs typeface="Archivo" pitchFamily="34" charset="-120"/>
              </a:rPr>
              <a:t>TRUE 0</a:t>
            </a:r>
            <a:endParaRPr lang="en-US" sz="1950" dirty="0"/>
          </a:p>
        </p:txBody>
      </p:sp>
      <p:sp>
        <p:nvSpPr>
          <p:cNvPr id="34" name="Text 26"/>
          <p:cNvSpPr/>
          <p:nvPr/>
        </p:nvSpPr>
        <p:spPr>
          <a:xfrm>
            <a:off x="14868525" y="6092130"/>
            <a:ext cx="2713673" cy="481012"/>
          </a:xfrm>
          <a:prstGeom prst="rect">
            <a:avLst/>
          </a:prstGeom>
          <a:noFill/>
          <a:ln/>
        </p:spPr>
        <p:txBody>
          <a:bodyPr wrap="square" lIns="25400" tIns="25400" rIns="25400" bIns="25400" rtlCol="0" anchor="t">
            <a:normAutofit/>
          </a:bodyPr>
          <a:lstStyle/>
          <a:p>
            <a:pPr algn="l" indent="0" marL="0">
              <a:lnSpc>
                <a:spcPct val="145313"/>
              </a:lnSpc>
              <a:buNone/>
            </a:pPr>
            <a:r>
              <a:rPr lang="en-US" sz="2250" dirty="0">
                <a:solidFill>
                  <a:srgbClr val="201E1D"/>
                </a:solidFill>
                <a:latin typeface="Archivo" pitchFamily="34" charset="0"/>
                <a:ea typeface="Archivo" pitchFamily="34" charset="-122"/>
                <a:cs typeface="Archivo" pitchFamily="34" charset="-120"/>
              </a:rPr>
              <a:t>LAC {0}</a:t>
            </a:r>
            <a:endParaRPr lang="en-US" sz="2250" dirty="0"/>
          </a:p>
        </p:txBody>
      </p:sp>
      <p:sp>
        <p:nvSpPr>
          <p:cNvPr id="35" name="Text 27"/>
          <p:cNvSpPr/>
          <p:nvPr/>
        </p:nvSpPr>
        <p:spPr>
          <a:xfrm>
            <a:off x="14868525" y="6725543"/>
            <a:ext cx="2713673" cy="481012"/>
          </a:xfrm>
          <a:prstGeom prst="rect">
            <a:avLst/>
          </a:prstGeom>
          <a:noFill/>
          <a:ln/>
        </p:spPr>
        <p:txBody>
          <a:bodyPr wrap="square" lIns="25400" tIns="25400" rIns="25400" bIns="25400" rtlCol="0" anchor="t">
            <a:normAutofit/>
          </a:bodyPr>
          <a:lstStyle/>
          <a:p>
            <a:pPr algn="l" indent="0" marL="0">
              <a:lnSpc>
                <a:spcPct val="145313"/>
              </a:lnSpc>
              <a:buNone/>
            </a:pPr>
            <a:r>
              <a:rPr lang="en-US" sz="2250" dirty="0">
                <a:solidFill>
                  <a:srgbClr val="EC3013"/>
                </a:solidFill>
                <a:latin typeface="Archivo" pitchFamily="34" charset="0"/>
                <a:ea typeface="Archivo" pitchFamily="34" charset="-122"/>
                <a:cs typeface="Archivo" pitchFamily="34" charset="-120"/>
              </a:rPr>
              <a:t>APS {0}</a:t>
            </a:r>
            <a:endParaRPr lang="en-US" sz="2250" dirty="0"/>
          </a:p>
        </p:txBody>
      </p:sp>
      <p:sp>
        <p:nvSpPr>
          <p:cNvPr id="36" name="Text 28"/>
          <p:cNvSpPr/>
          <p:nvPr/>
        </p:nvSpPr>
        <p:spPr>
          <a:xfrm>
            <a:off x="952500" y="9178379"/>
            <a:ext cx="18021300" cy="384721"/>
          </a:xfrm>
          <a:prstGeom prst="rect">
            <a:avLst/>
          </a:prstGeom>
          <a:noFill/>
          <a:ln/>
        </p:spPr>
        <p:txBody>
          <a:bodyPr wrap="square" lIns="25400" tIns="25400" rIns="25400" bIns="25400" rtlCol="0" anchor="t">
            <a:normAutofit/>
          </a:bodyPr>
          <a:lstStyle/>
          <a:p>
            <a:pPr algn="l" indent="0" marL="0">
              <a:lnSpc>
                <a:spcPct val="130000"/>
              </a:lnSpc>
              <a:buNone/>
            </a:pPr>
            <a:r>
              <a:rPr lang="en-US" sz="1950" dirty="0">
                <a:solidFill>
                  <a:srgbClr val="605D5D"/>
                </a:solidFill>
                <a:latin typeface="Archivo" pitchFamily="34" charset="0"/>
                <a:ea typeface="Archivo" pitchFamily="34" charset="-122"/>
                <a:cs typeface="Archivo" pitchFamily="34" charset="-120"/>
              </a:rPr>
              <a:t>Both methods contain the truth in all six cases. APS spends extra labels to say where the image is ambiguous; LAC says nothing about it.</a:t>
            </a:r>
            <a:endParaRPr lang="en-US" sz="19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3F2F2"/>
        </a:solidFill>
      </p:bgPr>
    </p:bg>
    <p:spTree>
      <p:nvGrpSpPr>
        <p:cNvPr id="1" name=""/>
        <p:cNvGrpSpPr/>
        <p:nvPr/>
      </p:nvGrpSpPr>
      <p:grpSpPr>
        <a:xfrm>
          <a:off x="0" y="0"/>
          <a:ext cx="0" cy="0"/>
          <a:chOff x="0" y="0"/>
          <a:chExt cx="0" cy="0"/>
        </a:xfrm>
      </p:grpSpPr>
      <p:sp>
        <p:nvSpPr>
          <p:cNvPr id="2" name="Text 0"/>
          <p:cNvSpPr/>
          <p:nvPr/>
        </p:nvSpPr>
        <p:spPr>
          <a:xfrm>
            <a:off x="952500" y="952500"/>
            <a:ext cx="18021300" cy="392311"/>
          </a:xfrm>
          <a:prstGeom prst="rect">
            <a:avLst/>
          </a:prstGeom>
          <a:noFill/>
          <a:ln/>
        </p:spPr>
        <p:txBody>
          <a:bodyPr wrap="square" lIns="25400" tIns="25400" rIns="25400" bIns="25400" rtlCol="0" anchor="t">
            <a:normAutofit/>
          </a:bodyPr>
          <a:lstStyle/>
          <a:p>
            <a:pPr algn="l" indent="0" marL="0">
              <a:lnSpc>
                <a:spcPct val="143077"/>
              </a:lnSpc>
              <a:buNone/>
            </a:pPr>
            <a:r>
              <a:rPr lang="en-US" sz="1800" b="1" spc="216" kern="0" dirty="0">
                <a:solidFill>
                  <a:srgbClr val="EC3013"/>
                </a:solidFill>
                <a:latin typeface="Archivo" pitchFamily="34" charset="0"/>
                <a:ea typeface="Archivo" pitchFamily="34" charset="-122"/>
                <a:cs typeface="Archivo" pitchFamily="34" charset="-120"/>
              </a:rPr>
              <a:t>COMPARISON</a:t>
            </a:r>
            <a:endParaRPr lang="en-US" sz="1800" dirty="0"/>
          </a:p>
        </p:txBody>
      </p:sp>
      <p:sp>
        <p:nvSpPr>
          <p:cNvPr id="3" name="Text 1"/>
          <p:cNvSpPr/>
          <p:nvPr/>
        </p:nvSpPr>
        <p:spPr>
          <a:xfrm>
            <a:off x="952500" y="1421011"/>
            <a:ext cx="18021300" cy="696367"/>
          </a:xfrm>
          <a:prstGeom prst="rect">
            <a:avLst/>
          </a:prstGeom>
          <a:noFill/>
          <a:ln/>
        </p:spPr>
        <p:txBody>
          <a:bodyPr wrap="square" lIns="25400" tIns="25400" rIns="25400" bIns="25400" rtlCol="0" anchor="t">
            <a:normAutofit/>
          </a:bodyPr>
          <a:lstStyle/>
          <a:p>
            <a:pPr algn="l" indent="0" marL="0">
              <a:lnSpc>
                <a:spcPct val="100174"/>
              </a:lnSpc>
              <a:buNone/>
            </a:pPr>
            <a:r>
              <a:rPr lang="en-US" sz="4800" b="1" spc="-72" kern="0" dirty="0">
                <a:solidFill>
                  <a:srgbClr val="201E1D"/>
                </a:solidFill>
                <a:latin typeface="Archivo" pitchFamily="34" charset="0"/>
                <a:ea typeface="Archivo" pitchFamily="34" charset="-122"/>
                <a:cs typeface="Archivo" pitchFamily="34" charset="-120"/>
              </a:rPr>
              <a:t>LAC versus APS, Side by Side</a:t>
            </a:r>
            <a:endParaRPr lang="en-US" sz="4800" dirty="0"/>
          </a:p>
        </p:txBody>
      </p:sp>
      <p:sp>
        <p:nvSpPr>
          <p:cNvPr id="4" name="Shape 2"/>
          <p:cNvSpPr/>
          <p:nvPr/>
        </p:nvSpPr>
        <p:spPr>
          <a:xfrm>
            <a:off x="952500" y="2422178"/>
            <a:ext cx="16383000" cy="19050"/>
          </a:xfrm>
          <a:prstGeom prst="rect">
            <a:avLst/>
          </a:prstGeom>
          <a:solidFill>
            <a:srgbClr val="201E1D">
              <a:alpha val="40000"/>
            </a:srgbClr>
          </a:solidFill>
          <a:ln/>
        </p:spPr>
      </p:sp>
      <p:sp>
        <p:nvSpPr>
          <p:cNvPr id="5" name="Shape 3"/>
          <p:cNvSpPr/>
          <p:nvPr/>
        </p:nvSpPr>
        <p:spPr>
          <a:xfrm>
            <a:off x="952500" y="3518446"/>
            <a:ext cx="3576786" cy="19050"/>
          </a:xfrm>
          <a:prstGeom prst="rect">
            <a:avLst/>
          </a:prstGeom>
          <a:solidFill>
            <a:srgbClr val="201E1D"/>
          </a:solidFill>
          <a:ln/>
        </p:spPr>
      </p:sp>
      <p:sp>
        <p:nvSpPr>
          <p:cNvPr id="6" name="Text 4"/>
          <p:cNvSpPr/>
          <p:nvPr/>
        </p:nvSpPr>
        <p:spPr>
          <a:xfrm>
            <a:off x="952500" y="3031778"/>
            <a:ext cx="3455490" cy="353318"/>
          </a:xfrm>
          <a:prstGeom prst="rect">
            <a:avLst/>
          </a:prstGeom>
          <a:noFill/>
          <a:ln/>
        </p:spPr>
        <p:txBody>
          <a:bodyPr wrap="square" lIns="25400" tIns="25400" rIns="25400" bIns="25400" rtlCol="0" anchor="ctr">
            <a:normAutofit/>
          </a:bodyPr>
          <a:lstStyle/>
          <a:p>
            <a:pPr algn="l" indent="0" marL="0">
              <a:lnSpc>
                <a:spcPct val="142083"/>
              </a:lnSpc>
              <a:buNone/>
            </a:pPr>
            <a:r>
              <a:rPr lang="en-US" sz="1650" b="1" spc="132" kern="0" dirty="0">
                <a:solidFill>
                  <a:srgbClr val="7D7979"/>
                </a:solidFill>
                <a:latin typeface="Archivo" pitchFamily="34" charset="0"/>
                <a:ea typeface="Archivo" pitchFamily="34" charset="-122"/>
                <a:cs typeface="Archivo" pitchFamily="34" charset="-120"/>
              </a:rPr>
              <a:t>METRIC</a:t>
            </a:r>
            <a:endParaRPr lang="en-US" sz="1650" dirty="0"/>
          </a:p>
        </p:txBody>
      </p:sp>
      <p:sp>
        <p:nvSpPr>
          <p:cNvPr id="7" name="Shape 5"/>
          <p:cNvSpPr/>
          <p:nvPr/>
        </p:nvSpPr>
        <p:spPr>
          <a:xfrm>
            <a:off x="4529286" y="3518446"/>
            <a:ext cx="3136999" cy="19050"/>
          </a:xfrm>
          <a:prstGeom prst="rect">
            <a:avLst/>
          </a:prstGeom>
          <a:solidFill>
            <a:srgbClr val="201E1D"/>
          </a:solidFill>
          <a:ln/>
        </p:spPr>
      </p:sp>
      <p:sp>
        <p:nvSpPr>
          <p:cNvPr id="8" name="Text 6"/>
          <p:cNvSpPr/>
          <p:nvPr/>
        </p:nvSpPr>
        <p:spPr>
          <a:xfrm>
            <a:off x="4663776" y="3031778"/>
            <a:ext cx="2773909" cy="353318"/>
          </a:xfrm>
          <a:prstGeom prst="rect">
            <a:avLst/>
          </a:prstGeom>
          <a:noFill/>
          <a:ln/>
        </p:spPr>
        <p:txBody>
          <a:bodyPr wrap="square" lIns="25400" tIns="25400" rIns="25400" bIns="25400" rtlCol="0" anchor="ctr">
            <a:normAutofit/>
          </a:bodyPr>
          <a:lstStyle/>
          <a:p>
            <a:pPr algn="r" indent="0" marL="0">
              <a:lnSpc>
                <a:spcPct val="142083"/>
              </a:lnSpc>
              <a:buNone/>
            </a:pPr>
            <a:r>
              <a:rPr lang="en-US" sz="1650" b="1" spc="132" kern="0" dirty="0">
                <a:solidFill>
                  <a:srgbClr val="7D7979"/>
                </a:solidFill>
                <a:latin typeface="Archivo" pitchFamily="34" charset="0"/>
                <a:ea typeface="Archivo" pitchFamily="34" charset="-122"/>
                <a:cs typeface="Archivo" pitchFamily="34" charset="-120"/>
              </a:rPr>
              <a:t>LAC — SECTION 1</a:t>
            </a:r>
            <a:endParaRPr lang="en-US" sz="1650" dirty="0"/>
          </a:p>
        </p:txBody>
      </p:sp>
      <p:sp>
        <p:nvSpPr>
          <p:cNvPr id="9" name="Shape 7"/>
          <p:cNvSpPr/>
          <p:nvPr/>
        </p:nvSpPr>
        <p:spPr>
          <a:xfrm>
            <a:off x="7666286" y="3518446"/>
            <a:ext cx="3425577" cy="19050"/>
          </a:xfrm>
          <a:prstGeom prst="rect">
            <a:avLst/>
          </a:prstGeom>
          <a:solidFill>
            <a:srgbClr val="201E1D"/>
          </a:solidFill>
          <a:ln/>
        </p:spPr>
      </p:sp>
      <p:sp>
        <p:nvSpPr>
          <p:cNvPr id="10" name="Text 8"/>
          <p:cNvSpPr/>
          <p:nvPr/>
        </p:nvSpPr>
        <p:spPr>
          <a:xfrm>
            <a:off x="7792118" y="3031778"/>
            <a:ext cx="3071144" cy="353318"/>
          </a:xfrm>
          <a:prstGeom prst="rect">
            <a:avLst/>
          </a:prstGeom>
          <a:noFill/>
          <a:ln/>
        </p:spPr>
        <p:txBody>
          <a:bodyPr wrap="square" lIns="25400" tIns="25400" rIns="25400" bIns="25400" rtlCol="0" anchor="ctr">
            <a:normAutofit/>
          </a:bodyPr>
          <a:lstStyle/>
          <a:p>
            <a:pPr algn="r" indent="0" marL="0">
              <a:lnSpc>
                <a:spcPct val="142083"/>
              </a:lnSpc>
              <a:buNone/>
            </a:pPr>
            <a:r>
              <a:rPr lang="en-US" sz="1650" b="1" spc="132" kern="0" dirty="0">
                <a:solidFill>
                  <a:srgbClr val="7D7979"/>
                </a:solidFill>
                <a:latin typeface="Archivo" pitchFamily="34" charset="0"/>
                <a:ea typeface="Archivo" pitchFamily="34" charset="-122"/>
                <a:cs typeface="Archivo" pitchFamily="34" charset="-120"/>
              </a:rPr>
              <a:t>APS — SECTION 2.1</a:t>
            </a:r>
            <a:endParaRPr lang="en-US" sz="1650" dirty="0"/>
          </a:p>
        </p:txBody>
      </p:sp>
      <p:sp>
        <p:nvSpPr>
          <p:cNvPr id="11" name="Shape 9"/>
          <p:cNvSpPr/>
          <p:nvPr/>
        </p:nvSpPr>
        <p:spPr>
          <a:xfrm>
            <a:off x="11091863" y="3518446"/>
            <a:ext cx="6243638" cy="19050"/>
          </a:xfrm>
          <a:prstGeom prst="rect">
            <a:avLst/>
          </a:prstGeom>
          <a:solidFill>
            <a:srgbClr val="201E1D"/>
          </a:solidFill>
          <a:ln/>
        </p:spPr>
      </p:sp>
      <p:sp>
        <p:nvSpPr>
          <p:cNvPr id="12" name="Text 10"/>
          <p:cNvSpPr/>
          <p:nvPr/>
        </p:nvSpPr>
        <p:spPr>
          <a:xfrm>
            <a:off x="11472863" y="3031778"/>
            <a:ext cx="6049947" cy="353318"/>
          </a:xfrm>
          <a:prstGeom prst="rect">
            <a:avLst/>
          </a:prstGeom>
          <a:noFill/>
          <a:ln/>
        </p:spPr>
        <p:txBody>
          <a:bodyPr wrap="square" lIns="25400" tIns="25400" rIns="25400" bIns="25400" rtlCol="0" anchor="ctr">
            <a:normAutofit/>
          </a:bodyPr>
          <a:lstStyle/>
          <a:p>
            <a:pPr algn="l" indent="0" marL="0">
              <a:lnSpc>
                <a:spcPct val="142083"/>
              </a:lnSpc>
              <a:buNone/>
            </a:pPr>
            <a:r>
              <a:rPr lang="en-US" sz="1650" b="1" spc="132" kern="0" dirty="0">
                <a:solidFill>
                  <a:srgbClr val="7D7979"/>
                </a:solidFill>
                <a:latin typeface="Archivo" pitchFamily="34" charset="0"/>
                <a:ea typeface="Archivo" pitchFamily="34" charset="-122"/>
                <a:cs typeface="Archivo" pitchFamily="34" charset="-120"/>
              </a:rPr>
              <a:t>READING</a:t>
            </a:r>
            <a:endParaRPr lang="en-US" sz="1650" dirty="0"/>
          </a:p>
        </p:txBody>
      </p:sp>
      <p:sp>
        <p:nvSpPr>
          <p:cNvPr id="13" name="Shape 11"/>
          <p:cNvSpPr/>
          <p:nvPr/>
        </p:nvSpPr>
        <p:spPr>
          <a:xfrm>
            <a:off x="952500" y="4428976"/>
            <a:ext cx="3576786" cy="19050"/>
          </a:xfrm>
          <a:prstGeom prst="rect">
            <a:avLst/>
          </a:prstGeom>
          <a:solidFill>
            <a:srgbClr val="201E1D">
              <a:alpha val="20000"/>
            </a:srgbClr>
          </a:solidFill>
          <a:ln/>
        </p:spPr>
      </p:sp>
      <p:sp>
        <p:nvSpPr>
          <p:cNvPr id="14" name="Text 12"/>
          <p:cNvSpPr/>
          <p:nvPr/>
        </p:nvSpPr>
        <p:spPr>
          <a:xfrm>
            <a:off x="952500" y="3747046"/>
            <a:ext cx="3455490" cy="510480"/>
          </a:xfrm>
          <a:prstGeom prst="rect">
            <a:avLst/>
          </a:prstGeom>
          <a:noFill/>
          <a:ln/>
        </p:spPr>
        <p:txBody>
          <a:bodyPr wrap="square" lIns="25400" tIns="25400" rIns="25400" bIns="25400" rtlCol="0" anchor="ctr">
            <a:normAutofit/>
          </a:bodyPr>
          <a:lstStyle/>
          <a:p>
            <a:pPr algn="l" indent="0" marL="0">
              <a:lnSpc>
                <a:spcPct val="141714"/>
              </a:lnSpc>
              <a:buNone/>
            </a:pPr>
            <a:r>
              <a:rPr lang="en-US" sz="2400" dirty="0">
                <a:solidFill>
                  <a:srgbClr val="201E1D"/>
                </a:solidFill>
                <a:latin typeface="Archivo" pitchFamily="34" charset="0"/>
                <a:ea typeface="Archivo" pitchFamily="34" charset="-122"/>
                <a:cs typeface="Archivo" pitchFamily="34" charset="-120"/>
              </a:rPr>
              <a:t>Threshold q̂</a:t>
            </a:r>
            <a:endParaRPr lang="en-US" sz="2400" dirty="0"/>
          </a:p>
        </p:txBody>
      </p:sp>
      <p:sp>
        <p:nvSpPr>
          <p:cNvPr id="15" name="Shape 13"/>
          <p:cNvSpPr/>
          <p:nvPr/>
        </p:nvSpPr>
        <p:spPr>
          <a:xfrm>
            <a:off x="4529286" y="4428976"/>
            <a:ext cx="3136999" cy="19050"/>
          </a:xfrm>
          <a:prstGeom prst="rect">
            <a:avLst/>
          </a:prstGeom>
          <a:solidFill>
            <a:srgbClr val="201E1D">
              <a:alpha val="20000"/>
            </a:srgbClr>
          </a:solidFill>
          <a:ln/>
        </p:spPr>
      </p:sp>
      <p:sp>
        <p:nvSpPr>
          <p:cNvPr id="16" name="Text 14"/>
          <p:cNvSpPr/>
          <p:nvPr/>
        </p:nvSpPr>
        <p:spPr>
          <a:xfrm>
            <a:off x="4663776" y="3747046"/>
            <a:ext cx="2773909" cy="510480"/>
          </a:xfrm>
          <a:prstGeom prst="rect">
            <a:avLst/>
          </a:prstGeom>
          <a:noFill/>
          <a:ln/>
        </p:spPr>
        <p:txBody>
          <a:bodyPr wrap="square" lIns="25400" tIns="25400" rIns="25400" bIns="25400" rtlCol="0" anchor="ctr">
            <a:normAutofit/>
          </a:bodyPr>
          <a:lstStyle/>
          <a:p>
            <a:pPr algn="r" indent="0" marL="0">
              <a:lnSpc>
                <a:spcPct val="141714"/>
              </a:lnSpc>
              <a:buNone/>
            </a:pPr>
            <a:r>
              <a:rPr lang="en-US" sz="2400" b="1" dirty="0">
                <a:solidFill>
                  <a:srgbClr val="201E1D"/>
                </a:solidFill>
                <a:latin typeface="Archivo" pitchFamily="34" charset="0"/>
                <a:ea typeface="Archivo" pitchFamily="34" charset="-122"/>
                <a:cs typeface="Archivo" pitchFamily="34" charset="-120"/>
              </a:rPr>
              <a:t>0.573</a:t>
            </a:r>
            <a:endParaRPr lang="en-US" sz="2400" dirty="0"/>
          </a:p>
        </p:txBody>
      </p:sp>
      <p:sp>
        <p:nvSpPr>
          <p:cNvPr id="17" name="Shape 15"/>
          <p:cNvSpPr/>
          <p:nvPr/>
        </p:nvSpPr>
        <p:spPr>
          <a:xfrm>
            <a:off x="7666286" y="4428976"/>
            <a:ext cx="3425577" cy="19050"/>
          </a:xfrm>
          <a:prstGeom prst="rect">
            <a:avLst/>
          </a:prstGeom>
          <a:solidFill>
            <a:srgbClr val="201E1D">
              <a:alpha val="20000"/>
            </a:srgbClr>
          </a:solidFill>
          <a:ln/>
        </p:spPr>
      </p:sp>
      <p:sp>
        <p:nvSpPr>
          <p:cNvPr id="18" name="Text 16"/>
          <p:cNvSpPr/>
          <p:nvPr/>
        </p:nvSpPr>
        <p:spPr>
          <a:xfrm>
            <a:off x="7792118" y="3747046"/>
            <a:ext cx="3071144" cy="510480"/>
          </a:xfrm>
          <a:prstGeom prst="rect">
            <a:avLst/>
          </a:prstGeom>
          <a:noFill/>
          <a:ln/>
        </p:spPr>
        <p:txBody>
          <a:bodyPr wrap="square" lIns="25400" tIns="25400" rIns="25400" bIns="25400" rtlCol="0" anchor="ctr">
            <a:normAutofit/>
          </a:bodyPr>
          <a:lstStyle/>
          <a:p>
            <a:pPr algn="r" indent="0" marL="0">
              <a:lnSpc>
                <a:spcPct val="141714"/>
              </a:lnSpc>
              <a:buNone/>
            </a:pPr>
            <a:r>
              <a:rPr lang="en-US" sz="2400" b="1" dirty="0">
                <a:solidFill>
                  <a:srgbClr val="201E1D"/>
                </a:solidFill>
                <a:latin typeface="Archivo" pitchFamily="34" charset="0"/>
                <a:ea typeface="Archivo" pitchFamily="34" charset="-122"/>
                <a:cs typeface="Archivo" pitchFamily="34" charset="-120"/>
              </a:rPr>
              <a:t>0.995</a:t>
            </a:r>
            <a:endParaRPr lang="en-US" sz="2400" dirty="0"/>
          </a:p>
        </p:txBody>
      </p:sp>
      <p:sp>
        <p:nvSpPr>
          <p:cNvPr id="19" name="Shape 17"/>
          <p:cNvSpPr/>
          <p:nvPr/>
        </p:nvSpPr>
        <p:spPr>
          <a:xfrm>
            <a:off x="11091863" y="4428976"/>
            <a:ext cx="6243638" cy="19050"/>
          </a:xfrm>
          <a:prstGeom prst="rect">
            <a:avLst/>
          </a:prstGeom>
          <a:solidFill>
            <a:srgbClr val="201E1D">
              <a:alpha val="20000"/>
            </a:srgbClr>
          </a:solidFill>
          <a:ln/>
        </p:spPr>
      </p:sp>
      <p:sp>
        <p:nvSpPr>
          <p:cNvPr id="20" name="Text 18"/>
          <p:cNvSpPr/>
          <p:nvPr/>
        </p:nvSpPr>
        <p:spPr>
          <a:xfrm>
            <a:off x="11472863" y="3747046"/>
            <a:ext cx="6049947" cy="510480"/>
          </a:xfrm>
          <a:prstGeom prst="rect">
            <a:avLst/>
          </a:prstGeom>
          <a:noFill/>
          <a:ln/>
        </p:spPr>
        <p:txBody>
          <a:bodyPr wrap="square" lIns="25400" tIns="25400" rIns="25400" bIns="25400" rtlCol="0" anchor="ctr">
            <a:normAutofit/>
          </a:bodyPr>
          <a:lstStyle/>
          <a:p>
            <a:pPr algn="l" indent="0" marL="0">
              <a:lnSpc>
                <a:spcPct val="143929"/>
              </a:lnSpc>
              <a:buNone/>
            </a:pPr>
            <a:r>
              <a:rPr lang="en-US" sz="1950" dirty="0">
                <a:solidFill>
                  <a:srgbClr val="605D5D"/>
                </a:solidFill>
                <a:latin typeface="Archivo" pitchFamily="34" charset="0"/>
                <a:ea typeface="Archivo" pitchFamily="34" charset="-122"/>
                <a:cs typeface="Archivo" pitchFamily="34" charset="-120"/>
              </a:rPr>
              <a:t>Different scales, not comparable directly</a:t>
            </a:r>
            <a:endParaRPr lang="en-US" sz="1950" dirty="0"/>
          </a:p>
        </p:txBody>
      </p:sp>
      <p:sp>
        <p:nvSpPr>
          <p:cNvPr id="21" name="Shape 19"/>
          <p:cNvSpPr/>
          <p:nvPr/>
        </p:nvSpPr>
        <p:spPr>
          <a:xfrm>
            <a:off x="952500" y="5339507"/>
            <a:ext cx="3576786" cy="19050"/>
          </a:xfrm>
          <a:prstGeom prst="rect">
            <a:avLst/>
          </a:prstGeom>
          <a:solidFill>
            <a:srgbClr val="201E1D">
              <a:alpha val="20000"/>
            </a:srgbClr>
          </a:solidFill>
          <a:ln/>
        </p:spPr>
      </p:sp>
      <p:sp>
        <p:nvSpPr>
          <p:cNvPr id="22" name="Text 20"/>
          <p:cNvSpPr/>
          <p:nvPr/>
        </p:nvSpPr>
        <p:spPr>
          <a:xfrm>
            <a:off x="952500" y="4657576"/>
            <a:ext cx="3455490" cy="510480"/>
          </a:xfrm>
          <a:prstGeom prst="rect">
            <a:avLst/>
          </a:prstGeom>
          <a:noFill/>
          <a:ln/>
        </p:spPr>
        <p:txBody>
          <a:bodyPr wrap="square" lIns="25400" tIns="25400" rIns="25400" bIns="25400" rtlCol="0" anchor="ctr">
            <a:normAutofit/>
          </a:bodyPr>
          <a:lstStyle/>
          <a:p>
            <a:pPr algn="l" indent="0" marL="0">
              <a:lnSpc>
                <a:spcPct val="141714"/>
              </a:lnSpc>
              <a:buNone/>
            </a:pPr>
            <a:r>
              <a:rPr lang="en-US" sz="2400" dirty="0">
                <a:solidFill>
                  <a:srgbClr val="201E1D"/>
                </a:solidFill>
                <a:latin typeface="Archivo" pitchFamily="34" charset="0"/>
                <a:ea typeface="Archivo" pitchFamily="34" charset="-122"/>
                <a:cs typeface="Archivo" pitchFamily="34" charset="-120"/>
              </a:rPr>
              <a:t>Coverage, 50 splits</a:t>
            </a:r>
            <a:endParaRPr lang="en-US" sz="2400" dirty="0"/>
          </a:p>
        </p:txBody>
      </p:sp>
      <p:sp>
        <p:nvSpPr>
          <p:cNvPr id="23" name="Shape 21"/>
          <p:cNvSpPr/>
          <p:nvPr/>
        </p:nvSpPr>
        <p:spPr>
          <a:xfrm>
            <a:off x="4529286" y="5339507"/>
            <a:ext cx="3136999" cy="19050"/>
          </a:xfrm>
          <a:prstGeom prst="rect">
            <a:avLst/>
          </a:prstGeom>
          <a:solidFill>
            <a:srgbClr val="201E1D">
              <a:alpha val="20000"/>
            </a:srgbClr>
          </a:solidFill>
          <a:ln/>
        </p:spPr>
      </p:sp>
      <p:sp>
        <p:nvSpPr>
          <p:cNvPr id="24" name="Text 22"/>
          <p:cNvSpPr/>
          <p:nvPr/>
        </p:nvSpPr>
        <p:spPr>
          <a:xfrm>
            <a:off x="4663776" y="4657576"/>
            <a:ext cx="2773909" cy="510480"/>
          </a:xfrm>
          <a:prstGeom prst="rect">
            <a:avLst/>
          </a:prstGeom>
          <a:noFill/>
          <a:ln/>
        </p:spPr>
        <p:txBody>
          <a:bodyPr wrap="square" lIns="25400" tIns="25400" rIns="25400" bIns="25400" rtlCol="0" anchor="ctr">
            <a:normAutofit/>
          </a:bodyPr>
          <a:lstStyle/>
          <a:p>
            <a:pPr algn="r" indent="0" marL="0">
              <a:lnSpc>
                <a:spcPct val="141714"/>
              </a:lnSpc>
              <a:buNone/>
            </a:pPr>
            <a:r>
              <a:rPr lang="en-US" sz="2400" b="1" dirty="0">
                <a:solidFill>
                  <a:srgbClr val="EC3013"/>
                </a:solidFill>
                <a:latin typeface="Archivo" pitchFamily="34" charset="0"/>
                <a:ea typeface="Archivo" pitchFamily="34" charset="-122"/>
                <a:cs typeface="Archivo" pitchFamily="34" charset="-120"/>
              </a:rPr>
              <a:t>90.08%</a:t>
            </a:r>
            <a:endParaRPr lang="en-US" sz="2400" dirty="0"/>
          </a:p>
        </p:txBody>
      </p:sp>
      <p:sp>
        <p:nvSpPr>
          <p:cNvPr id="25" name="Shape 23"/>
          <p:cNvSpPr/>
          <p:nvPr/>
        </p:nvSpPr>
        <p:spPr>
          <a:xfrm>
            <a:off x="7666286" y="5339507"/>
            <a:ext cx="3425577" cy="19050"/>
          </a:xfrm>
          <a:prstGeom prst="rect">
            <a:avLst/>
          </a:prstGeom>
          <a:solidFill>
            <a:srgbClr val="201E1D">
              <a:alpha val="20000"/>
            </a:srgbClr>
          </a:solidFill>
          <a:ln/>
        </p:spPr>
      </p:sp>
      <p:sp>
        <p:nvSpPr>
          <p:cNvPr id="26" name="Text 24"/>
          <p:cNvSpPr/>
          <p:nvPr/>
        </p:nvSpPr>
        <p:spPr>
          <a:xfrm>
            <a:off x="7792118" y="4657576"/>
            <a:ext cx="3071144" cy="510480"/>
          </a:xfrm>
          <a:prstGeom prst="rect">
            <a:avLst/>
          </a:prstGeom>
          <a:noFill/>
          <a:ln/>
        </p:spPr>
        <p:txBody>
          <a:bodyPr wrap="square" lIns="25400" tIns="25400" rIns="25400" bIns="25400" rtlCol="0" anchor="ctr">
            <a:normAutofit/>
          </a:bodyPr>
          <a:lstStyle/>
          <a:p>
            <a:pPr algn="r" indent="0" marL="0">
              <a:lnSpc>
                <a:spcPct val="141714"/>
              </a:lnSpc>
              <a:buNone/>
            </a:pPr>
            <a:r>
              <a:rPr lang="en-US" sz="2400" b="1" dirty="0">
                <a:solidFill>
                  <a:srgbClr val="201E1D"/>
                </a:solidFill>
                <a:latin typeface="Archivo" pitchFamily="34" charset="0"/>
                <a:ea typeface="Archivo" pitchFamily="34" charset="-122"/>
                <a:cs typeface="Archivo" pitchFamily="34" charset="-120"/>
              </a:rPr>
              <a:t>99.71%</a:t>
            </a:r>
            <a:endParaRPr lang="en-US" sz="2400" dirty="0"/>
          </a:p>
        </p:txBody>
      </p:sp>
      <p:sp>
        <p:nvSpPr>
          <p:cNvPr id="27" name="Shape 25"/>
          <p:cNvSpPr/>
          <p:nvPr/>
        </p:nvSpPr>
        <p:spPr>
          <a:xfrm>
            <a:off x="11091863" y="5339507"/>
            <a:ext cx="6243638" cy="19050"/>
          </a:xfrm>
          <a:prstGeom prst="rect">
            <a:avLst/>
          </a:prstGeom>
          <a:solidFill>
            <a:srgbClr val="201E1D">
              <a:alpha val="20000"/>
            </a:srgbClr>
          </a:solidFill>
          <a:ln/>
        </p:spPr>
      </p:sp>
      <p:sp>
        <p:nvSpPr>
          <p:cNvPr id="28" name="Text 26"/>
          <p:cNvSpPr/>
          <p:nvPr/>
        </p:nvSpPr>
        <p:spPr>
          <a:xfrm>
            <a:off x="11472863" y="4657576"/>
            <a:ext cx="6049947" cy="510480"/>
          </a:xfrm>
          <a:prstGeom prst="rect">
            <a:avLst/>
          </a:prstGeom>
          <a:noFill/>
          <a:ln/>
        </p:spPr>
        <p:txBody>
          <a:bodyPr wrap="square" lIns="25400" tIns="25400" rIns="25400" bIns="25400" rtlCol="0" anchor="ctr">
            <a:normAutofit/>
          </a:bodyPr>
          <a:lstStyle/>
          <a:p>
            <a:pPr algn="l" indent="0" marL="0">
              <a:lnSpc>
                <a:spcPct val="143929"/>
              </a:lnSpc>
              <a:buNone/>
            </a:pPr>
            <a:r>
              <a:rPr lang="en-US" sz="1950" dirty="0">
                <a:solidFill>
                  <a:srgbClr val="605D5D"/>
                </a:solidFill>
                <a:latin typeface="Archivo" pitchFamily="34" charset="0"/>
                <a:ea typeface="Archivo" pitchFamily="34" charset="-122"/>
                <a:cs typeface="Archivo" pitchFamily="34" charset="-120"/>
              </a:rPr>
              <a:t>LAC hits the target; APS over-covers</a:t>
            </a:r>
            <a:endParaRPr lang="en-US" sz="1950" dirty="0"/>
          </a:p>
        </p:txBody>
      </p:sp>
      <p:sp>
        <p:nvSpPr>
          <p:cNvPr id="29" name="Shape 27"/>
          <p:cNvSpPr/>
          <p:nvPr/>
        </p:nvSpPr>
        <p:spPr>
          <a:xfrm>
            <a:off x="952500" y="6250037"/>
            <a:ext cx="3576786" cy="19050"/>
          </a:xfrm>
          <a:prstGeom prst="rect">
            <a:avLst/>
          </a:prstGeom>
          <a:solidFill>
            <a:srgbClr val="201E1D">
              <a:alpha val="20000"/>
            </a:srgbClr>
          </a:solidFill>
          <a:ln/>
        </p:spPr>
      </p:sp>
      <p:sp>
        <p:nvSpPr>
          <p:cNvPr id="30" name="Text 28"/>
          <p:cNvSpPr/>
          <p:nvPr/>
        </p:nvSpPr>
        <p:spPr>
          <a:xfrm>
            <a:off x="952500" y="5568107"/>
            <a:ext cx="3455490" cy="510480"/>
          </a:xfrm>
          <a:prstGeom prst="rect">
            <a:avLst/>
          </a:prstGeom>
          <a:noFill/>
          <a:ln/>
        </p:spPr>
        <p:txBody>
          <a:bodyPr wrap="square" lIns="25400" tIns="25400" rIns="25400" bIns="25400" rtlCol="0" anchor="ctr">
            <a:normAutofit/>
          </a:bodyPr>
          <a:lstStyle/>
          <a:p>
            <a:pPr algn="l" indent="0" marL="0">
              <a:lnSpc>
                <a:spcPct val="141714"/>
              </a:lnSpc>
              <a:buNone/>
            </a:pPr>
            <a:r>
              <a:rPr lang="en-US" sz="2400" dirty="0">
                <a:solidFill>
                  <a:srgbClr val="201E1D"/>
                </a:solidFill>
                <a:latin typeface="Archivo" pitchFamily="34" charset="0"/>
                <a:ea typeface="Archivo" pitchFamily="34" charset="-122"/>
                <a:cs typeface="Archivo" pitchFamily="34" charset="-120"/>
              </a:rPr>
              <a:t>Mean set size</a:t>
            </a:r>
            <a:endParaRPr lang="en-US" sz="2400" dirty="0"/>
          </a:p>
        </p:txBody>
      </p:sp>
      <p:sp>
        <p:nvSpPr>
          <p:cNvPr id="31" name="Shape 29"/>
          <p:cNvSpPr/>
          <p:nvPr/>
        </p:nvSpPr>
        <p:spPr>
          <a:xfrm>
            <a:off x="4529286" y="6250037"/>
            <a:ext cx="3136999" cy="19050"/>
          </a:xfrm>
          <a:prstGeom prst="rect">
            <a:avLst/>
          </a:prstGeom>
          <a:solidFill>
            <a:srgbClr val="201E1D">
              <a:alpha val="20000"/>
            </a:srgbClr>
          </a:solidFill>
          <a:ln/>
        </p:spPr>
      </p:sp>
      <p:sp>
        <p:nvSpPr>
          <p:cNvPr id="32" name="Text 30"/>
          <p:cNvSpPr/>
          <p:nvPr/>
        </p:nvSpPr>
        <p:spPr>
          <a:xfrm>
            <a:off x="4663776" y="5568107"/>
            <a:ext cx="2773909" cy="510480"/>
          </a:xfrm>
          <a:prstGeom prst="rect">
            <a:avLst/>
          </a:prstGeom>
          <a:noFill/>
          <a:ln/>
        </p:spPr>
        <p:txBody>
          <a:bodyPr wrap="square" lIns="25400" tIns="25400" rIns="25400" bIns="25400" rtlCol="0" anchor="ctr">
            <a:normAutofit/>
          </a:bodyPr>
          <a:lstStyle/>
          <a:p>
            <a:pPr algn="r" indent="0" marL="0">
              <a:lnSpc>
                <a:spcPct val="141714"/>
              </a:lnSpc>
              <a:buNone/>
            </a:pPr>
            <a:r>
              <a:rPr lang="en-US" sz="2400" b="1" dirty="0">
                <a:solidFill>
                  <a:srgbClr val="201E1D"/>
                </a:solidFill>
                <a:latin typeface="Archivo" pitchFamily="34" charset="0"/>
                <a:ea typeface="Archivo" pitchFamily="34" charset="-122"/>
                <a:cs typeface="Archivo" pitchFamily="34" charset="-120"/>
              </a:rPr>
              <a:t>1.00</a:t>
            </a:r>
            <a:endParaRPr lang="en-US" sz="2400" dirty="0"/>
          </a:p>
        </p:txBody>
      </p:sp>
      <p:sp>
        <p:nvSpPr>
          <p:cNvPr id="33" name="Shape 31"/>
          <p:cNvSpPr/>
          <p:nvPr/>
        </p:nvSpPr>
        <p:spPr>
          <a:xfrm>
            <a:off x="7666286" y="6250037"/>
            <a:ext cx="3425577" cy="19050"/>
          </a:xfrm>
          <a:prstGeom prst="rect">
            <a:avLst/>
          </a:prstGeom>
          <a:solidFill>
            <a:srgbClr val="201E1D">
              <a:alpha val="20000"/>
            </a:srgbClr>
          </a:solidFill>
          <a:ln/>
        </p:spPr>
      </p:sp>
      <p:sp>
        <p:nvSpPr>
          <p:cNvPr id="34" name="Text 32"/>
          <p:cNvSpPr/>
          <p:nvPr/>
        </p:nvSpPr>
        <p:spPr>
          <a:xfrm>
            <a:off x="7792118" y="5568107"/>
            <a:ext cx="3071144" cy="510480"/>
          </a:xfrm>
          <a:prstGeom prst="rect">
            <a:avLst/>
          </a:prstGeom>
          <a:noFill/>
          <a:ln/>
        </p:spPr>
        <p:txBody>
          <a:bodyPr wrap="square" lIns="25400" tIns="25400" rIns="25400" bIns="25400" rtlCol="0" anchor="ctr">
            <a:normAutofit/>
          </a:bodyPr>
          <a:lstStyle/>
          <a:p>
            <a:pPr algn="r" indent="0" marL="0">
              <a:lnSpc>
                <a:spcPct val="141714"/>
              </a:lnSpc>
              <a:buNone/>
            </a:pPr>
            <a:r>
              <a:rPr lang="en-US" sz="2400" b="1" dirty="0">
                <a:solidFill>
                  <a:srgbClr val="201E1D"/>
                </a:solidFill>
                <a:latin typeface="Archivo" pitchFamily="34" charset="0"/>
                <a:ea typeface="Archivo" pitchFamily="34" charset="-122"/>
                <a:cs typeface="Archivo" pitchFamily="34" charset="-120"/>
              </a:rPr>
              <a:t>4.08</a:t>
            </a:r>
            <a:endParaRPr lang="en-US" sz="2400" dirty="0"/>
          </a:p>
        </p:txBody>
      </p:sp>
      <p:sp>
        <p:nvSpPr>
          <p:cNvPr id="35" name="Shape 33"/>
          <p:cNvSpPr/>
          <p:nvPr/>
        </p:nvSpPr>
        <p:spPr>
          <a:xfrm>
            <a:off x="11091863" y="6250037"/>
            <a:ext cx="6243638" cy="19050"/>
          </a:xfrm>
          <a:prstGeom prst="rect">
            <a:avLst/>
          </a:prstGeom>
          <a:solidFill>
            <a:srgbClr val="201E1D">
              <a:alpha val="20000"/>
            </a:srgbClr>
          </a:solidFill>
          <a:ln/>
        </p:spPr>
      </p:sp>
      <p:sp>
        <p:nvSpPr>
          <p:cNvPr id="36" name="Text 34"/>
          <p:cNvSpPr/>
          <p:nvPr/>
        </p:nvSpPr>
        <p:spPr>
          <a:xfrm>
            <a:off x="11472863" y="5568107"/>
            <a:ext cx="6049947" cy="510480"/>
          </a:xfrm>
          <a:prstGeom prst="rect">
            <a:avLst/>
          </a:prstGeom>
          <a:noFill/>
          <a:ln/>
        </p:spPr>
        <p:txBody>
          <a:bodyPr wrap="square" lIns="25400" tIns="25400" rIns="25400" bIns="25400" rtlCol="0" anchor="ctr">
            <a:normAutofit/>
          </a:bodyPr>
          <a:lstStyle/>
          <a:p>
            <a:pPr algn="l" indent="0" marL="0">
              <a:lnSpc>
                <a:spcPct val="143929"/>
              </a:lnSpc>
              <a:buNone/>
            </a:pPr>
            <a:r>
              <a:rPr lang="en-US" sz="1950" dirty="0">
                <a:solidFill>
                  <a:srgbClr val="605D5D"/>
                </a:solidFill>
                <a:latin typeface="Archivo" pitchFamily="34" charset="0"/>
                <a:ea typeface="Archivo" pitchFamily="34" charset="-122"/>
                <a:cs typeface="Archivo" pitchFamily="34" charset="-120"/>
              </a:rPr>
              <a:t>Four times the labels for the same nominal α</a:t>
            </a:r>
            <a:endParaRPr lang="en-US" sz="1950" dirty="0"/>
          </a:p>
        </p:txBody>
      </p:sp>
      <p:sp>
        <p:nvSpPr>
          <p:cNvPr id="37" name="Shape 35"/>
          <p:cNvSpPr/>
          <p:nvPr/>
        </p:nvSpPr>
        <p:spPr>
          <a:xfrm>
            <a:off x="952500" y="7160568"/>
            <a:ext cx="3576786" cy="19050"/>
          </a:xfrm>
          <a:prstGeom prst="rect">
            <a:avLst/>
          </a:prstGeom>
          <a:solidFill>
            <a:srgbClr val="201E1D">
              <a:alpha val="20000"/>
            </a:srgbClr>
          </a:solidFill>
          <a:ln/>
        </p:spPr>
      </p:sp>
      <p:sp>
        <p:nvSpPr>
          <p:cNvPr id="38" name="Text 36"/>
          <p:cNvSpPr/>
          <p:nvPr/>
        </p:nvSpPr>
        <p:spPr>
          <a:xfrm>
            <a:off x="952500" y="6478637"/>
            <a:ext cx="3455490" cy="510480"/>
          </a:xfrm>
          <a:prstGeom prst="rect">
            <a:avLst/>
          </a:prstGeom>
          <a:noFill/>
          <a:ln/>
        </p:spPr>
        <p:txBody>
          <a:bodyPr wrap="square" lIns="25400" tIns="25400" rIns="25400" bIns="25400" rtlCol="0" anchor="ctr">
            <a:normAutofit/>
          </a:bodyPr>
          <a:lstStyle/>
          <a:p>
            <a:pPr algn="l" indent="0" marL="0">
              <a:lnSpc>
                <a:spcPct val="141714"/>
              </a:lnSpc>
              <a:buNone/>
            </a:pPr>
            <a:r>
              <a:rPr lang="en-US" sz="2400" dirty="0">
                <a:solidFill>
                  <a:srgbClr val="201E1D"/>
                </a:solidFill>
                <a:latin typeface="Archivo" pitchFamily="34" charset="0"/>
                <a:ea typeface="Archivo" pitchFamily="34" charset="-122"/>
                <a:cs typeface="Archivo" pitchFamily="34" charset="-120"/>
              </a:rPr>
              <a:t>Single-label sets</a:t>
            </a:r>
            <a:endParaRPr lang="en-US" sz="2400" dirty="0"/>
          </a:p>
        </p:txBody>
      </p:sp>
      <p:sp>
        <p:nvSpPr>
          <p:cNvPr id="39" name="Shape 37"/>
          <p:cNvSpPr/>
          <p:nvPr/>
        </p:nvSpPr>
        <p:spPr>
          <a:xfrm>
            <a:off x="4529286" y="7160568"/>
            <a:ext cx="3136999" cy="19050"/>
          </a:xfrm>
          <a:prstGeom prst="rect">
            <a:avLst/>
          </a:prstGeom>
          <a:solidFill>
            <a:srgbClr val="201E1D">
              <a:alpha val="20000"/>
            </a:srgbClr>
          </a:solidFill>
          <a:ln/>
        </p:spPr>
      </p:sp>
      <p:sp>
        <p:nvSpPr>
          <p:cNvPr id="40" name="Text 38"/>
          <p:cNvSpPr/>
          <p:nvPr/>
        </p:nvSpPr>
        <p:spPr>
          <a:xfrm>
            <a:off x="4663776" y="6478637"/>
            <a:ext cx="2773909" cy="510480"/>
          </a:xfrm>
          <a:prstGeom prst="rect">
            <a:avLst/>
          </a:prstGeom>
          <a:noFill/>
          <a:ln/>
        </p:spPr>
        <p:txBody>
          <a:bodyPr wrap="square" lIns="25400" tIns="25400" rIns="25400" bIns="25400" rtlCol="0" anchor="ctr">
            <a:normAutofit/>
          </a:bodyPr>
          <a:lstStyle/>
          <a:p>
            <a:pPr algn="r" indent="0" marL="0">
              <a:lnSpc>
                <a:spcPct val="141714"/>
              </a:lnSpc>
              <a:buNone/>
            </a:pPr>
            <a:r>
              <a:rPr lang="en-US" sz="2400" b="1" dirty="0">
                <a:solidFill>
                  <a:srgbClr val="201E1D"/>
                </a:solidFill>
                <a:latin typeface="Archivo" pitchFamily="34" charset="0"/>
                <a:ea typeface="Archivo" pitchFamily="34" charset="-122"/>
                <a:cs typeface="Archivo" pitchFamily="34" charset="-120"/>
              </a:rPr>
              <a:t>96.1%</a:t>
            </a:r>
            <a:endParaRPr lang="en-US" sz="2400" dirty="0"/>
          </a:p>
        </p:txBody>
      </p:sp>
      <p:sp>
        <p:nvSpPr>
          <p:cNvPr id="41" name="Shape 39"/>
          <p:cNvSpPr/>
          <p:nvPr/>
        </p:nvSpPr>
        <p:spPr>
          <a:xfrm>
            <a:off x="7666286" y="7160568"/>
            <a:ext cx="3425577" cy="19050"/>
          </a:xfrm>
          <a:prstGeom prst="rect">
            <a:avLst/>
          </a:prstGeom>
          <a:solidFill>
            <a:srgbClr val="201E1D">
              <a:alpha val="20000"/>
            </a:srgbClr>
          </a:solidFill>
          <a:ln/>
        </p:spPr>
      </p:sp>
      <p:sp>
        <p:nvSpPr>
          <p:cNvPr id="42" name="Text 40"/>
          <p:cNvSpPr/>
          <p:nvPr/>
        </p:nvSpPr>
        <p:spPr>
          <a:xfrm>
            <a:off x="7792118" y="6478637"/>
            <a:ext cx="3071144" cy="510480"/>
          </a:xfrm>
          <a:prstGeom prst="rect">
            <a:avLst/>
          </a:prstGeom>
          <a:noFill/>
          <a:ln/>
        </p:spPr>
        <p:txBody>
          <a:bodyPr wrap="square" lIns="25400" tIns="25400" rIns="25400" bIns="25400" rtlCol="0" anchor="ctr">
            <a:normAutofit/>
          </a:bodyPr>
          <a:lstStyle/>
          <a:p>
            <a:pPr algn="r" indent="0" marL="0">
              <a:lnSpc>
                <a:spcPct val="141714"/>
              </a:lnSpc>
              <a:buNone/>
            </a:pPr>
            <a:r>
              <a:rPr lang="en-US" sz="2400" b="1" dirty="0">
                <a:solidFill>
                  <a:srgbClr val="201E1D"/>
                </a:solidFill>
                <a:latin typeface="Archivo" pitchFamily="34" charset="0"/>
                <a:ea typeface="Archivo" pitchFamily="34" charset="-122"/>
                <a:cs typeface="Archivo" pitchFamily="34" charset="-120"/>
              </a:rPr>
              <a:t>9.5%</a:t>
            </a:r>
            <a:endParaRPr lang="en-US" sz="2400" dirty="0"/>
          </a:p>
        </p:txBody>
      </p:sp>
      <p:sp>
        <p:nvSpPr>
          <p:cNvPr id="43" name="Shape 41"/>
          <p:cNvSpPr/>
          <p:nvPr/>
        </p:nvSpPr>
        <p:spPr>
          <a:xfrm>
            <a:off x="11091863" y="7160568"/>
            <a:ext cx="6243638" cy="19050"/>
          </a:xfrm>
          <a:prstGeom prst="rect">
            <a:avLst/>
          </a:prstGeom>
          <a:solidFill>
            <a:srgbClr val="201E1D">
              <a:alpha val="20000"/>
            </a:srgbClr>
          </a:solidFill>
          <a:ln/>
        </p:spPr>
      </p:sp>
      <p:sp>
        <p:nvSpPr>
          <p:cNvPr id="44" name="Text 42"/>
          <p:cNvSpPr/>
          <p:nvPr/>
        </p:nvSpPr>
        <p:spPr>
          <a:xfrm>
            <a:off x="11472863" y="6478637"/>
            <a:ext cx="6049947" cy="510480"/>
          </a:xfrm>
          <a:prstGeom prst="rect">
            <a:avLst/>
          </a:prstGeom>
          <a:noFill/>
          <a:ln/>
        </p:spPr>
        <p:txBody>
          <a:bodyPr wrap="square" lIns="25400" tIns="25400" rIns="25400" bIns="25400" rtlCol="0" anchor="ctr">
            <a:normAutofit/>
          </a:bodyPr>
          <a:lstStyle/>
          <a:p>
            <a:pPr algn="l" indent="0" marL="0">
              <a:lnSpc>
                <a:spcPct val="143929"/>
              </a:lnSpc>
              <a:buNone/>
            </a:pPr>
            <a:r>
              <a:rPr lang="en-US" sz="1950" dirty="0">
                <a:solidFill>
                  <a:srgbClr val="605D5D"/>
                </a:solidFill>
                <a:latin typeface="Archivo" pitchFamily="34" charset="0"/>
                <a:ea typeface="Archivo" pitchFamily="34" charset="-122"/>
                <a:cs typeface="Archivo" pitchFamily="34" charset="-120"/>
              </a:rPr>
              <a:t>LAC behaves like a point classifier</a:t>
            </a:r>
            <a:endParaRPr lang="en-US" sz="1950" dirty="0"/>
          </a:p>
        </p:txBody>
      </p:sp>
      <p:sp>
        <p:nvSpPr>
          <p:cNvPr id="45" name="Shape 43"/>
          <p:cNvSpPr/>
          <p:nvPr/>
        </p:nvSpPr>
        <p:spPr>
          <a:xfrm>
            <a:off x="952500" y="8071098"/>
            <a:ext cx="3576786" cy="19050"/>
          </a:xfrm>
          <a:prstGeom prst="rect">
            <a:avLst/>
          </a:prstGeom>
          <a:solidFill>
            <a:srgbClr val="201E1D">
              <a:alpha val="20000"/>
            </a:srgbClr>
          </a:solidFill>
          <a:ln/>
        </p:spPr>
      </p:sp>
      <p:sp>
        <p:nvSpPr>
          <p:cNvPr id="46" name="Text 44"/>
          <p:cNvSpPr/>
          <p:nvPr/>
        </p:nvSpPr>
        <p:spPr>
          <a:xfrm>
            <a:off x="952500" y="7389168"/>
            <a:ext cx="3455490" cy="510480"/>
          </a:xfrm>
          <a:prstGeom prst="rect">
            <a:avLst/>
          </a:prstGeom>
          <a:noFill/>
          <a:ln/>
        </p:spPr>
        <p:txBody>
          <a:bodyPr wrap="square" lIns="25400" tIns="25400" rIns="25400" bIns="25400" rtlCol="0" anchor="ctr">
            <a:normAutofit/>
          </a:bodyPr>
          <a:lstStyle/>
          <a:p>
            <a:pPr algn="l" indent="0" marL="0">
              <a:lnSpc>
                <a:spcPct val="141714"/>
              </a:lnSpc>
              <a:buNone/>
            </a:pPr>
            <a:r>
              <a:rPr lang="en-US" sz="2400" dirty="0">
                <a:solidFill>
                  <a:srgbClr val="201E1D"/>
                </a:solidFill>
                <a:latin typeface="Archivo" pitchFamily="34" charset="0"/>
                <a:ea typeface="Archivo" pitchFamily="34" charset="-122"/>
                <a:cs typeface="Archivo" pitchFamily="34" charset="-120"/>
              </a:rPr>
              <a:t>Empty sets</a:t>
            </a:r>
            <a:endParaRPr lang="en-US" sz="2400" dirty="0"/>
          </a:p>
        </p:txBody>
      </p:sp>
      <p:sp>
        <p:nvSpPr>
          <p:cNvPr id="47" name="Shape 45"/>
          <p:cNvSpPr/>
          <p:nvPr/>
        </p:nvSpPr>
        <p:spPr>
          <a:xfrm>
            <a:off x="4529286" y="8071098"/>
            <a:ext cx="3136999" cy="19050"/>
          </a:xfrm>
          <a:prstGeom prst="rect">
            <a:avLst/>
          </a:prstGeom>
          <a:solidFill>
            <a:srgbClr val="201E1D">
              <a:alpha val="20000"/>
            </a:srgbClr>
          </a:solidFill>
          <a:ln/>
        </p:spPr>
      </p:sp>
      <p:sp>
        <p:nvSpPr>
          <p:cNvPr id="48" name="Text 46"/>
          <p:cNvSpPr/>
          <p:nvPr/>
        </p:nvSpPr>
        <p:spPr>
          <a:xfrm>
            <a:off x="4663776" y="7389168"/>
            <a:ext cx="2773909" cy="510480"/>
          </a:xfrm>
          <a:prstGeom prst="rect">
            <a:avLst/>
          </a:prstGeom>
          <a:noFill/>
          <a:ln/>
        </p:spPr>
        <p:txBody>
          <a:bodyPr wrap="square" lIns="25400" tIns="25400" rIns="25400" bIns="25400" rtlCol="0" anchor="ctr">
            <a:normAutofit/>
          </a:bodyPr>
          <a:lstStyle/>
          <a:p>
            <a:pPr algn="r" indent="0" marL="0">
              <a:lnSpc>
                <a:spcPct val="141714"/>
              </a:lnSpc>
              <a:buNone/>
            </a:pPr>
            <a:r>
              <a:rPr lang="en-US" sz="2400" b="1" dirty="0">
                <a:solidFill>
                  <a:srgbClr val="EC3013"/>
                </a:solidFill>
                <a:latin typeface="Archivo" pitchFamily="34" charset="0"/>
                <a:ea typeface="Archivo" pitchFamily="34" charset="-122"/>
                <a:cs typeface="Archivo" pitchFamily="34" charset="-120"/>
              </a:rPr>
              <a:t>3.0%</a:t>
            </a:r>
            <a:endParaRPr lang="en-US" sz="2400" dirty="0"/>
          </a:p>
        </p:txBody>
      </p:sp>
      <p:sp>
        <p:nvSpPr>
          <p:cNvPr id="49" name="Shape 47"/>
          <p:cNvSpPr/>
          <p:nvPr/>
        </p:nvSpPr>
        <p:spPr>
          <a:xfrm>
            <a:off x="7666286" y="8071098"/>
            <a:ext cx="3425577" cy="19050"/>
          </a:xfrm>
          <a:prstGeom prst="rect">
            <a:avLst/>
          </a:prstGeom>
          <a:solidFill>
            <a:srgbClr val="201E1D">
              <a:alpha val="20000"/>
            </a:srgbClr>
          </a:solidFill>
          <a:ln/>
        </p:spPr>
      </p:sp>
      <p:sp>
        <p:nvSpPr>
          <p:cNvPr id="50" name="Text 48"/>
          <p:cNvSpPr/>
          <p:nvPr/>
        </p:nvSpPr>
        <p:spPr>
          <a:xfrm>
            <a:off x="7792118" y="7389168"/>
            <a:ext cx="3071144" cy="510480"/>
          </a:xfrm>
          <a:prstGeom prst="rect">
            <a:avLst/>
          </a:prstGeom>
          <a:noFill/>
          <a:ln/>
        </p:spPr>
        <p:txBody>
          <a:bodyPr wrap="square" lIns="25400" tIns="25400" rIns="25400" bIns="25400" rtlCol="0" anchor="ctr">
            <a:normAutofit/>
          </a:bodyPr>
          <a:lstStyle/>
          <a:p>
            <a:pPr algn="r" indent="0" marL="0">
              <a:lnSpc>
                <a:spcPct val="141714"/>
              </a:lnSpc>
              <a:buNone/>
            </a:pPr>
            <a:r>
              <a:rPr lang="en-US" sz="2400" b="1" dirty="0">
                <a:solidFill>
                  <a:srgbClr val="201E1D"/>
                </a:solidFill>
                <a:latin typeface="Archivo" pitchFamily="34" charset="0"/>
                <a:ea typeface="Archivo" pitchFamily="34" charset="-122"/>
                <a:cs typeface="Archivo" pitchFamily="34" charset="-120"/>
              </a:rPr>
              <a:t>0.0%</a:t>
            </a:r>
            <a:endParaRPr lang="en-US" sz="2400" dirty="0"/>
          </a:p>
        </p:txBody>
      </p:sp>
      <p:sp>
        <p:nvSpPr>
          <p:cNvPr id="51" name="Shape 49"/>
          <p:cNvSpPr/>
          <p:nvPr/>
        </p:nvSpPr>
        <p:spPr>
          <a:xfrm>
            <a:off x="11091863" y="8071098"/>
            <a:ext cx="6243638" cy="19050"/>
          </a:xfrm>
          <a:prstGeom prst="rect">
            <a:avLst/>
          </a:prstGeom>
          <a:solidFill>
            <a:srgbClr val="201E1D">
              <a:alpha val="20000"/>
            </a:srgbClr>
          </a:solidFill>
          <a:ln/>
        </p:spPr>
      </p:sp>
      <p:sp>
        <p:nvSpPr>
          <p:cNvPr id="52" name="Text 50"/>
          <p:cNvSpPr/>
          <p:nvPr/>
        </p:nvSpPr>
        <p:spPr>
          <a:xfrm>
            <a:off x="11472863" y="7389168"/>
            <a:ext cx="6049947" cy="510480"/>
          </a:xfrm>
          <a:prstGeom prst="rect">
            <a:avLst/>
          </a:prstGeom>
          <a:noFill/>
          <a:ln/>
        </p:spPr>
        <p:txBody>
          <a:bodyPr wrap="square" lIns="25400" tIns="25400" rIns="25400" bIns="25400" rtlCol="0" anchor="ctr">
            <a:normAutofit/>
          </a:bodyPr>
          <a:lstStyle/>
          <a:p>
            <a:pPr algn="l" indent="0" marL="0">
              <a:lnSpc>
                <a:spcPct val="143929"/>
              </a:lnSpc>
              <a:buNone/>
            </a:pPr>
            <a:r>
              <a:rPr lang="en-US" sz="1950" dirty="0">
                <a:solidFill>
                  <a:srgbClr val="605D5D"/>
                </a:solidFill>
                <a:latin typeface="Archivo" pitchFamily="34" charset="0"/>
                <a:ea typeface="Archivo" pitchFamily="34" charset="-122"/>
                <a:cs typeface="Archivo" pitchFamily="34" charset="-120"/>
              </a:rPr>
              <a:t>LAC abstains silently on hard images</a:t>
            </a:r>
            <a:endParaRPr lang="en-US" sz="1950" dirty="0"/>
          </a:p>
        </p:txBody>
      </p:sp>
      <p:sp>
        <p:nvSpPr>
          <p:cNvPr id="53" name="Shape 51"/>
          <p:cNvSpPr/>
          <p:nvPr/>
        </p:nvSpPr>
        <p:spPr>
          <a:xfrm>
            <a:off x="952500" y="8981629"/>
            <a:ext cx="3576786" cy="19050"/>
          </a:xfrm>
          <a:prstGeom prst="rect">
            <a:avLst/>
          </a:prstGeom>
          <a:solidFill>
            <a:srgbClr val="201E1D">
              <a:alpha val="20000"/>
            </a:srgbClr>
          </a:solidFill>
          <a:ln/>
        </p:spPr>
      </p:sp>
      <p:sp>
        <p:nvSpPr>
          <p:cNvPr id="54" name="Text 52"/>
          <p:cNvSpPr/>
          <p:nvPr/>
        </p:nvSpPr>
        <p:spPr>
          <a:xfrm>
            <a:off x="952500" y="8299698"/>
            <a:ext cx="3455490" cy="510480"/>
          </a:xfrm>
          <a:prstGeom prst="rect">
            <a:avLst/>
          </a:prstGeom>
          <a:noFill/>
          <a:ln/>
        </p:spPr>
        <p:txBody>
          <a:bodyPr wrap="square" lIns="25400" tIns="25400" rIns="25400" bIns="25400" rtlCol="0" anchor="ctr">
            <a:normAutofit/>
          </a:bodyPr>
          <a:lstStyle/>
          <a:p>
            <a:pPr algn="l" indent="0" marL="0">
              <a:lnSpc>
                <a:spcPct val="141714"/>
              </a:lnSpc>
              <a:buNone/>
            </a:pPr>
            <a:r>
              <a:rPr lang="en-US" sz="2400" dirty="0">
                <a:solidFill>
                  <a:srgbClr val="201E1D"/>
                </a:solidFill>
                <a:latin typeface="Archivo" pitchFamily="34" charset="0"/>
                <a:ea typeface="Archivo" pitchFamily="34" charset="-122"/>
                <a:cs typeface="Archivo" pitchFamily="34" charset="-120"/>
              </a:rPr>
              <a:t>Worst digit coverage</a:t>
            </a:r>
            <a:endParaRPr lang="en-US" sz="2400" dirty="0"/>
          </a:p>
        </p:txBody>
      </p:sp>
      <p:sp>
        <p:nvSpPr>
          <p:cNvPr id="55" name="Shape 53"/>
          <p:cNvSpPr/>
          <p:nvPr/>
        </p:nvSpPr>
        <p:spPr>
          <a:xfrm>
            <a:off x="4529286" y="8981629"/>
            <a:ext cx="3136999" cy="19050"/>
          </a:xfrm>
          <a:prstGeom prst="rect">
            <a:avLst/>
          </a:prstGeom>
          <a:solidFill>
            <a:srgbClr val="201E1D">
              <a:alpha val="20000"/>
            </a:srgbClr>
          </a:solidFill>
          <a:ln/>
        </p:spPr>
      </p:sp>
      <p:sp>
        <p:nvSpPr>
          <p:cNvPr id="56" name="Text 54"/>
          <p:cNvSpPr/>
          <p:nvPr/>
        </p:nvSpPr>
        <p:spPr>
          <a:xfrm>
            <a:off x="4663776" y="8299698"/>
            <a:ext cx="2773909" cy="510480"/>
          </a:xfrm>
          <a:prstGeom prst="rect">
            <a:avLst/>
          </a:prstGeom>
          <a:noFill/>
          <a:ln/>
        </p:spPr>
        <p:txBody>
          <a:bodyPr wrap="square" lIns="25400" tIns="25400" rIns="25400" bIns="25400" rtlCol="0" anchor="ctr">
            <a:normAutofit/>
          </a:bodyPr>
          <a:lstStyle/>
          <a:p>
            <a:pPr algn="r" indent="0" marL="0">
              <a:lnSpc>
                <a:spcPct val="141714"/>
              </a:lnSpc>
              <a:buNone/>
            </a:pPr>
            <a:r>
              <a:rPr lang="en-US" sz="2400" b="1" dirty="0">
                <a:solidFill>
                  <a:srgbClr val="EC3013"/>
                </a:solidFill>
                <a:latin typeface="Archivo" pitchFamily="34" charset="0"/>
                <a:ea typeface="Archivo" pitchFamily="34" charset="-122"/>
                <a:cs typeface="Archivo" pitchFamily="34" charset="-120"/>
              </a:rPr>
              <a:t>79.4%</a:t>
            </a:r>
            <a:endParaRPr lang="en-US" sz="2400" dirty="0"/>
          </a:p>
        </p:txBody>
      </p:sp>
      <p:sp>
        <p:nvSpPr>
          <p:cNvPr id="57" name="Shape 55"/>
          <p:cNvSpPr/>
          <p:nvPr/>
        </p:nvSpPr>
        <p:spPr>
          <a:xfrm>
            <a:off x="7666286" y="8981629"/>
            <a:ext cx="3425577" cy="19050"/>
          </a:xfrm>
          <a:prstGeom prst="rect">
            <a:avLst/>
          </a:prstGeom>
          <a:solidFill>
            <a:srgbClr val="201E1D">
              <a:alpha val="20000"/>
            </a:srgbClr>
          </a:solidFill>
          <a:ln/>
        </p:spPr>
      </p:sp>
      <p:sp>
        <p:nvSpPr>
          <p:cNvPr id="58" name="Text 56"/>
          <p:cNvSpPr/>
          <p:nvPr/>
        </p:nvSpPr>
        <p:spPr>
          <a:xfrm>
            <a:off x="7792118" y="8299698"/>
            <a:ext cx="3071144" cy="510480"/>
          </a:xfrm>
          <a:prstGeom prst="rect">
            <a:avLst/>
          </a:prstGeom>
          <a:noFill/>
          <a:ln/>
        </p:spPr>
        <p:txBody>
          <a:bodyPr wrap="square" lIns="25400" tIns="25400" rIns="25400" bIns="25400" rtlCol="0" anchor="ctr">
            <a:normAutofit/>
          </a:bodyPr>
          <a:lstStyle/>
          <a:p>
            <a:pPr algn="r" indent="0" marL="0">
              <a:lnSpc>
                <a:spcPct val="141714"/>
              </a:lnSpc>
              <a:buNone/>
            </a:pPr>
            <a:r>
              <a:rPr lang="en-US" sz="2400" b="1" dirty="0">
                <a:solidFill>
                  <a:srgbClr val="201E1D"/>
                </a:solidFill>
                <a:latin typeface="Archivo" pitchFamily="34" charset="0"/>
                <a:ea typeface="Archivo" pitchFamily="34" charset="-122"/>
                <a:cs typeface="Archivo" pitchFamily="34" charset="-120"/>
              </a:rPr>
              <a:t>99.1%</a:t>
            </a:r>
            <a:endParaRPr lang="en-US" sz="2400" dirty="0"/>
          </a:p>
        </p:txBody>
      </p:sp>
      <p:sp>
        <p:nvSpPr>
          <p:cNvPr id="59" name="Shape 57"/>
          <p:cNvSpPr/>
          <p:nvPr/>
        </p:nvSpPr>
        <p:spPr>
          <a:xfrm>
            <a:off x="11091863" y="8981629"/>
            <a:ext cx="6243638" cy="19050"/>
          </a:xfrm>
          <a:prstGeom prst="rect">
            <a:avLst/>
          </a:prstGeom>
          <a:solidFill>
            <a:srgbClr val="201E1D">
              <a:alpha val="20000"/>
            </a:srgbClr>
          </a:solidFill>
          <a:ln/>
        </p:spPr>
      </p:sp>
      <p:sp>
        <p:nvSpPr>
          <p:cNvPr id="60" name="Text 58"/>
          <p:cNvSpPr/>
          <p:nvPr/>
        </p:nvSpPr>
        <p:spPr>
          <a:xfrm>
            <a:off x="11472863" y="8299698"/>
            <a:ext cx="6049947" cy="510480"/>
          </a:xfrm>
          <a:prstGeom prst="rect">
            <a:avLst/>
          </a:prstGeom>
          <a:noFill/>
          <a:ln/>
        </p:spPr>
        <p:txBody>
          <a:bodyPr wrap="square" lIns="25400" tIns="25400" rIns="25400" bIns="25400" rtlCol="0" anchor="ctr">
            <a:normAutofit/>
          </a:bodyPr>
          <a:lstStyle/>
          <a:p>
            <a:pPr algn="l" indent="0" marL="0">
              <a:lnSpc>
                <a:spcPct val="143929"/>
              </a:lnSpc>
              <a:buNone/>
            </a:pPr>
            <a:r>
              <a:rPr lang="en-US" sz="1950" dirty="0">
                <a:solidFill>
                  <a:srgbClr val="605D5D"/>
                </a:solidFill>
                <a:latin typeface="Archivo" pitchFamily="34" charset="0"/>
                <a:ea typeface="Archivo" pitchFamily="34" charset="-122"/>
                <a:cs typeface="Archivo" pitchFamily="34" charset="-120"/>
              </a:rPr>
              <a:t>Conditional coverage is where LAC pays</a:t>
            </a:r>
            <a:endParaRPr lang="en-US" sz="19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3F2F2"/>
        </a:solidFill>
      </p:bgPr>
    </p:bg>
    <p:spTree>
      <p:nvGrpSpPr>
        <p:cNvPr id="1" name=""/>
        <p:cNvGrpSpPr/>
        <p:nvPr/>
      </p:nvGrpSpPr>
      <p:grpSpPr>
        <a:xfrm>
          <a:off x="0" y="0"/>
          <a:ext cx="0" cy="0"/>
          <a:chOff x="0" y="0"/>
          <a:chExt cx="0" cy="0"/>
        </a:xfrm>
      </p:grpSpPr>
      <p:sp>
        <p:nvSpPr>
          <p:cNvPr id="2" name="Text 0"/>
          <p:cNvSpPr/>
          <p:nvPr/>
        </p:nvSpPr>
        <p:spPr>
          <a:xfrm>
            <a:off x="952500" y="952500"/>
            <a:ext cx="18021300" cy="392311"/>
          </a:xfrm>
          <a:prstGeom prst="rect">
            <a:avLst/>
          </a:prstGeom>
          <a:noFill/>
          <a:ln/>
        </p:spPr>
        <p:txBody>
          <a:bodyPr wrap="square" lIns="25400" tIns="25400" rIns="25400" bIns="25400" rtlCol="0" anchor="t">
            <a:normAutofit/>
          </a:bodyPr>
          <a:lstStyle/>
          <a:p>
            <a:pPr algn="l" indent="0" marL="0">
              <a:lnSpc>
                <a:spcPct val="143077"/>
              </a:lnSpc>
              <a:buNone/>
            </a:pPr>
            <a:r>
              <a:rPr lang="en-US" sz="1800" b="1" spc="216" kern="0" dirty="0">
                <a:solidFill>
                  <a:srgbClr val="EC3013"/>
                </a:solidFill>
                <a:latin typeface="Archivo" pitchFamily="34" charset="0"/>
                <a:ea typeface="Archivo" pitchFamily="34" charset="-122"/>
                <a:cs typeface="Archivo" pitchFamily="34" charset="-120"/>
              </a:rPr>
              <a:t>EVALUATION — SECTION 4.1</a:t>
            </a:r>
            <a:endParaRPr lang="en-US" sz="1800" dirty="0"/>
          </a:p>
        </p:txBody>
      </p:sp>
      <p:sp>
        <p:nvSpPr>
          <p:cNvPr id="3" name="Text 1"/>
          <p:cNvSpPr/>
          <p:nvPr/>
        </p:nvSpPr>
        <p:spPr>
          <a:xfrm>
            <a:off x="952500" y="1421011"/>
            <a:ext cx="18021300" cy="696367"/>
          </a:xfrm>
          <a:prstGeom prst="rect">
            <a:avLst/>
          </a:prstGeom>
          <a:noFill/>
          <a:ln/>
        </p:spPr>
        <p:txBody>
          <a:bodyPr wrap="square" lIns="25400" tIns="25400" rIns="25400" bIns="25400" rtlCol="0" anchor="t">
            <a:normAutofit/>
          </a:bodyPr>
          <a:lstStyle/>
          <a:p>
            <a:pPr algn="l" indent="0" marL="0">
              <a:lnSpc>
                <a:spcPct val="100174"/>
              </a:lnSpc>
              <a:buNone/>
            </a:pPr>
            <a:r>
              <a:rPr lang="en-US" sz="4800" b="1" spc="-72" kern="0" dirty="0">
                <a:solidFill>
                  <a:srgbClr val="201E1D"/>
                </a:solidFill>
                <a:latin typeface="Archivo" pitchFamily="34" charset="0"/>
                <a:ea typeface="Archivo" pitchFamily="34" charset="-122"/>
                <a:cs typeface="Archivo" pitchFamily="34" charset="-120"/>
              </a:rPr>
              <a:t>Coverage over Fifty Random Splits</a:t>
            </a:r>
            <a:endParaRPr lang="en-US" sz="4800" dirty="0"/>
          </a:p>
        </p:txBody>
      </p:sp>
      <p:pic>
        <p:nvPicPr>
          <p:cNvPr id="4"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952500" y="2841278"/>
            <a:ext cx="16383000" cy="4191000"/>
          </a:xfrm>
          <a:prstGeom prst="rect">
            <a:avLst/>
          </a:prstGeom>
        </p:spPr>
      </p:pic>
      <p:sp>
        <p:nvSpPr>
          <p:cNvPr id="5" name="Shape 2"/>
          <p:cNvSpPr/>
          <p:nvPr/>
        </p:nvSpPr>
        <p:spPr>
          <a:xfrm>
            <a:off x="952500" y="7451378"/>
            <a:ext cx="16383000" cy="2204442"/>
          </a:xfrm>
          <a:prstGeom prst="rect">
            <a:avLst/>
          </a:prstGeom>
          <a:solidFill>
            <a:srgbClr val="201E1D">
              <a:alpha val="40000"/>
            </a:srgbClr>
          </a:solidFill>
          <a:ln/>
        </p:spPr>
      </p:sp>
      <p:sp>
        <p:nvSpPr>
          <p:cNvPr id="6" name="Shape 3"/>
          <p:cNvSpPr/>
          <p:nvPr/>
        </p:nvSpPr>
        <p:spPr>
          <a:xfrm>
            <a:off x="952500" y="7451378"/>
            <a:ext cx="5448300" cy="2204442"/>
          </a:xfrm>
          <a:prstGeom prst="rect">
            <a:avLst/>
          </a:prstGeom>
          <a:solidFill>
            <a:srgbClr val="F3F2F2"/>
          </a:solidFill>
          <a:ln/>
        </p:spPr>
      </p:sp>
      <p:sp>
        <p:nvSpPr>
          <p:cNvPr id="7" name="Text 4"/>
          <p:cNvSpPr/>
          <p:nvPr/>
        </p:nvSpPr>
        <p:spPr>
          <a:xfrm>
            <a:off x="952500" y="7451378"/>
            <a:ext cx="5490210" cy="333375"/>
          </a:xfrm>
          <a:prstGeom prst="rect">
            <a:avLst/>
          </a:prstGeom>
          <a:noFill/>
          <a:ln/>
        </p:spPr>
        <p:txBody>
          <a:bodyPr wrap="square" lIns="25400" tIns="25400" rIns="25400" bIns="25400" rtlCol="0" anchor="t">
            <a:normAutofit/>
          </a:bodyPr>
          <a:lstStyle/>
          <a:p>
            <a:pPr algn="l" indent="0" marL="0">
              <a:lnSpc>
                <a:spcPct val="140909"/>
              </a:lnSpc>
              <a:buNone/>
            </a:pPr>
            <a:r>
              <a:rPr lang="en-US" sz="1500" b="1" spc="120" kern="0" dirty="0">
                <a:solidFill>
                  <a:srgbClr val="7D7979"/>
                </a:solidFill>
                <a:latin typeface="Archivo" pitchFamily="34" charset="0"/>
                <a:ea typeface="Archivo" pitchFamily="34" charset="-122"/>
                <a:cs typeface="Archivo" pitchFamily="34" charset="-120"/>
              </a:rPr>
              <a:t>LAC COVERAGE</a:t>
            </a:r>
            <a:endParaRPr lang="en-US" sz="1500" dirty="0"/>
          </a:p>
        </p:txBody>
      </p:sp>
      <p:sp>
        <p:nvSpPr>
          <p:cNvPr id="8" name="Text 5"/>
          <p:cNvSpPr/>
          <p:nvPr/>
        </p:nvSpPr>
        <p:spPr>
          <a:xfrm>
            <a:off x="952500" y="7860953"/>
            <a:ext cx="5490210" cy="647700"/>
          </a:xfrm>
          <a:prstGeom prst="rect">
            <a:avLst/>
          </a:prstGeom>
          <a:noFill/>
          <a:ln/>
        </p:spPr>
        <p:txBody>
          <a:bodyPr wrap="square" lIns="25400" tIns="25400" rIns="25400" bIns="25400" rtlCol="0" anchor="t">
            <a:normAutofit/>
          </a:bodyPr>
          <a:lstStyle/>
          <a:p>
            <a:pPr algn="l" indent="0" marL="0">
              <a:lnSpc>
                <a:spcPct val="92754"/>
              </a:lnSpc>
              <a:buNone/>
            </a:pPr>
            <a:r>
              <a:rPr lang="en-US" sz="4800" b="1" dirty="0">
                <a:solidFill>
                  <a:srgbClr val="EC3013"/>
                </a:solidFill>
                <a:latin typeface="Archivo" pitchFamily="34" charset="0"/>
                <a:ea typeface="Archivo" pitchFamily="34" charset="-122"/>
                <a:cs typeface="Archivo" pitchFamily="34" charset="-120"/>
              </a:rPr>
              <a:t>90.08%</a:t>
            </a:r>
            <a:endParaRPr lang="en-US" sz="4800" dirty="0"/>
          </a:p>
        </p:txBody>
      </p:sp>
      <p:sp>
        <p:nvSpPr>
          <p:cNvPr id="9" name="Text 6"/>
          <p:cNvSpPr/>
          <p:nvPr/>
        </p:nvSpPr>
        <p:spPr>
          <a:xfrm>
            <a:off x="952500" y="8584853"/>
            <a:ext cx="5490210" cy="421928"/>
          </a:xfrm>
          <a:prstGeom prst="rect">
            <a:avLst/>
          </a:prstGeom>
          <a:noFill/>
          <a:ln/>
        </p:spPr>
        <p:txBody>
          <a:bodyPr wrap="square" lIns="25400" tIns="25400" rIns="25400" bIns="25400" rtlCol="0" anchor="t">
            <a:normAutofit/>
          </a:bodyPr>
          <a:lstStyle/>
          <a:p>
            <a:pPr algn="l" indent="0" marL="0">
              <a:lnSpc>
                <a:spcPct val="143929"/>
              </a:lnSpc>
              <a:buNone/>
            </a:pPr>
            <a:r>
              <a:rPr lang="en-US" sz="1950" dirty="0">
                <a:solidFill>
                  <a:srgbClr val="605D5D"/>
                </a:solidFill>
                <a:latin typeface="Archivo" pitchFamily="34" charset="0"/>
                <a:ea typeface="Archivo" pitchFamily="34" charset="-122"/>
                <a:cs typeface="Archivo" pitchFamily="34" charset="-120"/>
              </a:rPr>
              <a:t>σ = 1.12 pts, range 87.4 – 92.1</a:t>
            </a:r>
            <a:endParaRPr lang="en-US" sz="1950" dirty="0"/>
          </a:p>
        </p:txBody>
      </p:sp>
      <p:sp>
        <p:nvSpPr>
          <p:cNvPr id="10" name="Shape 7"/>
          <p:cNvSpPr/>
          <p:nvPr/>
        </p:nvSpPr>
        <p:spPr>
          <a:xfrm>
            <a:off x="6419850" y="7451378"/>
            <a:ext cx="5448300" cy="2204442"/>
          </a:xfrm>
          <a:prstGeom prst="rect">
            <a:avLst/>
          </a:prstGeom>
          <a:solidFill>
            <a:srgbClr val="F3F2F2"/>
          </a:solidFill>
          <a:ln/>
        </p:spPr>
      </p:sp>
      <p:sp>
        <p:nvSpPr>
          <p:cNvPr id="11" name="Text 8"/>
          <p:cNvSpPr/>
          <p:nvPr/>
        </p:nvSpPr>
        <p:spPr>
          <a:xfrm>
            <a:off x="6877050" y="7451378"/>
            <a:ext cx="4987290" cy="333375"/>
          </a:xfrm>
          <a:prstGeom prst="rect">
            <a:avLst/>
          </a:prstGeom>
          <a:noFill/>
          <a:ln/>
        </p:spPr>
        <p:txBody>
          <a:bodyPr wrap="square" lIns="25400" tIns="25400" rIns="25400" bIns="25400" rtlCol="0" anchor="t">
            <a:normAutofit/>
          </a:bodyPr>
          <a:lstStyle/>
          <a:p>
            <a:pPr algn="l" indent="0" marL="0">
              <a:lnSpc>
                <a:spcPct val="140909"/>
              </a:lnSpc>
              <a:buNone/>
            </a:pPr>
            <a:r>
              <a:rPr lang="en-US" sz="1500" b="1" spc="120" kern="0" dirty="0">
                <a:solidFill>
                  <a:srgbClr val="7D7979"/>
                </a:solidFill>
                <a:latin typeface="Archivo" pitchFamily="34" charset="0"/>
                <a:ea typeface="Archivo" pitchFamily="34" charset="-122"/>
                <a:cs typeface="Archivo" pitchFamily="34" charset="-120"/>
              </a:rPr>
              <a:t>APS COVERAGE</a:t>
            </a:r>
            <a:endParaRPr lang="en-US" sz="1500" dirty="0"/>
          </a:p>
        </p:txBody>
      </p:sp>
      <p:sp>
        <p:nvSpPr>
          <p:cNvPr id="12" name="Text 9"/>
          <p:cNvSpPr/>
          <p:nvPr/>
        </p:nvSpPr>
        <p:spPr>
          <a:xfrm>
            <a:off x="6877050" y="7860953"/>
            <a:ext cx="4987290" cy="647700"/>
          </a:xfrm>
          <a:prstGeom prst="rect">
            <a:avLst/>
          </a:prstGeom>
          <a:noFill/>
          <a:ln/>
        </p:spPr>
        <p:txBody>
          <a:bodyPr wrap="square" lIns="25400" tIns="25400" rIns="25400" bIns="25400" rtlCol="0" anchor="t">
            <a:normAutofit/>
          </a:bodyPr>
          <a:lstStyle/>
          <a:p>
            <a:pPr algn="l" indent="0" marL="0">
              <a:lnSpc>
                <a:spcPct val="92754"/>
              </a:lnSpc>
              <a:buNone/>
            </a:pPr>
            <a:r>
              <a:rPr lang="en-US" sz="4800" b="1" dirty="0">
                <a:solidFill>
                  <a:srgbClr val="201E1D"/>
                </a:solidFill>
                <a:latin typeface="Archivo" pitchFamily="34" charset="0"/>
                <a:ea typeface="Archivo" pitchFamily="34" charset="-122"/>
                <a:cs typeface="Archivo" pitchFamily="34" charset="-120"/>
              </a:rPr>
              <a:t>99.71%</a:t>
            </a:r>
            <a:endParaRPr lang="en-US" sz="4800" dirty="0"/>
          </a:p>
        </p:txBody>
      </p:sp>
      <p:sp>
        <p:nvSpPr>
          <p:cNvPr id="13" name="Text 10"/>
          <p:cNvSpPr/>
          <p:nvPr/>
        </p:nvSpPr>
        <p:spPr>
          <a:xfrm>
            <a:off x="6877050" y="8584853"/>
            <a:ext cx="4987290" cy="421928"/>
          </a:xfrm>
          <a:prstGeom prst="rect">
            <a:avLst/>
          </a:prstGeom>
          <a:noFill/>
          <a:ln/>
        </p:spPr>
        <p:txBody>
          <a:bodyPr wrap="square" lIns="25400" tIns="25400" rIns="25400" bIns="25400" rtlCol="0" anchor="t">
            <a:normAutofit/>
          </a:bodyPr>
          <a:lstStyle/>
          <a:p>
            <a:pPr algn="l" indent="0" marL="0">
              <a:lnSpc>
                <a:spcPct val="143929"/>
              </a:lnSpc>
              <a:buNone/>
            </a:pPr>
            <a:r>
              <a:rPr lang="en-US" sz="1950" dirty="0">
                <a:solidFill>
                  <a:srgbClr val="605D5D"/>
                </a:solidFill>
                <a:latin typeface="Archivo" pitchFamily="34" charset="0"/>
                <a:ea typeface="Archivo" pitchFamily="34" charset="-122"/>
                <a:cs typeface="Archivo" pitchFamily="34" charset="-120"/>
              </a:rPr>
              <a:t>σ = 0.10 pts, range 99.5 – 99.9</a:t>
            </a:r>
            <a:endParaRPr lang="en-US" sz="1950" dirty="0"/>
          </a:p>
        </p:txBody>
      </p:sp>
      <p:sp>
        <p:nvSpPr>
          <p:cNvPr id="14" name="Shape 11"/>
          <p:cNvSpPr/>
          <p:nvPr/>
        </p:nvSpPr>
        <p:spPr>
          <a:xfrm>
            <a:off x="11887200" y="7451378"/>
            <a:ext cx="5448300" cy="2204442"/>
          </a:xfrm>
          <a:prstGeom prst="rect">
            <a:avLst/>
          </a:prstGeom>
          <a:solidFill>
            <a:srgbClr val="F3F2F2"/>
          </a:solidFill>
          <a:ln/>
        </p:spPr>
      </p:sp>
      <p:sp>
        <p:nvSpPr>
          <p:cNvPr id="15" name="Text 12"/>
          <p:cNvSpPr/>
          <p:nvPr/>
        </p:nvSpPr>
        <p:spPr>
          <a:xfrm>
            <a:off x="12344400" y="7451378"/>
            <a:ext cx="5490210" cy="333375"/>
          </a:xfrm>
          <a:prstGeom prst="rect">
            <a:avLst/>
          </a:prstGeom>
          <a:noFill/>
          <a:ln/>
        </p:spPr>
        <p:txBody>
          <a:bodyPr wrap="square" lIns="25400" tIns="25400" rIns="25400" bIns="25400" rtlCol="0" anchor="t">
            <a:normAutofit/>
          </a:bodyPr>
          <a:lstStyle/>
          <a:p>
            <a:pPr algn="l" indent="0" marL="0">
              <a:lnSpc>
                <a:spcPct val="140909"/>
              </a:lnSpc>
              <a:buNone/>
            </a:pPr>
            <a:r>
              <a:rPr lang="en-US" sz="1500" b="1" spc="120" kern="0" dirty="0">
                <a:solidFill>
                  <a:srgbClr val="7D7979"/>
                </a:solidFill>
                <a:latin typeface="Archivo" pitchFamily="34" charset="0"/>
                <a:ea typeface="Archivo" pitchFamily="34" charset="-122"/>
                <a:cs typeface="Archivo" pitchFamily="34" charset="-120"/>
              </a:rPr>
              <a:t>INTERPRETATION</a:t>
            </a:r>
            <a:endParaRPr lang="en-US" sz="1500" dirty="0"/>
          </a:p>
        </p:txBody>
      </p:sp>
      <p:sp>
        <p:nvSpPr>
          <p:cNvPr id="16" name="Text 13"/>
          <p:cNvSpPr/>
          <p:nvPr/>
        </p:nvSpPr>
        <p:spPr>
          <a:xfrm>
            <a:off x="12344400" y="7860953"/>
            <a:ext cx="5140833" cy="1832967"/>
          </a:xfrm>
          <a:prstGeom prst="rect">
            <a:avLst/>
          </a:prstGeom>
          <a:noFill/>
          <a:ln/>
        </p:spPr>
        <p:txBody>
          <a:bodyPr wrap="square" lIns="25400" tIns="25400" rIns="25400" bIns="25400" rtlCol="0" anchor="t">
            <a:normAutofit/>
          </a:bodyPr>
          <a:lstStyle/>
          <a:p>
            <a:pPr algn="l" indent="0" marL="0">
              <a:lnSpc>
                <a:spcPct val="134643"/>
              </a:lnSpc>
              <a:buNone/>
            </a:pPr>
            <a:r>
              <a:rPr lang="en-US" sz="1950" dirty="0">
                <a:solidFill>
                  <a:srgbClr val="444141"/>
                </a:solidFill>
                <a:latin typeface="Archivo" pitchFamily="34" charset="0"/>
                <a:ea typeface="Archivo" pitchFamily="34" charset="-122"/>
                <a:cs typeface="Archivo" pitchFamily="34" charset="-120"/>
              </a:rPr>
              <a:t>The 88.15% seen on the single split was ordinary calibration noise. Averaged over splits the guarantee is met almost exactly — the theorem is about the average over calibration sets, not about one draw.</a:t>
            </a:r>
            <a:endParaRPr lang="en-US" sz="19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3F2F2"/>
        </a:solidFill>
      </p:bgPr>
    </p:bg>
    <p:spTree>
      <p:nvGrpSpPr>
        <p:cNvPr id="1" name=""/>
        <p:cNvGrpSpPr/>
        <p:nvPr/>
      </p:nvGrpSpPr>
      <p:grpSpPr>
        <a:xfrm>
          <a:off x="0" y="0"/>
          <a:ext cx="0" cy="0"/>
          <a:chOff x="0" y="0"/>
          <a:chExt cx="0" cy="0"/>
        </a:xfrm>
      </p:grpSpPr>
      <p:sp>
        <p:nvSpPr>
          <p:cNvPr id="2" name="Text 0"/>
          <p:cNvSpPr/>
          <p:nvPr/>
        </p:nvSpPr>
        <p:spPr>
          <a:xfrm>
            <a:off x="952500" y="952500"/>
            <a:ext cx="18021300" cy="392311"/>
          </a:xfrm>
          <a:prstGeom prst="rect">
            <a:avLst/>
          </a:prstGeom>
          <a:noFill/>
          <a:ln/>
        </p:spPr>
        <p:txBody>
          <a:bodyPr wrap="square" lIns="25400" tIns="25400" rIns="25400" bIns="25400" rtlCol="0" anchor="t">
            <a:normAutofit/>
          </a:bodyPr>
          <a:lstStyle/>
          <a:p>
            <a:pPr algn="l" indent="0" marL="0">
              <a:lnSpc>
                <a:spcPct val="143077"/>
              </a:lnSpc>
              <a:buNone/>
            </a:pPr>
            <a:r>
              <a:rPr lang="en-US" sz="1800" b="1" spc="216" kern="0" dirty="0">
                <a:solidFill>
                  <a:srgbClr val="EC3013"/>
                </a:solidFill>
                <a:latin typeface="Archivo" pitchFamily="34" charset="0"/>
                <a:ea typeface="Archivo" pitchFamily="34" charset="-122"/>
                <a:cs typeface="Archivo" pitchFamily="34" charset="-120"/>
              </a:rPr>
              <a:t>EVALUATION — SECTION 4.1</a:t>
            </a:r>
            <a:endParaRPr lang="en-US" sz="1800" dirty="0"/>
          </a:p>
        </p:txBody>
      </p:sp>
      <p:sp>
        <p:nvSpPr>
          <p:cNvPr id="3" name="Text 1"/>
          <p:cNvSpPr/>
          <p:nvPr/>
        </p:nvSpPr>
        <p:spPr>
          <a:xfrm>
            <a:off x="952500" y="1421011"/>
            <a:ext cx="18021300" cy="696367"/>
          </a:xfrm>
          <a:prstGeom prst="rect">
            <a:avLst/>
          </a:prstGeom>
          <a:noFill/>
          <a:ln/>
        </p:spPr>
        <p:txBody>
          <a:bodyPr wrap="square" lIns="25400" tIns="25400" rIns="25400" bIns="25400" rtlCol="0" anchor="t">
            <a:normAutofit/>
          </a:bodyPr>
          <a:lstStyle/>
          <a:p>
            <a:pPr algn="l" indent="0" marL="0">
              <a:lnSpc>
                <a:spcPct val="100174"/>
              </a:lnSpc>
              <a:buNone/>
            </a:pPr>
            <a:r>
              <a:rPr lang="en-US" sz="4800" b="1" spc="-72" kern="0" dirty="0">
                <a:solidFill>
                  <a:srgbClr val="201E1D"/>
                </a:solidFill>
                <a:latin typeface="Archivo" pitchFamily="34" charset="0"/>
                <a:ea typeface="Archivo" pitchFamily="34" charset="-122"/>
                <a:cs typeface="Archivo" pitchFamily="34" charset="-120"/>
              </a:rPr>
              <a:t>Set Size Distributions and Adaptiveness</a:t>
            </a:r>
            <a:endParaRPr lang="en-US" sz="4800" dirty="0"/>
          </a:p>
        </p:txBody>
      </p:sp>
      <p:sp>
        <p:nvSpPr>
          <p:cNvPr id="4" name="Shape 2"/>
          <p:cNvSpPr/>
          <p:nvPr/>
        </p:nvSpPr>
        <p:spPr>
          <a:xfrm>
            <a:off x="952500" y="2422178"/>
            <a:ext cx="16383000" cy="19050"/>
          </a:xfrm>
          <a:prstGeom prst="rect">
            <a:avLst/>
          </a:prstGeom>
          <a:solidFill>
            <a:srgbClr val="201E1D">
              <a:alpha val="40000"/>
            </a:srgbClr>
          </a:solidFill>
          <a:ln/>
        </p:spPr>
      </p:sp>
      <p:pic>
        <p:nvPicPr>
          <p:cNvPr id="5"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952500" y="2860328"/>
            <a:ext cx="9525000" cy="4381500"/>
          </a:xfrm>
          <a:prstGeom prst="rect">
            <a:avLst/>
          </a:prstGeom>
        </p:spPr>
      </p:pic>
      <p:sp>
        <p:nvSpPr>
          <p:cNvPr id="6" name="Text 3"/>
          <p:cNvSpPr/>
          <p:nvPr/>
        </p:nvSpPr>
        <p:spPr>
          <a:xfrm>
            <a:off x="952500" y="7394228"/>
            <a:ext cx="10477500" cy="358080"/>
          </a:xfrm>
          <a:prstGeom prst="rect">
            <a:avLst/>
          </a:prstGeom>
          <a:noFill/>
          <a:ln/>
        </p:spPr>
        <p:txBody>
          <a:bodyPr wrap="square" lIns="25400" tIns="25400" rIns="25400" bIns="25400" rtlCol="0" anchor="t">
            <a:normAutofit/>
          </a:bodyPr>
          <a:lstStyle/>
          <a:p>
            <a:pPr algn="l" indent="0" marL="0">
              <a:lnSpc>
                <a:spcPct val="129231"/>
              </a:lnSpc>
              <a:buNone/>
            </a:pPr>
            <a:r>
              <a:rPr lang="en-US" sz="1800" dirty="0">
                <a:solidFill>
                  <a:srgbClr val="605D5D"/>
                </a:solidFill>
                <a:latin typeface="Archivo" pitchFamily="34" charset="0"/>
                <a:ea typeface="Archivo" pitchFamily="34" charset="-122"/>
                <a:cs typeface="Archivo" pitchFamily="34" charset="-120"/>
              </a:rPr>
              <a:t>Number of test images by set size. Dark bars LAC, red bars APS.</a:t>
            </a:r>
            <a:endParaRPr lang="en-US" sz="1800" dirty="0"/>
          </a:p>
        </p:txBody>
      </p:sp>
      <p:sp>
        <p:nvSpPr>
          <p:cNvPr id="7" name="Text 4"/>
          <p:cNvSpPr/>
          <p:nvPr/>
        </p:nvSpPr>
        <p:spPr>
          <a:xfrm>
            <a:off x="11239500" y="2860328"/>
            <a:ext cx="6278880" cy="944761"/>
          </a:xfrm>
          <a:prstGeom prst="rect">
            <a:avLst/>
          </a:prstGeom>
          <a:noFill/>
          <a:ln/>
        </p:spPr>
        <p:txBody>
          <a:bodyPr wrap="square" lIns="25400" tIns="25400" rIns="25400" bIns="25400" rtlCol="0" anchor="t">
            <a:normAutofit/>
          </a:bodyPr>
          <a:lstStyle/>
          <a:p>
            <a:pPr algn="l" indent="0" marL="0">
              <a:lnSpc>
                <a:spcPct val="128649"/>
              </a:lnSpc>
              <a:buNone/>
            </a:pPr>
            <a:r>
              <a:rPr lang="en-US" sz="2550" dirty="0">
                <a:solidFill>
                  <a:srgbClr val="201E1D"/>
                </a:solidFill>
                <a:latin typeface="Archivo" pitchFamily="34" charset="0"/>
                <a:ea typeface="Archivo" pitchFamily="34" charset="-122"/>
                <a:cs typeface="Archivo" pitchFamily="34" charset="-120"/>
              </a:rPr>
              <a:t>LAC produces a spike; APS produces a distribution.</a:t>
            </a:r>
            <a:endParaRPr lang="en-US" sz="2550" dirty="0"/>
          </a:p>
        </p:txBody>
      </p:sp>
      <p:sp>
        <p:nvSpPr>
          <p:cNvPr id="8" name="Text 5"/>
          <p:cNvSpPr/>
          <p:nvPr/>
        </p:nvSpPr>
        <p:spPr>
          <a:xfrm>
            <a:off x="11239500" y="4033689"/>
            <a:ext cx="6278880" cy="1638300"/>
          </a:xfrm>
          <a:prstGeom prst="rect">
            <a:avLst/>
          </a:prstGeom>
          <a:noFill/>
          <a:ln/>
        </p:spPr>
        <p:txBody>
          <a:bodyPr wrap="square" lIns="25400" tIns="25400" rIns="25400" bIns="25400" rtlCol="0" anchor="t">
            <a:normAutofit/>
          </a:bodyPr>
          <a:lstStyle/>
          <a:p>
            <a:pPr algn="l" indent="0" marL="0">
              <a:lnSpc>
                <a:spcPct val="135484"/>
              </a:lnSpc>
              <a:buNone/>
            </a:pPr>
            <a:r>
              <a:rPr lang="en-US" sz="2100" dirty="0">
                <a:solidFill>
                  <a:srgbClr val="444141"/>
                </a:solidFill>
                <a:latin typeface="Archivo" pitchFamily="34" charset="0"/>
                <a:ea typeface="Archivo" pitchFamily="34" charset="-122"/>
                <a:cs typeface="Archivo" pitchFamily="34" charset="-120"/>
              </a:rPr>
              <a:t>The paper argues a wider spread is desirable: it means the procedure separates easy inputs from hard ones. APS spans one to nine labels, LAC only zero to two.</a:t>
            </a:r>
            <a:endParaRPr lang="en-US" sz="2100" dirty="0"/>
          </a:p>
        </p:txBody>
      </p:sp>
      <p:sp>
        <p:nvSpPr>
          <p:cNvPr id="9" name="Shape 6"/>
          <p:cNvSpPr/>
          <p:nvPr/>
        </p:nvSpPr>
        <p:spPr>
          <a:xfrm>
            <a:off x="11239500" y="5900589"/>
            <a:ext cx="6096000" cy="19050"/>
          </a:xfrm>
          <a:prstGeom prst="rect">
            <a:avLst/>
          </a:prstGeom>
          <a:solidFill>
            <a:srgbClr val="201E1D">
              <a:alpha val="40000"/>
            </a:srgbClr>
          </a:solidFill>
          <a:ln/>
        </p:spPr>
      </p:sp>
      <p:sp>
        <p:nvSpPr>
          <p:cNvPr id="10" name="Text 7"/>
          <p:cNvSpPr/>
          <p:nvPr/>
        </p:nvSpPr>
        <p:spPr>
          <a:xfrm>
            <a:off x="11239500" y="6186339"/>
            <a:ext cx="6278880" cy="1638300"/>
          </a:xfrm>
          <a:prstGeom prst="rect">
            <a:avLst/>
          </a:prstGeom>
          <a:noFill/>
          <a:ln/>
        </p:spPr>
        <p:txBody>
          <a:bodyPr wrap="square" lIns="25400" tIns="25400" rIns="25400" bIns="25400" rtlCol="0" anchor="t">
            <a:normAutofit/>
          </a:bodyPr>
          <a:lstStyle/>
          <a:p>
            <a:pPr algn="l" indent="0" marL="0">
              <a:lnSpc>
                <a:spcPct val="135484"/>
              </a:lnSpc>
              <a:buNone/>
            </a:pPr>
            <a:r>
              <a:rPr lang="en-US" sz="2100" dirty="0">
                <a:solidFill>
                  <a:srgbClr val="444141"/>
                </a:solidFill>
                <a:latin typeface="Archivo" pitchFamily="34" charset="0"/>
                <a:ea typeface="Archivo" pitchFamily="34" charset="-122"/>
                <a:cs typeface="Archivo" pitchFamily="34" charset="-120"/>
              </a:rPr>
              <a:t>But spread is not free. APS pays 4.08 labels per image on average, and its narrowest sets still over-cover. Adaptiveness here comes bundled with inefficiency, not instead of it.</a:t>
            </a:r>
            <a:endParaRPr lang="en-US" sz="2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3F2F2"/>
        </a:solidFill>
      </p:bgPr>
    </p:bg>
    <p:spTree>
      <p:nvGrpSpPr>
        <p:cNvPr id="1" name=""/>
        <p:cNvGrpSpPr/>
        <p:nvPr/>
      </p:nvGrpSpPr>
      <p:grpSpPr>
        <a:xfrm>
          <a:off x="0" y="0"/>
          <a:ext cx="0" cy="0"/>
          <a:chOff x="0" y="0"/>
          <a:chExt cx="0" cy="0"/>
        </a:xfrm>
      </p:grpSpPr>
      <p:sp>
        <p:nvSpPr>
          <p:cNvPr id="2" name="Text 0"/>
          <p:cNvSpPr/>
          <p:nvPr/>
        </p:nvSpPr>
        <p:spPr>
          <a:xfrm>
            <a:off x="952500" y="952500"/>
            <a:ext cx="18021300" cy="392311"/>
          </a:xfrm>
          <a:prstGeom prst="rect">
            <a:avLst/>
          </a:prstGeom>
          <a:noFill/>
          <a:ln/>
        </p:spPr>
        <p:txBody>
          <a:bodyPr wrap="square" lIns="25400" tIns="25400" rIns="25400" bIns="25400" rtlCol="0" anchor="t">
            <a:normAutofit/>
          </a:bodyPr>
          <a:lstStyle/>
          <a:p>
            <a:pPr algn="l" indent="0" marL="0">
              <a:lnSpc>
                <a:spcPct val="143077"/>
              </a:lnSpc>
              <a:buNone/>
            </a:pPr>
            <a:r>
              <a:rPr lang="en-US" sz="1800" b="1" spc="216" kern="0" dirty="0">
                <a:solidFill>
                  <a:srgbClr val="EC3013"/>
                </a:solidFill>
                <a:latin typeface="Archivo" pitchFamily="34" charset="0"/>
                <a:ea typeface="Archivo" pitchFamily="34" charset="-122"/>
                <a:cs typeface="Archivo" pitchFamily="34" charset="-120"/>
              </a:rPr>
              <a:t>EVALUATION — SECTION 4.2</a:t>
            </a:r>
            <a:endParaRPr lang="en-US" sz="1800" dirty="0"/>
          </a:p>
        </p:txBody>
      </p:sp>
      <p:sp>
        <p:nvSpPr>
          <p:cNvPr id="3" name="Text 1"/>
          <p:cNvSpPr/>
          <p:nvPr/>
        </p:nvSpPr>
        <p:spPr>
          <a:xfrm>
            <a:off x="952500" y="1421011"/>
            <a:ext cx="18021300" cy="696367"/>
          </a:xfrm>
          <a:prstGeom prst="rect">
            <a:avLst/>
          </a:prstGeom>
          <a:noFill/>
          <a:ln/>
        </p:spPr>
        <p:txBody>
          <a:bodyPr wrap="square" lIns="25400" tIns="25400" rIns="25400" bIns="25400" rtlCol="0" anchor="t">
            <a:normAutofit/>
          </a:bodyPr>
          <a:lstStyle/>
          <a:p>
            <a:pPr algn="l" indent="0" marL="0">
              <a:lnSpc>
                <a:spcPct val="100174"/>
              </a:lnSpc>
              <a:buNone/>
            </a:pPr>
            <a:r>
              <a:rPr lang="en-US" sz="4800" b="1" spc="-72" kern="0" dirty="0">
                <a:solidFill>
                  <a:srgbClr val="201E1D"/>
                </a:solidFill>
                <a:latin typeface="Archivo" pitchFamily="34" charset="0"/>
                <a:ea typeface="Archivo" pitchFamily="34" charset="-122"/>
                <a:cs typeface="Archivo" pitchFamily="34" charset="-120"/>
              </a:rPr>
              <a:t>Coverage by Digit — Feature-Stratified</a:t>
            </a:r>
            <a:endParaRPr lang="en-US" sz="4800" dirty="0"/>
          </a:p>
        </p:txBody>
      </p:sp>
      <p:sp>
        <p:nvSpPr>
          <p:cNvPr id="4" name="Shape 2"/>
          <p:cNvSpPr/>
          <p:nvPr/>
        </p:nvSpPr>
        <p:spPr>
          <a:xfrm>
            <a:off x="952500" y="2422178"/>
            <a:ext cx="16383000" cy="19050"/>
          </a:xfrm>
          <a:prstGeom prst="rect">
            <a:avLst/>
          </a:prstGeom>
          <a:solidFill>
            <a:srgbClr val="201E1D">
              <a:alpha val="40000"/>
            </a:srgbClr>
          </a:solidFill>
          <a:ln/>
        </p:spPr>
      </p:sp>
      <p:sp>
        <p:nvSpPr>
          <p:cNvPr id="5" name="Text 3"/>
          <p:cNvSpPr/>
          <p:nvPr/>
        </p:nvSpPr>
        <p:spPr>
          <a:xfrm>
            <a:off x="952500" y="2860328"/>
            <a:ext cx="8329613" cy="510480"/>
          </a:xfrm>
          <a:prstGeom prst="rect">
            <a:avLst/>
          </a:prstGeom>
          <a:noFill/>
          <a:ln/>
        </p:spPr>
        <p:txBody>
          <a:bodyPr wrap="square" lIns="25400" tIns="25400" rIns="25400" bIns="25400" rtlCol="0" anchor="t">
            <a:normAutofit/>
          </a:bodyPr>
          <a:lstStyle/>
          <a:p>
            <a:pPr algn="l" indent="0" marL="0">
              <a:lnSpc>
                <a:spcPct val="141714"/>
              </a:lnSpc>
              <a:buNone/>
            </a:pPr>
            <a:r>
              <a:rPr lang="en-US" sz="2400" b="1" dirty="0">
                <a:solidFill>
                  <a:srgbClr val="201E1D"/>
                </a:solidFill>
                <a:latin typeface="Archivo" pitchFamily="34" charset="0"/>
                <a:ea typeface="Archivo" pitchFamily="34" charset="-122"/>
                <a:cs typeface="Archivo" pitchFamily="34" charset="-120"/>
              </a:rPr>
              <a:t>LAC coverage per digit</a:t>
            </a:r>
            <a:endParaRPr lang="en-US" sz="2400" dirty="0"/>
          </a:p>
        </p:txBody>
      </p:sp>
      <p:pic>
        <p:nvPicPr>
          <p:cNvPr id="6"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952500" y="3466058"/>
            <a:ext cx="7572375" cy="3810000"/>
          </a:xfrm>
          <a:prstGeom prst="rect">
            <a:avLst/>
          </a:prstGeom>
        </p:spPr>
      </p:pic>
      <p:sp>
        <p:nvSpPr>
          <p:cNvPr id="7" name="Text 4"/>
          <p:cNvSpPr/>
          <p:nvPr/>
        </p:nvSpPr>
        <p:spPr>
          <a:xfrm>
            <a:off x="952500" y="7409408"/>
            <a:ext cx="7799546" cy="731341"/>
          </a:xfrm>
          <a:prstGeom prst="rect">
            <a:avLst/>
          </a:prstGeom>
          <a:noFill/>
          <a:ln/>
        </p:spPr>
        <p:txBody>
          <a:bodyPr wrap="square" lIns="25400" tIns="25400" rIns="25400" bIns="25400" rtlCol="0" anchor="t">
            <a:normAutofit/>
          </a:bodyPr>
          <a:lstStyle/>
          <a:p>
            <a:pPr algn="l" indent="0" marL="0">
              <a:lnSpc>
                <a:spcPct val="130000"/>
              </a:lnSpc>
              <a:buNone/>
            </a:pPr>
            <a:r>
              <a:rPr lang="en-US" sz="1950" dirty="0">
                <a:solidFill>
                  <a:srgbClr val="444141"/>
                </a:solidFill>
                <a:latin typeface="Archivo" pitchFamily="34" charset="0"/>
                <a:ea typeface="Archivo" pitchFamily="34" charset="-122"/>
                <a:cs typeface="Archivo" pitchFamily="34" charset="-120"/>
              </a:rPr>
              <a:t>FSC metric = </a:t>
            </a:r>
            <a:pPr algn="l" indent="0" marL="0">
              <a:lnSpc>
                <a:spcPct val="130000"/>
              </a:lnSpc>
              <a:buNone/>
            </a:pPr>
            <a:r>
              <a:rPr lang="en-US" sz="1950" b="1" dirty="0">
                <a:solidFill>
                  <a:srgbClr val="444141"/>
                </a:solidFill>
                <a:latin typeface="Archivo" pitchFamily="34" charset="0"/>
                <a:ea typeface="Archivo" pitchFamily="34" charset="-122"/>
                <a:cs typeface="Archivo" pitchFamily="34" charset="-120"/>
              </a:rPr>
              <a:t>0.794 </a:t>
            </a:r>
            <a:pPr algn="l" indent="0" marL="0">
              <a:lnSpc>
                <a:spcPct val="130000"/>
              </a:lnSpc>
              <a:buNone/>
            </a:pPr>
            <a:r>
              <a:rPr lang="en-US" sz="1950" dirty="0">
                <a:solidFill>
                  <a:srgbClr val="444141"/>
                </a:solidFill>
                <a:latin typeface="Archivo" pitchFamily="34" charset="0"/>
                <a:ea typeface="Archivo" pitchFamily="34" charset="-122"/>
                <a:cs typeface="Archivo" pitchFamily="34" charset="-120"/>
              </a:rPr>
              <a:t>on the digit 5, against a 0.90 target. Zeros and ones are over-covered at 0.96.</a:t>
            </a:r>
            <a:endParaRPr lang="en-US" sz="1950" dirty="0"/>
          </a:p>
        </p:txBody>
      </p:sp>
      <p:sp>
        <p:nvSpPr>
          <p:cNvPr id="8" name="Shape 5"/>
          <p:cNvSpPr/>
          <p:nvPr/>
        </p:nvSpPr>
        <p:spPr>
          <a:xfrm>
            <a:off x="9134475" y="2860328"/>
            <a:ext cx="19050" cy="6664672"/>
          </a:xfrm>
          <a:prstGeom prst="rect">
            <a:avLst/>
          </a:prstGeom>
          <a:solidFill>
            <a:srgbClr val="201E1D">
              <a:alpha val="40000"/>
            </a:srgbClr>
          </a:solidFill>
          <a:ln/>
        </p:spPr>
      </p:sp>
      <p:sp>
        <p:nvSpPr>
          <p:cNvPr id="9" name="Text 6"/>
          <p:cNvSpPr/>
          <p:nvPr/>
        </p:nvSpPr>
        <p:spPr>
          <a:xfrm>
            <a:off x="9763125" y="2860328"/>
            <a:ext cx="8329613" cy="510480"/>
          </a:xfrm>
          <a:prstGeom prst="rect">
            <a:avLst/>
          </a:prstGeom>
          <a:noFill/>
          <a:ln/>
        </p:spPr>
        <p:txBody>
          <a:bodyPr wrap="square" lIns="25400" tIns="25400" rIns="25400" bIns="25400" rtlCol="0" anchor="t">
            <a:normAutofit/>
          </a:bodyPr>
          <a:lstStyle/>
          <a:p>
            <a:pPr algn="l" indent="0" marL="0">
              <a:lnSpc>
                <a:spcPct val="141714"/>
              </a:lnSpc>
              <a:buNone/>
            </a:pPr>
            <a:r>
              <a:rPr lang="en-US" sz="2400" b="1" dirty="0">
                <a:solidFill>
                  <a:srgbClr val="201E1D"/>
                </a:solidFill>
                <a:latin typeface="Archivo" pitchFamily="34" charset="0"/>
                <a:ea typeface="Archivo" pitchFamily="34" charset="-122"/>
                <a:cs typeface="Archivo" pitchFamily="34" charset="-120"/>
              </a:rPr>
              <a:t>APS mean set size per digit</a:t>
            </a:r>
            <a:endParaRPr lang="en-US" sz="2400" dirty="0"/>
          </a:p>
        </p:txBody>
      </p:sp>
      <p:pic>
        <p:nvPicPr>
          <p:cNvPr id="10"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9763125" y="3466058"/>
            <a:ext cx="7572375" cy="3810000"/>
          </a:xfrm>
          <a:prstGeom prst="rect">
            <a:avLst/>
          </a:prstGeom>
        </p:spPr>
      </p:pic>
      <p:sp>
        <p:nvSpPr>
          <p:cNvPr id="11" name="Text 7"/>
          <p:cNvSpPr/>
          <p:nvPr/>
        </p:nvSpPr>
        <p:spPr>
          <a:xfrm>
            <a:off x="9763125" y="7409408"/>
            <a:ext cx="7799546" cy="731341"/>
          </a:xfrm>
          <a:prstGeom prst="rect">
            <a:avLst/>
          </a:prstGeom>
          <a:noFill/>
          <a:ln/>
        </p:spPr>
        <p:txBody>
          <a:bodyPr wrap="square" lIns="25400" tIns="25400" rIns="25400" bIns="25400" rtlCol="0" anchor="t">
            <a:normAutofit/>
          </a:bodyPr>
          <a:lstStyle/>
          <a:p>
            <a:pPr algn="l" indent="0" marL="0">
              <a:lnSpc>
                <a:spcPct val="130000"/>
              </a:lnSpc>
              <a:buNone/>
            </a:pPr>
            <a:r>
              <a:rPr lang="en-US" sz="1950" dirty="0">
                <a:solidFill>
                  <a:srgbClr val="444141"/>
                </a:solidFill>
                <a:latin typeface="Archivo" pitchFamily="34" charset="0"/>
                <a:ea typeface="Archivo" pitchFamily="34" charset="-122"/>
                <a:cs typeface="Archivo" pitchFamily="34" charset="-120"/>
              </a:rPr>
              <a:t>APS keeps every digit above 0.99 coverage and moves the cost into size: 2.53 labels for zeros, 5.19 for fives.</a:t>
            </a:r>
            <a:endParaRPr lang="en-US" sz="19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3F2F2"/>
        </a:solidFill>
      </p:bgPr>
    </p:bg>
    <p:spTree>
      <p:nvGrpSpPr>
        <p:cNvPr id="1" name=""/>
        <p:cNvGrpSpPr/>
        <p:nvPr/>
      </p:nvGrpSpPr>
      <p:grpSpPr>
        <a:xfrm>
          <a:off x="0" y="0"/>
          <a:ext cx="0" cy="0"/>
          <a:chOff x="0" y="0"/>
          <a:chExt cx="0" cy="0"/>
        </a:xfrm>
      </p:grpSpPr>
      <p:sp>
        <p:nvSpPr>
          <p:cNvPr id="2" name="Text 0"/>
          <p:cNvSpPr/>
          <p:nvPr/>
        </p:nvSpPr>
        <p:spPr>
          <a:xfrm>
            <a:off x="952500" y="952500"/>
            <a:ext cx="18021300" cy="392311"/>
          </a:xfrm>
          <a:prstGeom prst="rect">
            <a:avLst/>
          </a:prstGeom>
          <a:noFill/>
          <a:ln/>
        </p:spPr>
        <p:txBody>
          <a:bodyPr wrap="square" lIns="25400" tIns="25400" rIns="25400" bIns="25400" rtlCol="0" anchor="t">
            <a:normAutofit/>
          </a:bodyPr>
          <a:lstStyle/>
          <a:p>
            <a:pPr algn="l" indent="0" marL="0">
              <a:lnSpc>
                <a:spcPct val="143077"/>
              </a:lnSpc>
              <a:buNone/>
            </a:pPr>
            <a:r>
              <a:rPr lang="en-US" sz="1800" b="1" spc="216" kern="0" dirty="0">
                <a:solidFill>
                  <a:srgbClr val="EC3013"/>
                </a:solidFill>
                <a:latin typeface="Archivo" pitchFamily="34" charset="0"/>
                <a:ea typeface="Archivo" pitchFamily="34" charset="-122"/>
                <a:cs typeface="Archivo" pitchFamily="34" charset="-120"/>
              </a:rPr>
              <a:t>EVALUATION — SECTION 4.2</a:t>
            </a:r>
            <a:endParaRPr lang="en-US" sz="1800" dirty="0"/>
          </a:p>
        </p:txBody>
      </p:sp>
      <p:sp>
        <p:nvSpPr>
          <p:cNvPr id="3" name="Text 1"/>
          <p:cNvSpPr/>
          <p:nvPr/>
        </p:nvSpPr>
        <p:spPr>
          <a:xfrm>
            <a:off x="952500" y="1421011"/>
            <a:ext cx="18021300" cy="696367"/>
          </a:xfrm>
          <a:prstGeom prst="rect">
            <a:avLst/>
          </a:prstGeom>
          <a:noFill/>
          <a:ln/>
        </p:spPr>
        <p:txBody>
          <a:bodyPr wrap="square" lIns="25400" tIns="25400" rIns="25400" bIns="25400" rtlCol="0" anchor="t">
            <a:normAutofit/>
          </a:bodyPr>
          <a:lstStyle/>
          <a:p>
            <a:pPr algn="l" indent="0" marL="0">
              <a:lnSpc>
                <a:spcPct val="100174"/>
              </a:lnSpc>
              <a:buNone/>
            </a:pPr>
            <a:r>
              <a:rPr lang="en-US" sz="4800" b="1" spc="-72" kern="0" dirty="0">
                <a:solidFill>
                  <a:srgbClr val="201E1D"/>
                </a:solidFill>
                <a:latin typeface="Archivo" pitchFamily="34" charset="0"/>
                <a:ea typeface="Archivo" pitchFamily="34" charset="-122"/>
                <a:cs typeface="Archivo" pitchFamily="34" charset="-120"/>
              </a:rPr>
              <a:t>Coverage by Set Size — Set-Stratified</a:t>
            </a:r>
            <a:endParaRPr lang="en-US" sz="4800" dirty="0"/>
          </a:p>
        </p:txBody>
      </p:sp>
      <p:sp>
        <p:nvSpPr>
          <p:cNvPr id="4" name="Shape 2"/>
          <p:cNvSpPr/>
          <p:nvPr/>
        </p:nvSpPr>
        <p:spPr>
          <a:xfrm>
            <a:off x="952500" y="2422178"/>
            <a:ext cx="16383000" cy="19050"/>
          </a:xfrm>
          <a:prstGeom prst="rect">
            <a:avLst/>
          </a:prstGeom>
          <a:solidFill>
            <a:srgbClr val="201E1D">
              <a:alpha val="40000"/>
            </a:srgbClr>
          </a:solidFill>
          <a:ln/>
        </p:spPr>
      </p:sp>
      <p:sp>
        <p:nvSpPr>
          <p:cNvPr id="5" name="Text 3"/>
          <p:cNvSpPr/>
          <p:nvPr/>
        </p:nvSpPr>
        <p:spPr>
          <a:xfrm>
            <a:off x="952500" y="2860328"/>
            <a:ext cx="8539163" cy="362843"/>
          </a:xfrm>
          <a:prstGeom prst="rect">
            <a:avLst/>
          </a:prstGeom>
          <a:noFill/>
          <a:ln/>
        </p:spPr>
        <p:txBody>
          <a:bodyPr wrap="square" lIns="25400" tIns="25400" rIns="25400" bIns="25400" rtlCol="0" anchor="t">
            <a:normAutofit/>
          </a:bodyPr>
          <a:lstStyle/>
          <a:p>
            <a:pPr algn="l" indent="0" marL="0">
              <a:lnSpc>
                <a:spcPct val="142083"/>
              </a:lnSpc>
              <a:buNone/>
            </a:pPr>
            <a:r>
              <a:rPr lang="en-US" sz="1650" b="1" spc="132" kern="0" dirty="0">
                <a:solidFill>
                  <a:srgbClr val="7D7979"/>
                </a:solidFill>
                <a:latin typeface="Archivo" pitchFamily="34" charset="0"/>
                <a:ea typeface="Archivo" pitchFamily="34" charset="-122"/>
                <a:cs typeface="Archivo" pitchFamily="34" charset="-120"/>
              </a:rPr>
              <a:t>LAC — SSC = 0.000</a:t>
            </a:r>
            <a:endParaRPr lang="en-US" sz="1650" dirty="0"/>
          </a:p>
        </p:txBody>
      </p:sp>
      <p:sp>
        <p:nvSpPr>
          <p:cNvPr id="6" name="Shape 4"/>
          <p:cNvSpPr/>
          <p:nvPr/>
        </p:nvSpPr>
        <p:spPr>
          <a:xfrm>
            <a:off x="952500" y="4215557"/>
            <a:ext cx="7762875" cy="19050"/>
          </a:xfrm>
          <a:prstGeom prst="rect">
            <a:avLst/>
          </a:prstGeom>
          <a:solidFill>
            <a:srgbClr val="201E1D">
              <a:alpha val="40000"/>
            </a:srgbClr>
          </a:solidFill>
          <a:ln/>
        </p:spPr>
      </p:sp>
      <p:sp>
        <p:nvSpPr>
          <p:cNvPr id="7" name="Text 5"/>
          <p:cNvSpPr/>
          <p:nvPr/>
        </p:nvSpPr>
        <p:spPr>
          <a:xfrm>
            <a:off x="952500" y="3585121"/>
            <a:ext cx="2612172" cy="481012"/>
          </a:xfrm>
          <a:prstGeom prst="rect">
            <a:avLst/>
          </a:prstGeom>
          <a:noFill/>
          <a:ln/>
        </p:spPr>
        <p:txBody>
          <a:bodyPr wrap="square" lIns="25400" tIns="25400" rIns="25400" bIns="25400" rtlCol="0" anchor="t">
            <a:normAutofit/>
          </a:bodyPr>
          <a:lstStyle/>
          <a:p>
            <a:pPr algn="l" indent="0" marL="0">
              <a:lnSpc>
                <a:spcPct val="145313"/>
              </a:lnSpc>
              <a:buNone/>
            </a:pPr>
            <a:r>
              <a:rPr lang="en-US" sz="2250" dirty="0">
                <a:solidFill>
                  <a:srgbClr val="201E1D"/>
                </a:solidFill>
                <a:latin typeface="Archivo" pitchFamily="34" charset="0"/>
                <a:ea typeface="Archivo" pitchFamily="34" charset="-122"/>
                <a:cs typeface="Archivo" pitchFamily="34" charset="-120"/>
              </a:rPr>
              <a:t>size 0 · 60 images</a:t>
            </a:r>
            <a:endParaRPr lang="en-US" sz="2250" dirty="0"/>
          </a:p>
        </p:txBody>
      </p:sp>
      <p:sp>
        <p:nvSpPr>
          <p:cNvPr id="8" name="Text 6"/>
          <p:cNvSpPr/>
          <p:nvPr/>
        </p:nvSpPr>
        <p:spPr>
          <a:xfrm>
            <a:off x="7534275" y="3432721"/>
            <a:ext cx="1257300" cy="687586"/>
          </a:xfrm>
          <a:prstGeom prst="rect">
            <a:avLst/>
          </a:prstGeom>
          <a:noFill/>
          <a:ln/>
        </p:spPr>
        <p:txBody>
          <a:bodyPr wrap="square" lIns="25400" tIns="25400" rIns="25400" bIns="25400" rtlCol="0" anchor="t">
            <a:normAutofit/>
          </a:bodyPr>
          <a:lstStyle/>
          <a:p>
            <a:pPr algn="l" indent="0" marL="0">
              <a:lnSpc>
                <a:spcPct val="142083"/>
              </a:lnSpc>
              <a:buNone/>
            </a:pPr>
            <a:r>
              <a:rPr lang="en-US" sz="3300" b="1" dirty="0">
                <a:solidFill>
                  <a:srgbClr val="EC3013"/>
                </a:solidFill>
                <a:latin typeface="Archivo" pitchFamily="34" charset="0"/>
                <a:ea typeface="Archivo" pitchFamily="34" charset="-122"/>
                <a:cs typeface="Archivo" pitchFamily="34" charset="-120"/>
              </a:rPr>
              <a:t>0.000</a:t>
            </a:r>
            <a:endParaRPr lang="en-US" sz="3300" dirty="0"/>
          </a:p>
        </p:txBody>
      </p:sp>
      <p:sp>
        <p:nvSpPr>
          <p:cNvPr id="9" name="Shape 7"/>
          <p:cNvSpPr/>
          <p:nvPr/>
        </p:nvSpPr>
        <p:spPr>
          <a:xfrm>
            <a:off x="952500" y="5265093"/>
            <a:ext cx="7762875" cy="19050"/>
          </a:xfrm>
          <a:prstGeom prst="rect">
            <a:avLst/>
          </a:prstGeom>
          <a:solidFill>
            <a:srgbClr val="201E1D">
              <a:alpha val="40000"/>
            </a:srgbClr>
          </a:solidFill>
          <a:ln/>
        </p:spPr>
      </p:sp>
      <p:sp>
        <p:nvSpPr>
          <p:cNvPr id="10" name="Text 8"/>
          <p:cNvSpPr/>
          <p:nvPr/>
        </p:nvSpPr>
        <p:spPr>
          <a:xfrm>
            <a:off x="952500" y="4634657"/>
            <a:ext cx="3023414" cy="481012"/>
          </a:xfrm>
          <a:prstGeom prst="rect">
            <a:avLst/>
          </a:prstGeom>
          <a:noFill/>
          <a:ln/>
        </p:spPr>
        <p:txBody>
          <a:bodyPr wrap="square" lIns="25400" tIns="25400" rIns="25400" bIns="25400" rtlCol="0" anchor="t">
            <a:normAutofit/>
          </a:bodyPr>
          <a:lstStyle/>
          <a:p>
            <a:pPr algn="l" indent="0" marL="0">
              <a:lnSpc>
                <a:spcPct val="145313"/>
              </a:lnSpc>
              <a:buNone/>
            </a:pPr>
            <a:r>
              <a:rPr lang="en-US" sz="2250" dirty="0">
                <a:solidFill>
                  <a:srgbClr val="201E1D"/>
                </a:solidFill>
                <a:latin typeface="Archivo" pitchFamily="34" charset="0"/>
                <a:ea typeface="Archivo" pitchFamily="34" charset="-122"/>
                <a:cs typeface="Archivo" pitchFamily="34" charset="-120"/>
              </a:rPr>
              <a:t>size 1 · 1,922 images</a:t>
            </a:r>
            <a:endParaRPr lang="en-US" sz="2250" dirty="0"/>
          </a:p>
        </p:txBody>
      </p:sp>
      <p:sp>
        <p:nvSpPr>
          <p:cNvPr id="11" name="Text 9"/>
          <p:cNvSpPr/>
          <p:nvPr/>
        </p:nvSpPr>
        <p:spPr>
          <a:xfrm>
            <a:off x="7534275" y="4482257"/>
            <a:ext cx="1257300" cy="687586"/>
          </a:xfrm>
          <a:prstGeom prst="rect">
            <a:avLst/>
          </a:prstGeom>
          <a:noFill/>
          <a:ln/>
        </p:spPr>
        <p:txBody>
          <a:bodyPr wrap="square" lIns="25400" tIns="25400" rIns="25400" bIns="25400" rtlCol="0" anchor="t">
            <a:normAutofit/>
          </a:bodyPr>
          <a:lstStyle/>
          <a:p>
            <a:pPr algn="l" indent="0" marL="0">
              <a:lnSpc>
                <a:spcPct val="142083"/>
              </a:lnSpc>
              <a:buNone/>
            </a:pPr>
            <a:r>
              <a:rPr lang="en-US" sz="3300" b="1" dirty="0">
                <a:solidFill>
                  <a:srgbClr val="201E1D"/>
                </a:solidFill>
                <a:latin typeface="Archivo" pitchFamily="34" charset="0"/>
                <a:ea typeface="Archivo" pitchFamily="34" charset="-122"/>
                <a:cs typeface="Archivo" pitchFamily="34" charset="-120"/>
              </a:rPr>
              <a:t>0.909</a:t>
            </a:r>
            <a:endParaRPr lang="en-US" sz="3300" dirty="0"/>
          </a:p>
        </p:txBody>
      </p:sp>
      <p:sp>
        <p:nvSpPr>
          <p:cNvPr id="12" name="Shape 10"/>
          <p:cNvSpPr/>
          <p:nvPr/>
        </p:nvSpPr>
        <p:spPr>
          <a:xfrm>
            <a:off x="952500" y="6314629"/>
            <a:ext cx="7762875" cy="19050"/>
          </a:xfrm>
          <a:prstGeom prst="rect">
            <a:avLst/>
          </a:prstGeom>
          <a:solidFill>
            <a:srgbClr val="201E1D">
              <a:alpha val="40000"/>
            </a:srgbClr>
          </a:solidFill>
          <a:ln/>
        </p:spPr>
      </p:sp>
      <p:sp>
        <p:nvSpPr>
          <p:cNvPr id="13" name="Text 11"/>
          <p:cNvSpPr/>
          <p:nvPr/>
        </p:nvSpPr>
        <p:spPr>
          <a:xfrm>
            <a:off x="952500" y="5684193"/>
            <a:ext cx="2790944" cy="481012"/>
          </a:xfrm>
          <a:prstGeom prst="rect">
            <a:avLst/>
          </a:prstGeom>
          <a:noFill/>
          <a:ln/>
        </p:spPr>
        <p:txBody>
          <a:bodyPr wrap="square" lIns="25400" tIns="25400" rIns="25400" bIns="25400" rtlCol="0" anchor="t">
            <a:normAutofit/>
          </a:bodyPr>
          <a:lstStyle/>
          <a:p>
            <a:pPr algn="l" indent="0" marL="0">
              <a:lnSpc>
                <a:spcPct val="145313"/>
              </a:lnSpc>
              <a:buNone/>
            </a:pPr>
            <a:r>
              <a:rPr lang="en-US" sz="2250" dirty="0">
                <a:solidFill>
                  <a:srgbClr val="201E1D"/>
                </a:solidFill>
                <a:latin typeface="Archivo" pitchFamily="34" charset="0"/>
                <a:ea typeface="Archivo" pitchFamily="34" charset="-122"/>
                <a:cs typeface="Archivo" pitchFamily="34" charset="-120"/>
              </a:rPr>
              <a:t>size 2+ · 18 images</a:t>
            </a:r>
            <a:endParaRPr lang="en-US" sz="2250" dirty="0"/>
          </a:p>
        </p:txBody>
      </p:sp>
      <p:sp>
        <p:nvSpPr>
          <p:cNvPr id="14" name="Text 12"/>
          <p:cNvSpPr/>
          <p:nvPr/>
        </p:nvSpPr>
        <p:spPr>
          <a:xfrm>
            <a:off x="7533680" y="5531793"/>
            <a:ext cx="1257895" cy="687586"/>
          </a:xfrm>
          <a:prstGeom prst="rect">
            <a:avLst/>
          </a:prstGeom>
          <a:noFill/>
          <a:ln/>
        </p:spPr>
        <p:txBody>
          <a:bodyPr wrap="square" lIns="25400" tIns="25400" rIns="25400" bIns="25400" rtlCol="0" anchor="t">
            <a:normAutofit/>
          </a:bodyPr>
          <a:lstStyle/>
          <a:p>
            <a:pPr algn="l" indent="0" marL="0">
              <a:lnSpc>
                <a:spcPct val="142083"/>
              </a:lnSpc>
              <a:buNone/>
            </a:pPr>
            <a:r>
              <a:rPr lang="en-US" sz="3300" b="1" dirty="0">
                <a:solidFill>
                  <a:srgbClr val="201E1D"/>
                </a:solidFill>
                <a:latin typeface="Archivo" pitchFamily="34" charset="0"/>
                <a:ea typeface="Archivo" pitchFamily="34" charset="-122"/>
                <a:cs typeface="Archivo" pitchFamily="34" charset="-120"/>
              </a:rPr>
              <a:t>0.833</a:t>
            </a:r>
            <a:endParaRPr lang="en-US" sz="3300" dirty="0"/>
          </a:p>
        </p:txBody>
      </p:sp>
      <p:sp>
        <p:nvSpPr>
          <p:cNvPr id="15" name="Text 13"/>
          <p:cNvSpPr/>
          <p:nvPr/>
        </p:nvSpPr>
        <p:spPr>
          <a:xfrm>
            <a:off x="952500" y="6581329"/>
            <a:ext cx="7995761" cy="756047"/>
          </a:xfrm>
          <a:prstGeom prst="rect">
            <a:avLst/>
          </a:prstGeom>
          <a:noFill/>
          <a:ln/>
        </p:spPr>
        <p:txBody>
          <a:bodyPr wrap="square" lIns="25400" tIns="25400" rIns="25400" bIns="25400" rtlCol="0" anchor="t">
            <a:normAutofit/>
          </a:bodyPr>
          <a:lstStyle/>
          <a:p>
            <a:pPr algn="l" indent="0" marL="0">
              <a:lnSpc>
                <a:spcPct val="134643"/>
              </a:lnSpc>
              <a:buNone/>
            </a:pPr>
            <a:r>
              <a:rPr lang="en-US" sz="1950" dirty="0">
                <a:solidFill>
                  <a:srgbClr val="605D5D"/>
                </a:solidFill>
                <a:latin typeface="Archivo" pitchFamily="34" charset="0"/>
                <a:ea typeface="Archivo" pitchFamily="34" charset="-122"/>
                <a:cs typeface="Archivo" pitchFamily="34" charset="-120"/>
              </a:rPr>
              <a:t>Marginal coverage is bought by covering the easy 96% and abandoning the rest.</a:t>
            </a:r>
            <a:endParaRPr lang="en-US" sz="1950" dirty="0"/>
          </a:p>
        </p:txBody>
      </p:sp>
      <p:sp>
        <p:nvSpPr>
          <p:cNvPr id="16" name="Text 14"/>
          <p:cNvSpPr/>
          <p:nvPr/>
        </p:nvSpPr>
        <p:spPr>
          <a:xfrm>
            <a:off x="9572625" y="2860328"/>
            <a:ext cx="8539163" cy="362843"/>
          </a:xfrm>
          <a:prstGeom prst="rect">
            <a:avLst/>
          </a:prstGeom>
          <a:noFill/>
          <a:ln/>
        </p:spPr>
        <p:txBody>
          <a:bodyPr wrap="square" lIns="25400" tIns="25400" rIns="25400" bIns="25400" rtlCol="0" anchor="t">
            <a:normAutofit/>
          </a:bodyPr>
          <a:lstStyle/>
          <a:p>
            <a:pPr algn="l" indent="0" marL="0">
              <a:lnSpc>
                <a:spcPct val="142083"/>
              </a:lnSpc>
              <a:buNone/>
            </a:pPr>
            <a:r>
              <a:rPr lang="en-US" sz="1650" b="1" spc="132" kern="0" dirty="0">
                <a:solidFill>
                  <a:srgbClr val="7D7979"/>
                </a:solidFill>
                <a:latin typeface="Archivo" pitchFamily="34" charset="0"/>
                <a:ea typeface="Archivo" pitchFamily="34" charset="-122"/>
                <a:cs typeface="Archivo" pitchFamily="34" charset="-120"/>
              </a:rPr>
              <a:t>APS — SSC = 0.995</a:t>
            </a:r>
            <a:endParaRPr lang="en-US" sz="1650" dirty="0"/>
          </a:p>
        </p:txBody>
      </p:sp>
      <p:sp>
        <p:nvSpPr>
          <p:cNvPr id="17" name="Shape 15"/>
          <p:cNvSpPr/>
          <p:nvPr/>
        </p:nvSpPr>
        <p:spPr>
          <a:xfrm>
            <a:off x="9572625" y="4215557"/>
            <a:ext cx="7762875" cy="19050"/>
          </a:xfrm>
          <a:prstGeom prst="rect">
            <a:avLst/>
          </a:prstGeom>
          <a:solidFill>
            <a:srgbClr val="201E1D">
              <a:alpha val="40000"/>
            </a:srgbClr>
          </a:solidFill>
          <a:ln/>
        </p:spPr>
      </p:sp>
      <p:sp>
        <p:nvSpPr>
          <p:cNvPr id="18" name="Text 16"/>
          <p:cNvSpPr/>
          <p:nvPr/>
        </p:nvSpPr>
        <p:spPr>
          <a:xfrm>
            <a:off x="9572625" y="3585121"/>
            <a:ext cx="2760003" cy="481012"/>
          </a:xfrm>
          <a:prstGeom prst="rect">
            <a:avLst/>
          </a:prstGeom>
          <a:noFill/>
          <a:ln/>
        </p:spPr>
        <p:txBody>
          <a:bodyPr wrap="square" lIns="25400" tIns="25400" rIns="25400" bIns="25400" rtlCol="0" anchor="t">
            <a:normAutofit/>
          </a:bodyPr>
          <a:lstStyle/>
          <a:p>
            <a:pPr algn="l" indent="0" marL="0">
              <a:lnSpc>
                <a:spcPct val="145313"/>
              </a:lnSpc>
              <a:buNone/>
            </a:pPr>
            <a:r>
              <a:rPr lang="en-US" sz="2250" dirty="0">
                <a:solidFill>
                  <a:srgbClr val="201E1D"/>
                </a:solidFill>
                <a:latin typeface="Archivo" pitchFamily="34" charset="0"/>
                <a:ea typeface="Archivo" pitchFamily="34" charset="-122"/>
                <a:cs typeface="Archivo" pitchFamily="34" charset="-120"/>
              </a:rPr>
              <a:t>size 1 · 189 images</a:t>
            </a:r>
            <a:endParaRPr lang="en-US" sz="2250" dirty="0"/>
          </a:p>
        </p:txBody>
      </p:sp>
      <p:sp>
        <p:nvSpPr>
          <p:cNvPr id="19" name="Text 17"/>
          <p:cNvSpPr/>
          <p:nvPr/>
        </p:nvSpPr>
        <p:spPr>
          <a:xfrm>
            <a:off x="16154251" y="3432721"/>
            <a:ext cx="1257449" cy="687586"/>
          </a:xfrm>
          <a:prstGeom prst="rect">
            <a:avLst/>
          </a:prstGeom>
          <a:noFill/>
          <a:ln/>
        </p:spPr>
        <p:txBody>
          <a:bodyPr wrap="square" lIns="25400" tIns="25400" rIns="25400" bIns="25400" rtlCol="0" anchor="t">
            <a:normAutofit/>
          </a:bodyPr>
          <a:lstStyle/>
          <a:p>
            <a:pPr algn="l" indent="0" marL="0">
              <a:lnSpc>
                <a:spcPct val="142083"/>
              </a:lnSpc>
              <a:buNone/>
            </a:pPr>
            <a:r>
              <a:rPr lang="en-US" sz="3300" b="1" dirty="0">
                <a:solidFill>
                  <a:srgbClr val="201E1D"/>
                </a:solidFill>
                <a:latin typeface="Archivo" pitchFamily="34" charset="0"/>
                <a:ea typeface="Archivo" pitchFamily="34" charset="-122"/>
                <a:cs typeface="Archivo" pitchFamily="34" charset="-120"/>
              </a:rPr>
              <a:t>1.000</a:t>
            </a:r>
            <a:endParaRPr lang="en-US" sz="3300" dirty="0"/>
          </a:p>
        </p:txBody>
      </p:sp>
      <p:sp>
        <p:nvSpPr>
          <p:cNvPr id="20" name="Shape 18"/>
          <p:cNvSpPr/>
          <p:nvPr/>
        </p:nvSpPr>
        <p:spPr>
          <a:xfrm>
            <a:off x="9572625" y="5265093"/>
            <a:ext cx="7762875" cy="19050"/>
          </a:xfrm>
          <a:prstGeom prst="rect">
            <a:avLst/>
          </a:prstGeom>
          <a:solidFill>
            <a:srgbClr val="201E1D">
              <a:alpha val="40000"/>
            </a:srgbClr>
          </a:solidFill>
          <a:ln/>
        </p:spPr>
      </p:sp>
      <p:sp>
        <p:nvSpPr>
          <p:cNvPr id="21" name="Text 19"/>
          <p:cNvSpPr/>
          <p:nvPr/>
        </p:nvSpPr>
        <p:spPr>
          <a:xfrm>
            <a:off x="9572625" y="4634657"/>
            <a:ext cx="2788816" cy="481012"/>
          </a:xfrm>
          <a:prstGeom prst="rect">
            <a:avLst/>
          </a:prstGeom>
          <a:noFill/>
          <a:ln/>
        </p:spPr>
        <p:txBody>
          <a:bodyPr wrap="square" lIns="25400" tIns="25400" rIns="25400" bIns="25400" rtlCol="0" anchor="t">
            <a:normAutofit/>
          </a:bodyPr>
          <a:lstStyle/>
          <a:p>
            <a:pPr algn="l" indent="0" marL="0">
              <a:lnSpc>
                <a:spcPct val="145313"/>
              </a:lnSpc>
              <a:buNone/>
            </a:pPr>
            <a:r>
              <a:rPr lang="en-US" sz="2250" dirty="0">
                <a:solidFill>
                  <a:srgbClr val="201E1D"/>
                </a:solidFill>
                <a:latin typeface="Archivo" pitchFamily="34" charset="0"/>
                <a:ea typeface="Archivo" pitchFamily="34" charset="-122"/>
                <a:cs typeface="Archivo" pitchFamily="34" charset="-120"/>
              </a:rPr>
              <a:t>size 2 · 329 images</a:t>
            </a:r>
            <a:endParaRPr lang="en-US" sz="2250" dirty="0"/>
          </a:p>
        </p:txBody>
      </p:sp>
      <p:sp>
        <p:nvSpPr>
          <p:cNvPr id="22" name="Text 20"/>
          <p:cNvSpPr/>
          <p:nvPr/>
        </p:nvSpPr>
        <p:spPr>
          <a:xfrm>
            <a:off x="16154251" y="4482257"/>
            <a:ext cx="1257449" cy="687586"/>
          </a:xfrm>
          <a:prstGeom prst="rect">
            <a:avLst/>
          </a:prstGeom>
          <a:noFill/>
          <a:ln/>
        </p:spPr>
        <p:txBody>
          <a:bodyPr wrap="square" lIns="25400" tIns="25400" rIns="25400" bIns="25400" rtlCol="0" anchor="t">
            <a:normAutofit/>
          </a:bodyPr>
          <a:lstStyle/>
          <a:p>
            <a:pPr algn="l" indent="0" marL="0">
              <a:lnSpc>
                <a:spcPct val="142083"/>
              </a:lnSpc>
              <a:buNone/>
            </a:pPr>
            <a:r>
              <a:rPr lang="en-US" sz="3300" b="1" dirty="0">
                <a:solidFill>
                  <a:srgbClr val="201E1D"/>
                </a:solidFill>
                <a:latin typeface="Archivo" pitchFamily="34" charset="0"/>
                <a:ea typeface="Archivo" pitchFamily="34" charset="-122"/>
                <a:cs typeface="Archivo" pitchFamily="34" charset="-120"/>
              </a:rPr>
              <a:t>0.997</a:t>
            </a:r>
            <a:endParaRPr lang="en-US" sz="3300" dirty="0"/>
          </a:p>
        </p:txBody>
      </p:sp>
      <p:sp>
        <p:nvSpPr>
          <p:cNvPr id="23" name="Shape 21"/>
          <p:cNvSpPr/>
          <p:nvPr/>
        </p:nvSpPr>
        <p:spPr>
          <a:xfrm>
            <a:off x="9572625" y="6314629"/>
            <a:ext cx="7762875" cy="19050"/>
          </a:xfrm>
          <a:prstGeom prst="rect">
            <a:avLst/>
          </a:prstGeom>
          <a:solidFill>
            <a:srgbClr val="201E1D">
              <a:alpha val="40000"/>
            </a:srgbClr>
          </a:solidFill>
          <a:ln/>
        </p:spPr>
      </p:sp>
      <p:sp>
        <p:nvSpPr>
          <p:cNvPr id="24" name="Text 22"/>
          <p:cNvSpPr/>
          <p:nvPr/>
        </p:nvSpPr>
        <p:spPr>
          <a:xfrm>
            <a:off x="9572625" y="5684193"/>
            <a:ext cx="3149471" cy="481012"/>
          </a:xfrm>
          <a:prstGeom prst="rect">
            <a:avLst/>
          </a:prstGeom>
          <a:noFill/>
          <a:ln/>
        </p:spPr>
        <p:txBody>
          <a:bodyPr wrap="square" lIns="25400" tIns="25400" rIns="25400" bIns="25400" rtlCol="0" anchor="t">
            <a:normAutofit/>
          </a:bodyPr>
          <a:lstStyle/>
          <a:p>
            <a:pPr algn="l" indent="0" marL="0">
              <a:lnSpc>
                <a:spcPct val="145313"/>
              </a:lnSpc>
              <a:buNone/>
            </a:pPr>
            <a:r>
              <a:rPr lang="en-US" sz="2250" dirty="0">
                <a:solidFill>
                  <a:srgbClr val="201E1D"/>
                </a:solidFill>
                <a:latin typeface="Archivo" pitchFamily="34" charset="0"/>
                <a:ea typeface="Archivo" pitchFamily="34" charset="-122"/>
                <a:cs typeface="Archivo" pitchFamily="34" charset="-120"/>
              </a:rPr>
              <a:t>size 3–4 · 689 images</a:t>
            </a:r>
            <a:endParaRPr lang="en-US" sz="2250" dirty="0"/>
          </a:p>
        </p:txBody>
      </p:sp>
      <p:sp>
        <p:nvSpPr>
          <p:cNvPr id="25" name="Text 23"/>
          <p:cNvSpPr/>
          <p:nvPr/>
        </p:nvSpPr>
        <p:spPr>
          <a:xfrm>
            <a:off x="16154400" y="5531793"/>
            <a:ext cx="1257300" cy="687586"/>
          </a:xfrm>
          <a:prstGeom prst="rect">
            <a:avLst/>
          </a:prstGeom>
          <a:noFill/>
          <a:ln/>
        </p:spPr>
        <p:txBody>
          <a:bodyPr wrap="square" lIns="25400" tIns="25400" rIns="25400" bIns="25400" rtlCol="0" anchor="t">
            <a:normAutofit/>
          </a:bodyPr>
          <a:lstStyle/>
          <a:p>
            <a:pPr algn="l" indent="0" marL="0">
              <a:lnSpc>
                <a:spcPct val="142083"/>
              </a:lnSpc>
              <a:buNone/>
            </a:pPr>
            <a:r>
              <a:rPr lang="en-US" sz="3300" b="1" dirty="0">
                <a:solidFill>
                  <a:srgbClr val="201E1D"/>
                </a:solidFill>
                <a:latin typeface="Archivo" pitchFamily="34" charset="0"/>
                <a:ea typeface="Archivo" pitchFamily="34" charset="-122"/>
                <a:cs typeface="Archivo" pitchFamily="34" charset="-120"/>
              </a:rPr>
              <a:t>0.999</a:t>
            </a:r>
            <a:endParaRPr lang="en-US" sz="3300" dirty="0"/>
          </a:p>
        </p:txBody>
      </p:sp>
      <p:sp>
        <p:nvSpPr>
          <p:cNvPr id="26" name="Shape 24"/>
          <p:cNvSpPr/>
          <p:nvPr/>
        </p:nvSpPr>
        <p:spPr>
          <a:xfrm>
            <a:off x="9572625" y="7364164"/>
            <a:ext cx="7762875" cy="19050"/>
          </a:xfrm>
          <a:prstGeom prst="rect">
            <a:avLst/>
          </a:prstGeom>
          <a:solidFill>
            <a:srgbClr val="201E1D">
              <a:alpha val="40000"/>
            </a:srgbClr>
          </a:solidFill>
          <a:ln/>
        </p:spPr>
      </p:sp>
      <p:sp>
        <p:nvSpPr>
          <p:cNvPr id="27" name="Text 25"/>
          <p:cNvSpPr/>
          <p:nvPr/>
        </p:nvSpPr>
        <p:spPr>
          <a:xfrm>
            <a:off x="9572625" y="6733729"/>
            <a:ext cx="2981831" cy="481012"/>
          </a:xfrm>
          <a:prstGeom prst="rect">
            <a:avLst/>
          </a:prstGeom>
          <a:noFill/>
          <a:ln/>
        </p:spPr>
        <p:txBody>
          <a:bodyPr wrap="square" lIns="25400" tIns="25400" rIns="25400" bIns="25400" rtlCol="0" anchor="t">
            <a:normAutofit/>
          </a:bodyPr>
          <a:lstStyle/>
          <a:p>
            <a:pPr algn="l" indent="0" marL="0">
              <a:lnSpc>
                <a:spcPct val="145313"/>
              </a:lnSpc>
              <a:buNone/>
            </a:pPr>
            <a:r>
              <a:rPr lang="en-US" sz="2250" dirty="0">
                <a:solidFill>
                  <a:srgbClr val="201E1D"/>
                </a:solidFill>
                <a:latin typeface="Archivo" pitchFamily="34" charset="0"/>
                <a:ea typeface="Archivo" pitchFamily="34" charset="-122"/>
                <a:cs typeface="Archivo" pitchFamily="34" charset="-120"/>
              </a:rPr>
              <a:t>size 5+ · 793 images</a:t>
            </a:r>
            <a:endParaRPr lang="en-US" sz="2250" dirty="0"/>
          </a:p>
        </p:txBody>
      </p:sp>
      <p:sp>
        <p:nvSpPr>
          <p:cNvPr id="28" name="Text 26"/>
          <p:cNvSpPr/>
          <p:nvPr/>
        </p:nvSpPr>
        <p:spPr>
          <a:xfrm>
            <a:off x="16154400" y="6581329"/>
            <a:ext cx="1257300" cy="687586"/>
          </a:xfrm>
          <a:prstGeom prst="rect">
            <a:avLst/>
          </a:prstGeom>
          <a:noFill/>
          <a:ln/>
        </p:spPr>
        <p:txBody>
          <a:bodyPr wrap="square" lIns="25400" tIns="25400" rIns="25400" bIns="25400" rtlCol="0" anchor="t">
            <a:normAutofit/>
          </a:bodyPr>
          <a:lstStyle/>
          <a:p>
            <a:pPr algn="l" indent="0" marL="0">
              <a:lnSpc>
                <a:spcPct val="142083"/>
              </a:lnSpc>
              <a:buNone/>
            </a:pPr>
            <a:r>
              <a:rPr lang="en-US" sz="3300" b="1" dirty="0">
                <a:solidFill>
                  <a:srgbClr val="201E1D"/>
                </a:solidFill>
                <a:latin typeface="Archivo" pitchFamily="34" charset="0"/>
                <a:ea typeface="Archivo" pitchFamily="34" charset="-122"/>
                <a:cs typeface="Archivo" pitchFamily="34" charset="-120"/>
              </a:rPr>
              <a:t>0.995</a:t>
            </a:r>
            <a:endParaRPr lang="en-US" sz="3300" dirty="0"/>
          </a:p>
        </p:txBody>
      </p:sp>
      <p:sp>
        <p:nvSpPr>
          <p:cNvPr id="29" name="Text 27"/>
          <p:cNvSpPr/>
          <p:nvPr/>
        </p:nvSpPr>
        <p:spPr>
          <a:xfrm>
            <a:off x="9572625" y="7630864"/>
            <a:ext cx="7995761" cy="756047"/>
          </a:xfrm>
          <a:prstGeom prst="rect">
            <a:avLst/>
          </a:prstGeom>
          <a:noFill/>
          <a:ln/>
        </p:spPr>
        <p:txBody>
          <a:bodyPr wrap="square" lIns="25400" tIns="25400" rIns="25400" bIns="25400" rtlCol="0" anchor="t">
            <a:normAutofit/>
          </a:bodyPr>
          <a:lstStyle/>
          <a:p>
            <a:pPr algn="l" indent="0" marL="0">
              <a:lnSpc>
                <a:spcPct val="134643"/>
              </a:lnSpc>
              <a:buNone/>
            </a:pPr>
            <a:r>
              <a:rPr lang="en-US" sz="1950" dirty="0">
                <a:solidFill>
                  <a:srgbClr val="605D5D"/>
                </a:solidFill>
                <a:latin typeface="Archivo" pitchFamily="34" charset="0"/>
                <a:ea typeface="Archivo" pitchFamily="34" charset="-122"/>
                <a:cs typeface="Archivo" pitchFamily="34" charset="-120"/>
              </a:rPr>
              <a:t>Uniform across bins — but uniformly above target, which is its own kind of miscalibration.</a:t>
            </a:r>
            <a:endParaRPr lang="en-US" sz="19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3F2F2"/>
        </a:solidFill>
      </p:bgPr>
    </p:bg>
    <p:spTree>
      <p:nvGrpSpPr>
        <p:cNvPr id="1" name=""/>
        <p:cNvGrpSpPr/>
        <p:nvPr/>
      </p:nvGrpSpPr>
      <p:grpSpPr>
        <a:xfrm>
          <a:off x="0" y="0"/>
          <a:ext cx="0" cy="0"/>
          <a:chOff x="0" y="0"/>
          <a:chExt cx="0" cy="0"/>
        </a:xfrm>
      </p:grpSpPr>
      <p:sp>
        <p:nvSpPr>
          <p:cNvPr id="2" name="Text 0"/>
          <p:cNvSpPr/>
          <p:nvPr/>
        </p:nvSpPr>
        <p:spPr>
          <a:xfrm>
            <a:off x="952500" y="952500"/>
            <a:ext cx="18021300" cy="392311"/>
          </a:xfrm>
          <a:prstGeom prst="rect">
            <a:avLst/>
          </a:prstGeom>
          <a:noFill/>
          <a:ln/>
        </p:spPr>
        <p:txBody>
          <a:bodyPr wrap="square" lIns="25400" tIns="25400" rIns="25400" bIns="25400" rtlCol="0" anchor="t">
            <a:normAutofit/>
          </a:bodyPr>
          <a:lstStyle/>
          <a:p>
            <a:pPr algn="l" indent="0" marL="0">
              <a:lnSpc>
                <a:spcPct val="143077"/>
              </a:lnSpc>
              <a:buNone/>
            </a:pPr>
            <a:r>
              <a:rPr lang="en-US" sz="1800" b="1" spc="216" kern="0" dirty="0">
                <a:solidFill>
                  <a:srgbClr val="EC3013"/>
                </a:solidFill>
                <a:latin typeface="Archivo" pitchFamily="34" charset="0"/>
                <a:ea typeface="Archivo" pitchFamily="34" charset="-122"/>
                <a:cs typeface="Archivo" pitchFamily="34" charset="-120"/>
              </a:rPr>
              <a:t>SENSITIVITY</a:t>
            </a:r>
            <a:endParaRPr lang="en-US" sz="1800" dirty="0"/>
          </a:p>
        </p:txBody>
      </p:sp>
      <p:sp>
        <p:nvSpPr>
          <p:cNvPr id="3" name="Text 1"/>
          <p:cNvSpPr/>
          <p:nvPr/>
        </p:nvSpPr>
        <p:spPr>
          <a:xfrm>
            <a:off x="952500" y="1421011"/>
            <a:ext cx="18021300" cy="696367"/>
          </a:xfrm>
          <a:prstGeom prst="rect">
            <a:avLst/>
          </a:prstGeom>
          <a:noFill/>
          <a:ln/>
        </p:spPr>
        <p:txBody>
          <a:bodyPr wrap="square" lIns="25400" tIns="25400" rIns="25400" bIns="25400" rtlCol="0" anchor="t">
            <a:normAutofit/>
          </a:bodyPr>
          <a:lstStyle/>
          <a:p>
            <a:pPr algn="l" indent="0" marL="0">
              <a:lnSpc>
                <a:spcPct val="100174"/>
              </a:lnSpc>
              <a:buNone/>
            </a:pPr>
            <a:r>
              <a:rPr lang="en-US" sz="4800" b="1" spc="-72" kern="0" dirty="0">
                <a:solidFill>
                  <a:srgbClr val="201E1D"/>
                </a:solidFill>
                <a:latin typeface="Archivo" pitchFamily="34" charset="0"/>
                <a:ea typeface="Archivo" pitchFamily="34" charset="-122"/>
                <a:cs typeface="Archivo" pitchFamily="34" charset="-120"/>
              </a:rPr>
              <a:t>The Coverage–Efficiency Trade-off</a:t>
            </a:r>
            <a:endParaRPr lang="en-US" sz="4800" dirty="0"/>
          </a:p>
        </p:txBody>
      </p:sp>
      <p:sp>
        <p:nvSpPr>
          <p:cNvPr id="4" name="Shape 2"/>
          <p:cNvSpPr/>
          <p:nvPr/>
        </p:nvSpPr>
        <p:spPr>
          <a:xfrm>
            <a:off x="952500" y="2422178"/>
            <a:ext cx="16383000" cy="19050"/>
          </a:xfrm>
          <a:prstGeom prst="rect">
            <a:avLst/>
          </a:prstGeom>
          <a:solidFill>
            <a:srgbClr val="201E1D">
              <a:alpha val="40000"/>
            </a:srgbClr>
          </a:solidFill>
          <a:ln/>
        </p:spPr>
      </p:sp>
      <p:sp>
        <p:nvSpPr>
          <p:cNvPr id="5" name="Text 3"/>
          <p:cNvSpPr/>
          <p:nvPr/>
        </p:nvSpPr>
        <p:spPr>
          <a:xfrm>
            <a:off x="952500" y="2860328"/>
            <a:ext cx="8329613" cy="510480"/>
          </a:xfrm>
          <a:prstGeom prst="rect">
            <a:avLst/>
          </a:prstGeom>
          <a:noFill/>
          <a:ln/>
        </p:spPr>
        <p:txBody>
          <a:bodyPr wrap="square" lIns="25400" tIns="25400" rIns="25400" bIns="25400" rtlCol="0" anchor="t">
            <a:normAutofit/>
          </a:bodyPr>
          <a:lstStyle/>
          <a:p>
            <a:pPr algn="l" indent="0" marL="0">
              <a:lnSpc>
                <a:spcPct val="141714"/>
              </a:lnSpc>
              <a:buNone/>
            </a:pPr>
            <a:r>
              <a:rPr lang="en-US" sz="2400" b="1" dirty="0">
                <a:solidFill>
                  <a:srgbClr val="201E1D"/>
                </a:solidFill>
                <a:latin typeface="Archivo" pitchFamily="34" charset="0"/>
                <a:ea typeface="Archivo" pitchFamily="34" charset="-122"/>
                <a:cs typeface="Archivo" pitchFamily="34" charset="-120"/>
              </a:rPr>
              <a:t>Empirical against target coverage</a:t>
            </a:r>
            <a:endParaRPr lang="en-US" sz="2400" dirty="0"/>
          </a:p>
        </p:txBody>
      </p:sp>
      <p:pic>
        <p:nvPicPr>
          <p:cNvPr id="6"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952500" y="3466058"/>
            <a:ext cx="7572375" cy="3810000"/>
          </a:xfrm>
          <a:prstGeom prst="rect">
            <a:avLst/>
          </a:prstGeom>
        </p:spPr>
      </p:pic>
      <p:sp>
        <p:nvSpPr>
          <p:cNvPr id="7" name="Text 4"/>
          <p:cNvSpPr/>
          <p:nvPr/>
        </p:nvSpPr>
        <p:spPr>
          <a:xfrm>
            <a:off x="952500" y="7409408"/>
            <a:ext cx="7799546" cy="731341"/>
          </a:xfrm>
          <a:prstGeom prst="rect">
            <a:avLst/>
          </a:prstGeom>
          <a:noFill/>
          <a:ln/>
        </p:spPr>
        <p:txBody>
          <a:bodyPr wrap="square" lIns="25400" tIns="25400" rIns="25400" bIns="25400" rtlCol="0" anchor="t">
            <a:normAutofit/>
          </a:bodyPr>
          <a:lstStyle/>
          <a:p>
            <a:pPr algn="l" indent="0" marL="0">
              <a:lnSpc>
                <a:spcPct val="130000"/>
              </a:lnSpc>
              <a:buNone/>
            </a:pPr>
            <a:r>
              <a:rPr lang="en-US" sz="1950" dirty="0">
                <a:solidFill>
                  <a:srgbClr val="444141"/>
                </a:solidFill>
                <a:latin typeface="Archivo" pitchFamily="34" charset="0"/>
                <a:ea typeface="Archivo" pitchFamily="34" charset="-122"/>
                <a:cs typeface="Archivo" pitchFamily="34" charset="-120"/>
              </a:rPr>
              <a:t>LAC follows the diagonal across the whole sweep, one to two points low. APS is pinned near 1.00 regardless of what we ask for.</a:t>
            </a:r>
            <a:endParaRPr lang="en-US" sz="1950" dirty="0"/>
          </a:p>
        </p:txBody>
      </p:sp>
      <p:sp>
        <p:nvSpPr>
          <p:cNvPr id="8" name="Shape 5"/>
          <p:cNvSpPr/>
          <p:nvPr/>
        </p:nvSpPr>
        <p:spPr>
          <a:xfrm>
            <a:off x="9134475" y="2860328"/>
            <a:ext cx="19050" cy="6664672"/>
          </a:xfrm>
          <a:prstGeom prst="rect">
            <a:avLst/>
          </a:prstGeom>
          <a:solidFill>
            <a:srgbClr val="201E1D">
              <a:alpha val="40000"/>
            </a:srgbClr>
          </a:solidFill>
          <a:ln/>
        </p:spPr>
      </p:sp>
      <p:sp>
        <p:nvSpPr>
          <p:cNvPr id="9" name="Text 6"/>
          <p:cNvSpPr/>
          <p:nvPr/>
        </p:nvSpPr>
        <p:spPr>
          <a:xfrm>
            <a:off x="9763125" y="2860328"/>
            <a:ext cx="8329613" cy="510480"/>
          </a:xfrm>
          <a:prstGeom prst="rect">
            <a:avLst/>
          </a:prstGeom>
          <a:noFill/>
          <a:ln/>
        </p:spPr>
        <p:txBody>
          <a:bodyPr wrap="square" lIns="25400" tIns="25400" rIns="25400" bIns="25400" rtlCol="0" anchor="t">
            <a:normAutofit/>
          </a:bodyPr>
          <a:lstStyle/>
          <a:p>
            <a:pPr algn="l" indent="0" marL="0">
              <a:lnSpc>
                <a:spcPct val="141714"/>
              </a:lnSpc>
              <a:buNone/>
            </a:pPr>
            <a:r>
              <a:rPr lang="en-US" sz="2400" b="1" dirty="0">
                <a:solidFill>
                  <a:srgbClr val="201E1D"/>
                </a:solidFill>
                <a:latin typeface="Archivo" pitchFamily="34" charset="0"/>
                <a:ea typeface="Archivo" pitchFamily="34" charset="-122"/>
                <a:cs typeface="Archivo" pitchFamily="34" charset="-120"/>
              </a:rPr>
              <a:t>Mean set size against target</a:t>
            </a:r>
            <a:endParaRPr lang="en-US" sz="2400" dirty="0"/>
          </a:p>
        </p:txBody>
      </p:sp>
      <p:pic>
        <p:nvPicPr>
          <p:cNvPr id="10"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9763125" y="3466058"/>
            <a:ext cx="7572375" cy="3810000"/>
          </a:xfrm>
          <a:prstGeom prst="rect">
            <a:avLst/>
          </a:prstGeom>
        </p:spPr>
      </p:pic>
      <p:sp>
        <p:nvSpPr>
          <p:cNvPr id="11" name="Text 7"/>
          <p:cNvSpPr/>
          <p:nvPr/>
        </p:nvSpPr>
        <p:spPr>
          <a:xfrm>
            <a:off x="9763125" y="7409408"/>
            <a:ext cx="7799546" cy="731341"/>
          </a:xfrm>
          <a:prstGeom prst="rect">
            <a:avLst/>
          </a:prstGeom>
          <a:noFill/>
          <a:ln/>
        </p:spPr>
        <p:txBody>
          <a:bodyPr wrap="square" lIns="25400" tIns="25400" rIns="25400" bIns="25400" rtlCol="0" anchor="t">
            <a:normAutofit/>
          </a:bodyPr>
          <a:lstStyle/>
          <a:p>
            <a:pPr algn="l" indent="0" marL="0">
              <a:lnSpc>
                <a:spcPct val="130000"/>
              </a:lnSpc>
              <a:buNone/>
            </a:pPr>
            <a:r>
              <a:rPr lang="en-US" sz="1950" dirty="0">
                <a:solidFill>
                  <a:srgbClr val="444141"/>
                </a:solidFill>
                <a:latin typeface="Archivo" pitchFamily="34" charset="0"/>
                <a:ea typeface="Archivo" pitchFamily="34" charset="-122"/>
                <a:cs typeface="Archivo" pitchFamily="34" charset="-120"/>
              </a:rPr>
              <a:t>The price of certainty is convex: LAC needs 1.00 labels for 91% and 2.93 for 99%. APS starts at 2.42 and reaches 6.08.</a:t>
            </a:r>
            <a:endParaRPr lang="en-US" sz="19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EC3013"/>
        </a:solidFill>
      </p:bgPr>
    </p:bg>
    <p:spTree>
      <p:nvGrpSpPr>
        <p:cNvPr id="1" name=""/>
        <p:cNvGrpSpPr/>
        <p:nvPr/>
      </p:nvGrpSpPr>
      <p:grpSpPr>
        <a:xfrm>
          <a:off x="0" y="0"/>
          <a:ext cx="0" cy="0"/>
          <a:chOff x="0" y="0"/>
          <a:chExt cx="0" cy="0"/>
        </a:xfrm>
      </p:grpSpPr>
      <p:sp>
        <p:nvSpPr>
          <p:cNvPr id="2" name="Text 0"/>
          <p:cNvSpPr/>
          <p:nvPr/>
        </p:nvSpPr>
        <p:spPr>
          <a:xfrm>
            <a:off x="952500" y="952500"/>
            <a:ext cx="18021300" cy="392311"/>
          </a:xfrm>
          <a:prstGeom prst="rect">
            <a:avLst/>
          </a:prstGeom>
          <a:noFill/>
          <a:ln/>
        </p:spPr>
        <p:txBody>
          <a:bodyPr wrap="square" lIns="25400" tIns="25400" rIns="25400" bIns="25400" rtlCol="0" anchor="t">
            <a:normAutofit/>
          </a:bodyPr>
          <a:lstStyle/>
          <a:p>
            <a:pPr algn="l" indent="0" marL="0">
              <a:lnSpc>
                <a:spcPct val="143077"/>
              </a:lnSpc>
              <a:buNone/>
            </a:pPr>
            <a:r>
              <a:rPr lang="en-US" sz="1800" b="1" spc="216" kern="0" dirty="0">
                <a:solidFill>
                  <a:srgbClr val="F3F2F2">
                    <a:alpha val="75000"/>
                  </a:srgbClr>
                </a:solidFill>
                <a:latin typeface="Archivo" pitchFamily="34" charset="0"/>
                <a:ea typeface="Archivo" pitchFamily="34" charset="-122"/>
                <a:cs typeface="Archivo" pitchFamily="34" charset="-120"/>
              </a:rPr>
              <a:t>CONCLUSIONS</a:t>
            </a:r>
            <a:endParaRPr lang="en-US" sz="1800" dirty="0"/>
          </a:p>
        </p:txBody>
      </p:sp>
      <p:sp>
        <p:nvSpPr>
          <p:cNvPr id="3" name="Text 1"/>
          <p:cNvSpPr/>
          <p:nvPr/>
        </p:nvSpPr>
        <p:spPr>
          <a:xfrm>
            <a:off x="952500" y="1421011"/>
            <a:ext cx="18021300" cy="696367"/>
          </a:xfrm>
          <a:prstGeom prst="rect">
            <a:avLst/>
          </a:prstGeom>
          <a:noFill/>
          <a:ln/>
        </p:spPr>
        <p:txBody>
          <a:bodyPr wrap="square" lIns="25400" tIns="25400" rIns="25400" bIns="25400" rtlCol="0" anchor="t">
            <a:normAutofit/>
          </a:bodyPr>
          <a:lstStyle/>
          <a:p>
            <a:pPr algn="l" indent="0" marL="0">
              <a:lnSpc>
                <a:spcPct val="100174"/>
              </a:lnSpc>
              <a:buNone/>
            </a:pPr>
            <a:r>
              <a:rPr lang="en-US" sz="4800" b="1" spc="-72" kern="0" dirty="0">
                <a:solidFill>
                  <a:srgbClr val="F3F2F2"/>
                </a:solidFill>
                <a:latin typeface="Archivo" pitchFamily="34" charset="0"/>
                <a:ea typeface="Archivo" pitchFamily="34" charset="-122"/>
                <a:cs typeface="Archivo" pitchFamily="34" charset="-120"/>
              </a:rPr>
              <a:t>Findings, Limitations and Next Steps</a:t>
            </a:r>
            <a:endParaRPr lang="en-US" sz="4800" dirty="0"/>
          </a:p>
        </p:txBody>
      </p:sp>
      <p:sp>
        <p:nvSpPr>
          <p:cNvPr id="4" name="Shape 2"/>
          <p:cNvSpPr/>
          <p:nvPr/>
        </p:nvSpPr>
        <p:spPr>
          <a:xfrm>
            <a:off x="952500" y="2422178"/>
            <a:ext cx="16383000" cy="19050"/>
          </a:xfrm>
          <a:prstGeom prst="rect">
            <a:avLst/>
          </a:prstGeom>
          <a:solidFill>
            <a:srgbClr val="F3F2F2">
              <a:alpha val="50000"/>
            </a:srgbClr>
          </a:solidFill>
          <a:ln/>
        </p:spPr>
      </p:sp>
      <p:sp>
        <p:nvSpPr>
          <p:cNvPr id="5" name="Text 3"/>
          <p:cNvSpPr/>
          <p:nvPr/>
        </p:nvSpPr>
        <p:spPr>
          <a:xfrm>
            <a:off x="952500" y="2860328"/>
            <a:ext cx="14716125" cy="1078111"/>
          </a:xfrm>
          <a:prstGeom prst="rect">
            <a:avLst/>
          </a:prstGeom>
          <a:noFill/>
          <a:ln/>
        </p:spPr>
        <p:txBody>
          <a:bodyPr wrap="square" lIns="25400" tIns="25400" rIns="25400" bIns="25400" rtlCol="0" anchor="t">
            <a:normAutofit/>
          </a:bodyPr>
          <a:lstStyle/>
          <a:p>
            <a:pPr algn="l" indent="0" marL="0">
              <a:lnSpc>
                <a:spcPct val="118696"/>
              </a:lnSpc>
              <a:buNone/>
            </a:pPr>
            <a:r>
              <a:rPr lang="en-US" sz="3150" b="1" dirty="0">
                <a:solidFill>
                  <a:srgbClr val="F3F2F2"/>
                </a:solidFill>
                <a:latin typeface="Archivo" pitchFamily="34" charset="0"/>
                <a:ea typeface="Archivo" pitchFamily="34" charset="-122"/>
                <a:cs typeface="Archivo" pitchFamily="34" charset="-120"/>
              </a:rPr>
              <a:t>The coverage guarantee reproduced on the first try. Everything difficult was about which score to use.</a:t>
            </a:r>
            <a:endParaRPr lang="en-US" sz="3150" dirty="0"/>
          </a:p>
        </p:txBody>
      </p:sp>
      <p:sp>
        <p:nvSpPr>
          <p:cNvPr id="6" name="Shape 4"/>
          <p:cNvSpPr/>
          <p:nvPr/>
        </p:nvSpPr>
        <p:spPr>
          <a:xfrm>
            <a:off x="952500" y="4224189"/>
            <a:ext cx="16383000" cy="2009775"/>
          </a:xfrm>
          <a:prstGeom prst="rect">
            <a:avLst/>
          </a:prstGeom>
          <a:solidFill>
            <a:srgbClr val="F3F2F2">
              <a:alpha val="40000"/>
            </a:srgbClr>
          </a:solidFill>
          <a:ln/>
        </p:spPr>
      </p:sp>
      <p:sp>
        <p:nvSpPr>
          <p:cNvPr id="7" name="Shape 5"/>
          <p:cNvSpPr/>
          <p:nvPr/>
        </p:nvSpPr>
        <p:spPr>
          <a:xfrm>
            <a:off x="952500" y="4224189"/>
            <a:ext cx="5448300" cy="2009775"/>
          </a:xfrm>
          <a:prstGeom prst="rect">
            <a:avLst/>
          </a:prstGeom>
          <a:solidFill>
            <a:srgbClr val="EC3013"/>
          </a:solidFill>
          <a:ln/>
        </p:spPr>
      </p:sp>
      <p:sp>
        <p:nvSpPr>
          <p:cNvPr id="8" name="Text 6"/>
          <p:cNvSpPr/>
          <p:nvPr/>
        </p:nvSpPr>
        <p:spPr>
          <a:xfrm>
            <a:off x="952500" y="4224189"/>
            <a:ext cx="5532120" cy="333375"/>
          </a:xfrm>
          <a:prstGeom prst="rect">
            <a:avLst/>
          </a:prstGeom>
          <a:noFill/>
          <a:ln/>
        </p:spPr>
        <p:txBody>
          <a:bodyPr wrap="square" lIns="25400" tIns="25400" rIns="25400" bIns="25400" rtlCol="0" anchor="t">
            <a:normAutofit/>
          </a:bodyPr>
          <a:lstStyle/>
          <a:p>
            <a:pPr algn="l" indent="0" marL="0">
              <a:lnSpc>
                <a:spcPct val="140909"/>
              </a:lnSpc>
              <a:buNone/>
            </a:pPr>
            <a:r>
              <a:rPr lang="en-US" sz="1500" b="1" spc="120" kern="0" dirty="0">
                <a:solidFill>
                  <a:srgbClr val="F3F2F2">
                    <a:alpha val="75000"/>
                  </a:srgbClr>
                </a:solidFill>
                <a:latin typeface="Archivo" pitchFamily="34" charset="0"/>
                <a:ea typeface="Archivo" pitchFamily="34" charset="-122"/>
                <a:cs typeface="Archivo" pitchFamily="34" charset="-120"/>
              </a:rPr>
              <a:t>FINDING 01</a:t>
            </a:r>
            <a:endParaRPr lang="en-US" sz="1500" dirty="0"/>
          </a:p>
        </p:txBody>
      </p:sp>
      <p:sp>
        <p:nvSpPr>
          <p:cNvPr id="9" name="Text 7"/>
          <p:cNvSpPr/>
          <p:nvPr/>
        </p:nvSpPr>
        <p:spPr>
          <a:xfrm>
            <a:off x="952500" y="4633764"/>
            <a:ext cx="5180076" cy="1638300"/>
          </a:xfrm>
          <a:prstGeom prst="rect">
            <a:avLst/>
          </a:prstGeom>
          <a:noFill/>
          <a:ln/>
        </p:spPr>
        <p:txBody>
          <a:bodyPr wrap="square" lIns="25400" tIns="25400" rIns="25400" bIns="25400" rtlCol="0" anchor="t">
            <a:normAutofit/>
          </a:bodyPr>
          <a:lstStyle/>
          <a:p>
            <a:pPr algn="l" indent="0" marL="0">
              <a:lnSpc>
                <a:spcPct val="131250"/>
              </a:lnSpc>
              <a:buNone/>
            </a:pPr>
            <a:r>
              <a:rPr lang="en-US" sz="2250" dirty="0">
                <a:solidFill>
                  <a:srgbClr val="F3F2F2"/>
                </a:solidFill>
                <a:latin typeface="Archivo" pitchFamily="34" charset="0"/>
                <a:ea typeface="Archivo" pitchFamily="34" charset="-122"/>
                <a:cs typeface="Archivo" pitchFamily="34" charset="-120"/>
              </a:rPr>
              <a:t>LAC met the 90% target over 50 splits with a mean set size of 1.00 — but under-covered fives at 79% and returned empty sets for 3% of images.</a:t>
            </a:r>
            <a:endParaRPr lang="en-US" sz="2250" dirty="0"/>
          </a:p>
        </p:txBody>
      </p:sp>
      <p:sp>
        <p:nvSpPr>
          <p:cNvPr id="10" name="Shape 8"/>
          <p:cNvSpPr/>
          <p:nvPr/>
        </p:nvSpPr>
        <p:spPr>
          <a:xfrm>
            <a:off x="6419850" y="4224189"/>
            <a:ext cx="5448300" cy="2009775"/>
          </a:xfrm>
          <a:prstGeom prst="rect">
            <a:avLst/>
          </a:prstGeom>
          <a:solidFill>
            <a:srgbClr val="EC3013"/>
          </a:solidFill>
          <a:ln/>
        </p:spPr>
      </p:sp>
      <p:sp>
        <p:nvSpPr>
          <p:cNvPr id="11" name="Text 9"/>
          <p:cNvSpPr/>
          <p:nvPr/>
        </p:nvSpPr>
        <p:spPr>
          <a:xfrm>
            <a:off x="6838950" y="4224189"/>
            <a:ext cx="5071110" cy="333375"/>
          </a:xfrm>
          <a:prstGeom prst="rect">
            <a:avLst/>
          </a:prstGeom>
          <a:noFill/>
          <a:ln/>
        </p:spPr>
        <p:txBody>
          <a:bodyPr wrap="square" lIns="25400" tIns="25400" rIns="25400" bIns="25400" rtlCol="0" anchor="t">
            <a:normAutofit/>
          </a:bodyPr>
          <a:lstStyle/>
          <a:p>
            <a:pPr algn="l" indent="0" marL="0">
              <a:lnSpc>
                <a:spcPct val="140909"/>
              </a:lnSpc>
              <a:buNone/>
            </a:pPr>
            <a:r>
              <a:rPr lang="en-US" sz="1500" b="1" spc="120" kern="0" dirty="0">
                <a:solidFill>
                  <a:srgbClr val="F3F2F2">
                    <a:alpha val="75000"/>
                  </a:srgbClr>
                </a:solidFill>
                <a:latin typeface="Archivo" pitchFamily="34" charset="0"/>
                <a:ea typeface="Archivo" pitchFamily="34" charset="-122"/>
                <a:cs typeface="Archivo" pitchFamily="34" charset="-120"/>
              </a:rPr>
              <a:t>FINDING 02</a:t>
            </a:r>
            <a:endParaRPr lang="en-US" sz="1500" dirty="0"/>
          </a:p>
        </p:txBody>
      </p:sp>
      <p:sp>
        <p:nvSpPr>
          <p:cNvPr id="12" name="Text 10"/>
          <p:cNvSpPr/>
          <p:nvPr/>
        </p:nvSpPr>
        <p:spPr>
          <a:xfrm>
            <a:off x="6838950" y="4633764"/>
            <a:ext cx="4748403" cy="1638300"/>
          </a:xfrm>
          <a:prstGeom prst="rect">
            <a:avLst/>
          </a:prstGeom>
          <a:noFill/>
          <a:ln/>
        </p:spPr>
        <p:txBody>
          <a:bodyPr wrap="square" lIns="25400" tIns="25400" rIns="25400" bIns="25400" rtlCol="0" anchor="t">
            <a:normAutofit/>
          </a:bodyPr>
          <a:lstStyle/>
          <a:p>
            <a:pPr algn="l" indent="0" marL="0">
              <a:lnSpc>
                <a:spcPct val="131250"/>
              </a:lnSpc>
              <a:buNone/>
            </a:pPr>
            <a:r>
              <a:rPr lang="en-US" sz="2250" dirty="0">
                <a:solidFill>
                  <a:srgbClr val="F3F2F2"/>
                </a:solidFill>
                <a:latin typeface="Archivo" pitchFamily="34" charset="0"/>
                <a:ea typeface="Archivo" pitchFamily="34" charset="-122"/>
                <a:cs typeface="Archivo" pitchFamily="34" charset="-120"/>
              </a:rPr>
              <a:t>APS equalised coverage across digits and set sizes, at four times the labels and a 9.7-point overshoot — validity is easy, tightness is not.</a:t>
            </a:r>
            <a:endParaRPr lang="en-US" sz="2250" dirty="0"/>
          </a:p>
        </p:txBody>
      </p:sp>
      <p:sp>
        <p:nvSpPr>
          <p:cNvPr id="13" name="Shape 11"/>
          <p:cNvSpPr/>
          <p:nvPr/>
        </p:nvSpPr>
        <p:spPr>
          <a:xfrm>
            <a:off x="11887200" y="4224189"/>
            <a:ext cx="5448300" cy="2009775"/>
          </a:xfrm>
          <a:prstGeom prst="rect">
            <a:avLst/>
          </a:prstGeom>
          <a:solidFill>
            <a:srgbClr val="EC3013"/>
          </a:solidFill>
          <a:ln/>
        </p:spPr>
      </p:sp>
      <p:sp>
        <p:nvSpPr>
          <p:cNvPr id="14" name="Text 12"/>
          <p:cNvSpPr/>
          <p:nvPr/>
        </p:nvSpPr>
        <p:spPr>
          <a:xfrm>
            <a:off x="12306300" y="4224189"/>
            <a:ext cx="5532120" cy="333375"/>
          </a:xfrm>
          <a:prstGeom prst="rect">
            <a:avLst/>
          </a:prstGeom>
          <a:noFill/>
          <a:ln/>
        </p:spPr>
        <p:txBody>
          <a:bodyPr wrap="square" lIns="25400" tIns="25400" rIns="25400" bIns="25400" rtlCol="0" anchor="t">
            <a:normAutofit/>
          </a:bodyPr>
          <a:lstStyle/>
          <a:p>
            <a:pPr algn="l" indent="0" marL="0">
              <a:lnSpc>
                <a:spcPct val="140909"/>
              </a:lnSpc>
              <a:buNone/>
            </a:pPr>
            <a:r>
              <a:rPr lang="en-US" sz="1500" b="1" spc="120" kern="0" dirty="0">
                <a:solidFill>
                  <a:srgbClr val="F3F2F2">
                    <a:alpha val="75000"/>
                  </a:srgbClr>
                </a:solidFill>
                <a:latin typeface="Archivo" pitchFamily="34" charset="0"/>
                <a:ea typeface="Archivo" pitchFamily="34" charset="-122"/>
                <a:cs typeface="Archivo" pitchFamily="34" charset="-120"/>
              </a:rPr>
              <a:t>FINDING 03</a:t>
            </a:r>
            <a:endParaRPr lang="en-US" sz="1500" dirty="0"/>
          </a:p>
        </p:txBody>
      </p:sp>
      <p:sp>
        <p:nvSpPr>
          <p:cNvPr id="15" name="Text 13"/>
          <p:cNvSpPr/>
          <p:nvPr/>
        </p:nvSpPr>
        <p:spPr>
          <a:xfrm>
            <a:off x="12306300" y="4633764"/>
            <a:ext cx="5180076" cy="1638300"/>
          </a:xfrm>
          <a:prstGeom prst="rect">
            <a:avLst/>
          </a:prstGeom>
          <a:noFill/>
          <a:ln/>
        </p:spPr>
        <p:txBody>
          <a:bodyPr wrap="square" lIns="25400" tIns="25400" rIns="25400" bIns="25400" rtlCol="0" anchor="t">
            <a:normAutofit/>
          </a:bodyPr>
          <a:lstStyle/>
          <a:p>
            <a:pPr algn="l" indent="0" marL="0">
              <a:lnSpc>
                <a:spcPct val="131250"/>
              </a:lnSpc>
              <a:buNone/>
            </a:pPr>
            <a:r>
              <a:rPr lang="en-US" sz="2250" dirty="0">
                <a:solidFill>
                  <a:srgbClr val="F3F2F2"/>
                </a:solidFill>
                <a:latin typeface="Archivo" pitchFamily="34" charset="0"/>
                <a:ea typeface="Archivo" pitchFamily="34" charset="-122"/>
                <a:cs typeface="Archivo" pitchFamily="34" charset="-120"/>
              </a:rPr>
              <a:t>Single-split coverage was 88.15%; the fifty-split average was 90.08%. Reporting one split would have looked like a failed reproduction.</a:t>
            </a:r>
            <a:endParaRPr lang="en-US" sz="2250" dirty="0"/>
          </a:p>
        </p:txBody>
      </p:sp>
      <p:sp>
        <p:nvSpPr>
          <p:cNvPr id="16" name="Shape 14"/>
          <p:cNvSpPr/>
          <p:nvPr/>
        </p:nvSpPr>
        <p:spPr>
          <a:xfrm>
            <a:off x="952500" y="6557814"/>
            <a:ext cx="16383000" cy="19050"/>
          </a:xfrm>
          <a:prstGeom prst="rect">
            <a:avLst/>
          </a:prstGeom>
          <a:solidFill>
            <a:srgbClr val="F3F2F2">
              <a:alpha val="50000"/>
            </a:srgbClr>
          </a:solidFill>
          <a:ln/>
        </p:spPr>
      </p:sp>
      <p:sp>
        <p:nvSpPr>
          <p:cNvPr id="17" name="Text 15"/>
          <p:cNvSpPr/>
          <p:nvPr/>
        </p:nvSpPr>
        <p:spPr>
          <a:xfrm>
            <a:off x="952500" y="6900714"/>
            <a:ext cx="8643938" cy="333375"/>
          </a:xfrm>
          <a:prstGeom prst="rect">
            <a:avLst/>
          </a:prstGeom>
          <a:noFill/>
          <a:ln/>
        </p:spPr>
        <p:txBody>
          <a:bodyPr wrap="square" lIns="25400" tIns="25400" rIns="25400" bIns="25400" rtlCol="0" anchor="t">
            <a:normAutofit/>
          </a:bodyPr>
          <a:lstStyle/>
          <a:p>
            <a:pPr algn="l" indent="0" marL="0">
              <a:lnSpc>
                <a:spcPct val="140909"/>
              </a:lnSpc>
              <a:buNone/>
            </a:pPr>
            <a:r>
              <a:rPr lang="en-US" sz="1500" b="1" spc="120" kern="0" dirty="0">
                <a:solidFill>
                  <a:srgbClr val="F3F2F2">
                    <a:alpha val="75000"/>
                  </a:srgbClr>
                </a:solidFill>
                <a:latin typeface="Archivo" pitchFamily="34" charset="0"/>
                <a:ea typeface="Archivo" pitchFamily="34" charset="-122"/>
                <a:cs typeface="Archivo" pitchFamily="34" charset="-120"/>
              </a:rPr>
              <a:t>LIMITATIONS</a:t>
            </a:r>
            <a:endParaRPr lang="en-US" sz="1500" dirty="0"/>
          </a:p>
        </p:txBody>
      </p:sp>
      <p:sp>
        <p:nvSpPr>
          <p:cNvPr id="18" name="Text 16"/>
          <p:cNvSpPr/>
          <p:nvPr/>
        </p:nvSpPr>
        <p:spPr>
          <a:xfrm>
            <a:off x="952500" y="7291239"/>
            <a:ext cx="8093869" cy="811411"/>
          </a:xfrm>
          <a:prstGeom prst="rect">
            <a:avLst/>
          </a:prstGeom>
          <a:noFill/>
          <a:ln/>
        </p:spPr>
        <p:txBody>
          <a:bodyPr wrap="square" lIns="25400" tIns="25400" rIns="25400" bIns="25400" rtlCol="0" anchor="t">
            <a:normAutofit/>
          </a:bodyPr>
          <a:lstStyle/>
          <a:p>
            <a:pPr algn="l" indent="0" marL="0">
              <a:lnSpc>
                <a:spcPct val="130968"/>
              </a:lnSpc>
              <a:buNone/>
            </a:pPr>
            <a:r>
              <a:rPr lang="en-US" sz="2100" dirty="0">
                <a:solidFill>
                  <a:srgbClr val="F3F2F2"/>
                </a:solidFill>
                <a:latin typeface="Archivo" pitchFamily="34" charset="0"/>
                <a:ea typeface="Archivo" pitchFamily="34" charset="-122"/>
                <a:cs typeface="Archivo" pitchFamily="34" charset="-120"/>
              </a:rPr>
              <a:t>8,000 of 70,000 images, one network, one seed. APS omits the randomised tie-breaking that would remove most of its overshoot.</a:t>
            </a:r>
            <a:endParaRPr lang="en-US" sz="2100" dirty="0"/>
          </a:p>
        </p:txBody>
      </p:sp>
      <p:sp>
        <p:nvSpPr>
          <p:cNvPr id="19" name="Text 17"/>
          <p:cNvSpPr/>
          <p:nvPr/>
        </p:nvSpPr>
        <p:spPr>
          <a:xfrm>
            <a:off x="9477375" y="6900714"/>
            <a:ext cx="8643938" cy="333375"/>
          </a:xfrm>
          <a:prstGeom prst="rect">
            <a:avLst/>
          </a:prstGeom>
          <a:noFill/>
          <a:ln/>
        </p:spPr>
        <p:txBody>
          <a:bodyPr wrap="square" lIns="25400" tIns="25400" rIns="25400" bIns="25400" rtlCol="0" anchor="t">
            <a:normAutofit/>
          </a:bodyPr>
          <a:lstStyle/>
          <a:p>
            <a:pPr algn="l" indent="0" marL="0">
              <a:lnSpc>
                <a:spcPct val="140909"/>
              </a:lnSpc>
              <a:buNone/>
            </a:pPr>
            <a:r>
              <a:rPr lang="en-US" sz="1500" b="1" spc="120" kern="0" dirty="0">
                <a:solidFill>
                  <a:srgbClr val="F3F2F2">
                    <a:alpha val="75000"/>
                  </a:srgbClr>
                </a:solidFill>
                <a:latin typeface="Archivo" pitchFamily="34" charset="0"/>
                <a:ea typeface="Archivo" pitchFamily="34" charset="-122"/>
                <a:cs typeface="Archivo" pitchFamily="34" charset="-120"/>
              </a:rPr>
              <a:t>NEXT STEPS</a:t>
            </a:r>
            <a:endParaRPr lang="en-US" sz="1500" dirty="0"/>
          </a:p>
        </p:txBody>
      </p:sp>
      <p:sp>
        <p:nvSpPr>
          <p:cNvPr id="20" name="Text 18"/>
          <p:cNvSpPr/>
          <p:nvPr/>
        </p:nvSpPr>
        <p:spPr>
          <a:xfrm>
            <a:off x="9477375" y="7291239"/>
            <a:ext cx="8093869" cy="811411"/>
          </a:xfrm>
          <a:prstGeom prst="rect">
            <a:avLst/>
          </a:prstGeom>
          <a:noFill/>
          <a:ln/>
        </p:spPr>
        <p:txBody>
          <a:bodyPr wrap="square" lIns="25400" tIns="25400" rIns="25400" bIns="25400" rtlCol="0" anchor="t">
            <a:normAutofit/>
          </a:bodyPr>
          <a:lstStyle/>
          <a:p>
            <a:pPr algn="l" indent="0" marL="0">
              <a:lnSpc>
                <a:spcPct val="130968"/>
              </a:lnSpc>
              <a:buNone/>
            </a:pPr>
            <a:r>
              <a:rPr lang="en-US" sz="2100" dirty="0">
                <a:solidFill>
                  <a:srgbClr val="F3F2F2"/>
                </a:solidFill>
                <a:latin typeface="Archivo" pitchFamily="34" charset="0"/>
                <a:ea typeface="Archivo" pitchFamily="34" charset="-122"/>
                <a:cs typeface="Archivo" pitchFamily="34" charset="-120"/>
              </a:rPr>
              <a:t>Add randomised APS, report Mondrian per-digit calibration for LAC, and re-run the sweep on a convolutional base model.</a:t>
            </a:r>
            <a:endParaRPr lang="en-US" sz="2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2026-08-01T18:09:19Z</dcterms:created>
  <dcterms:modified xsi:type="dcterms:W3CDTF">2026-08-01T18:09:19Z</dcterms:modified>
</cp:coreProperties>
</file>